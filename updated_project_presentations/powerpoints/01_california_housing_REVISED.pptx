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491a8d1c94b0c" /><Relationship Type="http://schemas.openxmlformats.org/officeDocument/2006/relationships/extended-properties" Target="/docProps/app.xml" Id="R2bd34e3c67c74056" /><Relationship Type="http://schemas.openxmlformats.org/officeDocument/2006/relationships/officeDocument" Target="/ppt/presentation.xml" Id="Radb4b5ffe4b1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8780e37704a0d"/>
  </p:sldMasterIdLst>
  <p:notesMasterIdLst>
    <p:notesMasterId xmlns:r="http://schemas.openxmlformats.org/officeDocument/2006/relationships" r:id="R63c472f5aa894a9f"/>
  </p:notesMasterIdLst>
  <p:sldIdLst>
    <p:sldId xmlns:r="http://schemas.openxmlformats.org/officeDocument/2006/relationships" id="256" r:id="R83cb96e1fa6b4e62"/>
    <p:sldId xmlns:r="http://schemas.openxmlformats.org/officeDocument/2006/relationships" id="257" r:id="Rc6808dc375e34188"/>
    <p:sldId xmlns:r="http://schemas.openxmlformats.org/officeDocument/2006/relationships" id="258" r:id="R7278013e71d54e3a"/>
    <p:sldId xmlns:r="http://schemas.openxmlformats.org/officeDocument/2006/relationships" id="259" r:id="Re9ef78291b1a4078"/>
    <p:sldId xmlns:r="http://schemas.openxmlformats.org/officeDocument/2006/relationships" id="260" r:id="R8e61654b7dc04d58"/>
    <p:sldId xmlns:r="http://schemas.openxmlformats.org/officeDocument/2006/relationships" id="261" r:id="Ra8d858dbe02b421d"/>
    <p:sldId xmlns:r="http://schemas.openxmlformats.org/officeDocument/2006/relationships" id="262" r:id="Re1eaa97f950b4118"/>
    <p:sldId xmlns:r="http://schemas.openxmlformats.org/officeDocument/2006/relationships" id="263" r:id="Rfba8952f85154ac0"/>
    <p:sldId xmlns:r="http://schemas.openxmlformats.org/officeDocument/2006/relationships" id="264" r:id="R08930b00311b4419"/>
    <p:sldId xmlns:r="http://schemas.openxmlformats.org/officeDocument/2006/relationships" id="265" r:id="R51835039a58c4101"/>
    <p:sldId xmlns:r="http://schemas.openxmlformats.org/officeDocument/2006/relationships" id="266" r:id="R0e7ff9a3869347fc"/>
    <p:sldId xmlns:r="http://schemas.openxmlformats.org/officeDocument/2006/relationships" id="267" r:id="R9c15bd9967e2454c"/>
    <p:sldId xmlns:r="http://schemas.openxmlformats.org/officeDocument/2006/relationships" id="268" r:id="R1296d06efd674fb3"/>
    <p:sldId xmlns:r="http://schemas.openxmlformats.org/officeDocument/2006/relationships" id="269" r:id="R6b16a94395014d5e"/>
    <p:sldId xmlns:r="http://schemas.openxmlformats.org/officeDocument/2006/relationships" id="270" r:id="Ra3238cf899af463f"/>
    <p:sldId xmlns:r="http://schemas.openxmlformats.org/officeDocument/2006/relationships" id="271" r:id="R0f86aee748ae42d3"/>
    <p:sldId xmlns:r="http://schemas.openxmlformats.org/officeDocument/2006/relationships" id="272" r:id="Rc3575cfc81b846b4"/>
    <p:sldId xmlns:r="http://schemas.openxmlformats.org/officeDocument/2006/relationships" id="273" r:id="R065e3926443b4ce2"/>
    <p:sldId xmlns:r="http://schemas.openxmlformats.org/officeDocument/2006/relationships" id="274" r:id="R6bcc6c26cd82454c"/>
    <p:sldId xmlns:r="http://schemas.openxmlformats.org/officeDocument/2006/relationships" id="275" r:id="R4ee21f5809f3478f"/>
    <p:sldId xmlns:r="http://schemas.openxmlformats.org/officeDocument/2006/relationships" id="276" r:id="R57f3cb65d435402f"/>
    <p:sldId xmlns:r="http://schemas.openxmlformats.org/officeDocument/2006/relationships" id="277" r:id="Rb3681d010fd24e4d"/>
    <p:sldId xmlns:r="http://schemas.openxmlformats.org/officeDocument/2006/relationships" id="278" r:id="Rb81277833c8d48fb"/>
    <p:sldId xmlns:r="http://schemas.openxmlformats.org/officeDocument/2006/relationships" id="279" r:id="R652ac7b4ea2948b0"/>
    <p:sldId xmlns:r="http://schemas.openxmlformats.org/officeDocument/2006/relationships" id="280" r:id="R8fff714205ab4d30"/>
    <p:sldId xmlns:r="http://schemas.openxmlformats.org/officeDocument/2006/relationships" id="281" r:id="Rc2a72bd2504a4f3d"/>
    <p:sldId xmlns:r="http://schemas.openxmlformats.org/officeDocument/2006/relationships" id="282" r:id="R708ed0627fc040d9"/>
    <p:sldId xmlns:r="http://schemas.openxmlformats.org/officeDocument/2006/relationships" id="283" r:id="R3803990245ed497c"/>
    <p:sldId xmlns:r="http://schemas.openxmlformats.org/officeDocument/2006/relationships" id="284" r:id="Rd57c5b3772f14010"/>
    <p:sldId xmlns:r="http://schemas.openxmlformats.org/officeDocument/2006/relationships" id="285" r:id="Rc12a4b4fb3a44a6c"/>
    <p:sldId xmlns:r="http://schemas.openxmlformats.org/officeDocument/2006/relationships" id="286" r:id="Rfde433999ac545d7"/>
    <p:sldId xmlns:r="http://schemas.openxmlformats.org/officeDocument/2006/relationships" id="287" r:id="R664b175b06de4b4c"/>
    <p:sldId xmlns:r="http://schemas.openxmlformats.org/officeDocument/2006/relationships" id="288" r:id="Re8ec65f9bc3b4acb"/>
    <p:sldId xmlns:r="http://schemas.openxmlformats.org/officeDocument/2006/relationships" id="289" r:id="R6995c23512df4fb9"/>
    <p:sldId xmlns:r="http://schemas.openxmlformats.org/officeDocument/2006/relationships" id="290" r:id="R8378375322a6485c"/>
    <p:sldId xmlns:r="http://schemas.openxmlformats.org/officeDocument/2006/relationships" id="291" r:id="R9a3a10bebc004f5c"/>
    <p:sldId xmlns:r="http://schemas.openxmlformats.org/officeDocument/2006/relationships" id="292" r:id="R0c922273cdc042f4"/>
    <p:sldId xmlns:r="http://schemas.openxmlformats.org/officeDocument/2006/relationships" id="293" r:id="R1077045b22834dc3"/>
    <p:sldId xmlns:r="http://schemas.openxmlformats.org/officeDocument/2006/relationships" id="294" r:id="Rd9f2f1324d174125"/>
    <p:sldId xmlns:r="http://schemas.openxmlformats.org/officeDocument/2006/relationships" id="295" r:id="R052ec39d4ec94152"/>
    <p:sldId xmlns:r="http://schemas.openxmlformats.org/officeDocument/2006/relationships" id="296" r:id="R1b1f797ecf6c445e"/>
    <p:sldId xmlns:r="http://schemas.openxmlformats.org/officeDocument/2006/relationships" id="297" r:id="R5e5b4ac1efee4690"/>
    <p:sldId xmlns:r="http://schemas.openxmlformats.org/officeDocument/2006/relationships" id="298" r:id="R53d9a43e72cd4260"/>
    <p:sldId xmlns:r="http://schemas.openxmlformats.org/officeDocument/2006/relationships" id="299" r:id="R9313292a20f548a3"/>
    <p:sldId xmlns:r="http://schemas.openxmlformats.org/officeDocument/2006/relationships" id="300" r:id="Rfdcddf93969844bb"/>
    <p:sldId xmlns:r="http://schemas.openxmlformats.org/officeDocument/2006/relationships" id="301" r:id="Rf408426053f74188"/>
    <p:sldId xmlns:r="http://schemas.openxmlformats.org/officeDocument/2006/relationships" id="302" r:id="R2d47b532b7b5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e177c2d464a31" /><Relationship Type="http://schemas.openxmlformats.org/officeDocument/2006/relationships/slideMaster" Target="/ppt/slideMasters/slideMaster1.xml" Id="R7c08780e37704a0d" /><Relationship Type="http://schemas.openxmlformats.org/officeDocument/2006/relationships/notesMaster" Target="/ppt/notesMasters/notesMaster1.xml" Id="R63c472f5aa894a9f" /><Relationship Type="http://schemas.openxmlformats.org/officeDocument/2006/relationships/presProps" Target="/ppt/presProps.xml" Id="Rdf78c945fc85497c" /><Relationship Type="http://schemas.openxmlformats.org/officeDocument/2006/relationships/tableStyles" Target="/ppt/tableStyles.xml" Id="Ra694f5e1a95847cf" /><Relationship Type="http://schemas.openxmlformats.org/officeDocument/2006/relationships/slide" Target="/ppt/slides/slide1.xml" Id="R83cb96e1fa6b4e62" /><Relationship Type="http://schemas.openxmlformats.org/officeDocument/2006/relationships/slide" Target="/ppt/slides/slide2.xml" Id="Rc6808dc375e34188" /><Relationship Type="http://schemas.openxmlformats.org/officeDocument/2006/relationships/slide" Target="/ppt/slides/slide3.xml" Id="R7278013e71d54e3a" /><Relationship Type="http://schemas.openxmlformats.org/officeDocument/2006/relationships/slide" Target="/ppt/slides/slide4.xml" Id="Re9ef78291b1a4078" /><Relationship Type="http://schemas.openxmlformats.org/officeDocument/2006/relationships/slide" Target="/ppt/slides/slide5.xml" Id="R8e61654b7dc04d58" /><Relationship Type="http://schemas.openxmlformats.org/officeDocument/2006/relationships/slide" Target="/ppt/slides/slide6.xml" Id="Ra8d858dbe02b421d" /><Relationship Type="http://schemas.openxmlformats.org/officeDocument/2006/relationships/slide" Target="/ppt/slides/slide7.xml" Id="Re1eaa97f950b4118" /><Relationship Type="http://schemas.openxmlformats.org/officeDocument/2006/relationships/slide" Target="/ppt/slides/slide8.xml" Id="Rfba8952f85154ac0" /><Relationship Type="http://schemas.openxmlformats.org/officeDocument/2006/relationships/slide" Target="/ppt/slides/slide9.xml" Id="R08930b00311b4419" /><Relationship Type="http://schemas.openxmlformats.org/officeDocument/2006/relationships/slide" Target="/ppt/slides/slide10.xml" Id="R51835039a58c4101" /><Relationship Type="http://schemas.openxmlformats.org/officeDocument/2006/relationships/slide" Target="/ppt/slides/slide11.xml" Id="R0e7ff9a3869347fc" /><Relationship Type="http://schemas.openxmlformats.org/officeDocument/2006/relationships/slide" Target="/ppt/slides/slide12.xml" Id="R9c15bd9967e2454c" /><Relationship Type="http://schemas.openxmlformats.org/officeDocument/2006/relationships/slide" Target="/ppt/slides/slide13.xml" Id="R1296d06efd674fb3" /><Relationship Type="http://schemas.openxmlformats.org/officeDocument/2006/relationships/slide" Target="/ppt/slides/slide14.xml" Id="R6b16a94395014d5e" /><Relationship Type="http://schemas.openxmlformats.org/officeDocument/2006/relationships/slide" Target="/ppt/slides/slide15.xml" Id="Ra3238cf899af463f" /><Relationship Type="http://schemas.openxmlformats.org/officeDocument/2006/relationships/slide" Target="/ppt/slides/slide16.xml" Id="R0f86aee748ae42d3" /><Relationship Type="http://schemas.openxmlformats.org/officeDocument/2006/relationships/slide" Target="/ppt/slides/slide17.xml" Id="Rc3575cfc81b846b4" /><Relationship Type="http://schemas.openxmlformats.org/officeDocument/2006/relationships/slide" Target="/ppt/slides/slide18.xml" Id="R065e3926443b4ce2" /><Relationship Type="http://schemas.openxmlformats.org/officeDocument/2006/relationships/slide" Target="/ppt/slides/slide19.xml" Id="R6bcc6c26cd82454c" /><Relationship Type="http://schemas.openxmlformats.org/officeDocument/2006/relationships/slide" Target="/ppt/slides/slide20.xml" Id="R4ee21f5809f3478f" /><Relationship Type="http://schemas.openxmlformats.org/officeDocument/2006/relationships/slide" Target="/ppt/slides/slide21.xml" Id="R57f3cb65d435402f" /><Relationship Type="http://schemas.openxmlformats.org/officeDocument/2006/relationships/slide" Target="/ppt/slides/slide22.xml" Id="Rb3681d010fd24e4d" /><Relationship Type="http://schemas.openxmlformats.org/officeDocument/2006/relationships/slide" Target="/ppt/slides/slide23.xml" Id="Rb81277833c8d48fb" /><Relationship Type="http://schemas.openxmlformats.org/officeDocument/2006/relationships/slide" Target="/ppt/slides/slide24.xml" Id="R652ac7b4ea2948b0" /><Relationship Type="http://schemas.openxmlformats.org/officeDocument/2006/relationships/slide" Target="/ppt/slides/slide25.xml" Id="R8fff714205ab4d30" /><Relationship Type="http://schemas.openxmlformats.org/officeDocument/2006/relationships/slide" Target="/ppt/slides/slide26.xml" Id="Rc2a72bd2504a4f3d" /><Relationship Type="http://schemas.openxmlformats.org/officeDocument/2006/relationships/slide" Target="/ppt/slides/slide27.xml" Id="R708ed0627fc040d9" /><Relationship Type="http://schemas.openxmlformats.org/officeDocument/2006/relationships/slide" Target="/ppt/slides/slide28.xml" Id="R3803990245ed497c" /><Relationship Type="http://schemas.openxmlformats.org/officeDocument/2006/relationships/slide" Target="/ppt/slides/slide29.xml" Id="Rd57c5b3772f14010" /><Relationship Type="http://schemas.openxmlformats.org/officeDocument/2006/relationships/slide" Target="/ppt/slides/slide30.xml" Id="Rc12a4b4fb3a44a6c" /><Relationship Type="http://schemas.openxmlformats.org/officeDocument/2006/relationships/slide" Target="/ppt/slides/slide31.xml" Id="Rfde433999ac545d7" /><Relationship Type="http://schemas.openxmlformats.org/officeDocument/2006/relationships/slide" Target="/ppt/slides/slide32.xml" Id="R664b175b06de4b4c" /><Relationship Type="http://schemas.openxmlformats.org/officeDocument/2006/relationships/slide" Target="/ppt/slides/slide33.xml" Id="Re8ec65f9bc3b4acb" /><Relationship Type="http://schemas.openxmlformats.org/officeDocument/2006/relationships/slide" Target="/ppt/slides/slide34.xml" Id="R6995c23512df4fb9" /><Relationship Type="http://schemas.openxmlformats.org/officeDocument/2006/relationships/slide" Target="/ppt/slides/slide35.xml" Id="R8378375322a6485c" /><Relationship Type="http://schemas.openxmlformats.org/officeDocument/2006/relationships/slide" Target="/ppt/slides/slide36.xml" Id="R9a3a10bebc004f5c" /><Relationship Type="http://schemas.openxmlformats.org/officeDocument/2006/relationships/slide" Target="/ppt/slides/slide37.xml" Id="R0c922273cdc042f4" /><Relationship Type="http://schemas.openxmlformats.org/officeDocument/2006/relationships/slide" Target="/ppt/slides/slide38.xml" Id="R1077045b22834dc3" /><Relationship Type="http://schemas.openxmlformats.org/officeDocument/2006/relationships/slide" Target="/ppt/slides/slide39.xml" Id="Rd9f2f1324d174125" /><Relationship Type="http://schemas.openxmlformats.org/officeDocument/2006/relationships/slide" Target="/ppt/slides/slide40.xml" Id="R052ec39d4ec94152" /><Relationship Type="http://schemas.openxmlformats.org/officeDocument/2006/relationships/slide" Target="/ppt/slides/slide41.xml" Id="R1b1f797ecf6c445e" /><Relationship Type="http://schemas.openxmlformats.org/officeDocument/2006/relationships/slide" Target="/ppt/slides/slide42.xml" Id="R5e5b4ac1efee4690" /><Relationship Type="http://schemas.openxmlformats.org/officeDocument/2006/relationships/slide" Target="/ppt/slides/slide43.xml" Id="R53d9a43e72cd4260" /><Relationship Type="http://schemas.openxmlformats.org/officeDocument/2006/relationships/slide" Target="/ppt/slides/slide44.xml" Id="R9313292a20f548a3" /><Relationship Type="http://schemas.openxmlformats.org/officeDocument/2006/relationships/slide" Target="/ppt/slides/slide45.xml" Id="Rfdcddf93969844bb" /><Relationship Type="http://schemas.openxmlformats.org/officeDocument/2006/relationships/slide" Target="/ppt/slides/slide46.xml" Id="Rf408426053f74188" /><Relationship Type="http://schemas.openxmlformats.org/officeDocument/2006/relationships/slide" Target="/ppt/slides/slide47.xml" Id="R2d47b532b7b5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ae6477fc76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c3da55eba447c" /><Relationship Type="http://schemas.openxmlformats.org/officeDocument/2006/relationships/notesMaster" Target="/ppt/notesMasters/notesMaster1.xml" Id="R9ae8db31fe0d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31b9c7e8242bd" /><Relationship Type="http://schemas.openxmlformats.org/officeDocument/2006/relationships/notesMaster" Target="/ppt/notesMasters/notesMaster1.xml" Id="Rc9b6d35979c9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72c6b73b0b468f" /><Relationship Type="http://schemas.openxmlformats.org/officeDocument/2006/relationships/notesMaster" Target="/ppt/notesMasters/notesMaster1.xml" Id="R6d7e1f8b101346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a769c8e154f2b" /><Relationship Type="http://schemas.openxmlformats.org/officeDocument/2006/relationships/notesMaster" Target="/ppt/notesMasters/notesMaster1.xml" Id="Rdd2c5f4b6bbc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86288c2484e9f" /><Relationship Type="http://schemas.openxmlformats.org/officeDocument/2006/relationships/notesMaster" Target="/ppt/notesMasters/notesMaster1.xml" Id="Rf5ca5921d97643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ff50b7d02a463d" /><Relationship Type="http://schemas.openxmlformats.org/officeDocument/2006/relationships/notesMaster" Target="/ppt/notesMasters/notesMaster1.xml" Id="R0824f3552010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2c7f757d744b5" /><Relationship Type="http://schemas.openxmlformats.org/officeDocument/2006/relationships/notesMaster" Target="/ppt/notesMasters/notesMaster1.xml" Id="R8cb5648eb06b41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82a4437d94ded" /><Relationship Type="http://schemas.openxmlformats.org/officeDocument/2006/relationships/notesMaster" Target="/ppt/notesMasters/notesMaster1.xml" Id="Re3889ab228f046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2ad667dd641b6" /><Relationship Type="http://schemas.openxmlformats.org/officeDocument/2006/relationships/notesMaster" Target="/ppt/notesMasters/notesMaster1.xml" Id="Rbfdcd5fa0c4e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78e32a44ee43ab" /><Relationship Type="http://schemas.openxmlformats.org/officeDocument/2006/relationships/notesMaster" Target="/ppt/notesMasters/notesMaster1.xml" Id="Raa64f1eda9284b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6bada25b924b49" /><Relationship Type="http://schemas.openxmlformats.org/officeDocument/2006/relationships/notesMaster" Target="/ppt/notesMasters/notesMaster1.xml" Id="R56c56976d68b45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ed309fa24b42fa" /><Relationship Type="http://schemas.openxmlformats.org/officeDocument/2006/relationships/notesMaster" Target="/ppt/notesMasters/notesMaster1.xml" Id="Rfa572a54830a42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82dc726d9b4451" /><Relationship Type="http://schemas.openxmlformats.org/officeDocument/2006/relationships/notesMaster" Target="/ppt/notesMasters/notesMaster1.xml" Id="Rc9df44da44864c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f70da4b6244d2e" /><Relationship Type="http://schemas.openxmlformats.org/officeDocument/2006/relationships/notesMaster" Target="/ppt/notesMasters/notesMaster1.xml" Id="R97a4079a67af44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208721e64c427a" /><Relationship Type="http://schemas.openxmlformats.org/officeDocument/2006/relationships/notesMaster" Target="/ppt/notesMasters/notesMaster1.xml" Id="Ra6eb6cb1ddee4f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d7315bc40f4b94" /><Relationship Type="http://schemas.openxmlformats.org/officeDocument/2006/relationships/notesMaster" Target="/ppt/notesMasters/notesMaster1.xml" Id="R15907345dd7448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dd38dade394c7c" /><Relationship Type="http://schemas.openxmlformats.org/officeDocument/2006/relationships/notesMaster" Target="/ppt/notesMasters/notesMaster1.xml" Id="Rfae0c20f5bf04d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bf47901c9b483f" /><Relationship Type="http://schemas.openxmlformats.org/officeDocument/2006/relationships/notesMaster" Target="/ppt/notesMasters/notesMaster1.xml" Id="R4fef4539f4994c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8f2201aae44a53" /><Relationship Type="http://schemas.openxmlformats.org/officeDocument/2006/relationships/notesMaster" Target="/ppt/notesMasters/notesMaster1.xml" Id="R0e69ef079e3c41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506d8274de41a8" /><Relationship Type="http://schemas.openxmlformats.org/officeDocument/2006/relationships/notesMaster" Target="/ppt/notesMasters/notesMaster1.xml" Id="R59dbd29eff0540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2c49b6abbd4486" /><Relationship Type="http://schemas.openxmlformats.org/officeDocument/2006/relationships/notesMaster" Target="/ppt/notesMasters/notesMaster1.xml" Id="Rea7507b8a22c48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a3374405494d9c" /><Relationship Type="http://schemas.openxmlformats.org/officeDocument/2006/relationships/notesMaster" Target="/ppt/notesMasters/notesMaster1.xml" Id="Rad213ae0cc7b42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9b4ed0acd64ddf" /><Relationship Type="http://schemas.openxmlformats.org/officeDocument/2006/relationships/notesMaster" Target="/ppt/notesMasters/notesMaster1.xml" Id="Rc1e31af3ba2e42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4aec3392364a50" /><Relationship Type="http://schemas.openxmlformats.org/officeDocument/2006/relationships/notesMaster" Target="/ppt/notesMasters/notesMaster1.xml" Id="Red4455c253844e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8c68f0fdc4499f" /><Relationship Type="http://schemas.openxmlformats.org/officeDocument/2006/relationships/notesMaster" Target="/ppt/notesMasters/notesMaster1.xml" Id="R7856e1e6fe4049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dd12f52cc84f3b" /><Relationship Type="http://schemas.openxmlformats.org/officeDocument/2006/relationships/notesMaster" Target="/ppt/notesMasters/notesMaster1.xml" Id="R48da46b6d55c444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42b9710d4042e5" /><Relationship Type="http://schemas.openxmlformats.org/officeDocument/2006/relationships/notesMaster" Target="/ppt/notesMasters/notesMaster1.xml" Id="R90f3409173564f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36bc1486d64ef3" /><Relationship Type="http://schemas.openxmlformats.org/officeDocument/2006/relationships/notesMaster" Target="/ppt/notesMasters/notesMaster1.xml" Id="R262e08f542234a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3c7c5f76584397" /><Relationship Type="http://schemas.openxmlformats.org/officeDocument/2006/relationships/notesMaster" Target="/ppt/notesMasters/notesMaster1.xml" Id="Ra235cc0e6dd141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4661b083a8464b" /><Relationship Type="http://schemas.openxmlformats.org/officeDocument/2006/relationships/notesMaster" Target="/ppt/notesMasters/notesMaster1.xml" Id="R03d68122afaf4eb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0901030c15840b4" /><Relationship Type="http://schemas.openxmlformats.org/officeDocument/2006/relationships/notesMaster" Target="/ppt/notesMasters/notesMaster1.xml" Id="Rfc75fe193cf84ab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921e4193a24522" /><Relationship Type="http://schemas.openxmlformats.org/officeDocument/2006/relationships/notesMaster" Target="/ppt/notesMasters/notesMaster1.xml" Id="Rb2b2194504aa48b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aa579d24984192" /><Relationship Type="http://schemas.openxmlformats.org/officeDocument/2006/relationships/notesMaster" Target="/ppt/notesMasters/notesMaster1.xml" Id="Rca4418246cb842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34da74380d34fd5" /><Relationship Type="http://schemas.openxmlformats.org/officeDocument/2006/relationships/notesMaster" Target="/ppt/notesMasters/notesMaster1.xml" Id="R01a0722d58754bc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25d3d04f9e44e5f" /><Relationship Type="http://schemas.openxmlformats.org/officeDocument/2006/relationships/notesMaster" Target="/ppt/notesMasters/notesMaster1.xml" Id="Rd0d6aa2949c14d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e9771a50a764a70" /><Relationship Type="http://schemas.openxmlformats.org/officeDocument/2006/relationships/notesMaster" Target="/ppt/notesMasters/notesMaster1.xml" Id="R7706e3cfe6054b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1271f30e7554250" /><Relationship Type="http://schemas.openxmlformats.org/officeDocument/2006/relationships/notesMaster" Target="/ppt/notesMasters/notesMaster1.xml" Id="R15e9630e8d4c49b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64b1d70aa294cfa" /><Relationship Type="http://schemas.openxmlformats.org/officeDocument/2006/relationships/notesMaster" Target="/ppt/notesMasters/notesMaster1.xml" Id="R0ba1bfd00b61483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76f6b82053f41a1" /><Relationship Type="http://schemas.openxmlformats.org/officeDocument/2006/relationships/notesMaster" Target="/ppt/notesMasters/notesMaster1.xml" Id="R1dc7fbd582574e9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ceb8e15a3164856" /><Relationship Type="http://schemas.openxmlformats.org/officeDocument/2006/relationships/notesMaster" Target="/ppt/notesMasters/notesMaster1.xml" Id="R01371d9205e948b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237a033f47340dc" /><Relationship Type="http://schemas.openxmlformats.org/officeDocument/2006/relationships/notesMaster" Target="/ppt/notesMasters/notesMaster1.xml" Id="Rf9fd5a4731624b5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c93df77db642dc" /><Relationship Type="http://schemas.openxmlformats.org/officeDocument/2006/relationships/notesMaster" Target="/ppt/notesMasters/notesMaster1.xml" Id="R4cbe4a97dab7498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97fbf10fb0d4533" /><Relationship Type="http://schemas.openxmlformats.org/officeDocument/2006/relationships/notesMaster" Target="/ppt/notesMasters/notesMaster1.xml" Id="Ra92f5a35d70e40e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e63fa2057424ce6" /><Relationship Type="http://schemas.openxmlformats.org/officeDocument/2006/relationships/notesMaster" Target="/ppt/notesMasters/notesMaster1.xml" Id="R2679a09fd9d4454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607c792e1842e9" /><Relationship Type="http://schemas.openxmlformats.org/officeDocument/2006/relationships/notesMaster" Target="/ppt/notesMasters/notesMaster1.xml" Id="R86ea6a821e8f465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8d33b7f407c4b45" /><Relationship Type="http://schemas.openxmlformats.org/officeDocument/2006/relationships/notesMaster" Target="/ppt/notesMasters/notesMaster1.xml" Id="R8c9dc6ec1e08478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cb11a6504264744" /><Relationship Type="http://schemas.openxmlformats.org/officeDocument/2006/relationships/notesMaster" Target="/ppt/notesMasters/notesMaster1.xml" Id="R7746202aa330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figures/notebook/ml_models/cell_008_figure_1.png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d391a27d.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figures/ml_models/comparison.png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paired row bootstrap. 1,000 paired resamples. Fitted models remain fixed.</a:t>
            </a:r>
          </a:p>
          <a:p xmlns:a="http://schemas.openxmlformats.org/drawingml/2006/main">
            <a:r>
              <a:t>[{"comparison": "LightGBM versus Stacking", "other": "Stacking", "advantage": 0.0017136471709647827, "ci_low": -0.0014348846957895566, "ci_high": 0.004762718439082734}, {"comparison": "LightGBM versus OLS", "other": "OLS", "advantage": 0.3062914198568082, "ci_low": 0.27564976928646623, "ci_high": 0.34602851468750845}]</a:t>
            </a:r>
          </a:p>
          <a:p xmlns:a="http://schemas.openxmlformats.org/drawingml/2006/main">
            <a:r>
              <a:t>Figure: figures/ml_models/ranking_stability.png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figures/notebook/ml_models/cell_057_figure_1.png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67e62f3c.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figures/ml_models/winner_diagnostics.png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Diagnostics use LightGBM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figures/notebook/ml_models/cell_016_figure_1.png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b8d16811.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figures/notebook/ml_models/cell_023_figure_1.png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08603448.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figures/notebook/ml_models/cell_032_figure_1.png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05b47cdb.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figures/notebook/ml_models/cell_039_figure_1.png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fdb89a0a.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figures/notebook/ml_models/cell_045_figure_1.png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61c4e466.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figures/notebook/ml_models/cell_051_figure_1.png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a5b2e8d8.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figures/notebook/ml_models/cell_064_figure_1.png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6737e6ce.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Figure: figures/notebook/ml_models/cell_063_figure_1.png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Notebook cell ID: f7104818.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  <a:p xmlns:a="http://schemas.openxmlformats.org/drawingml/2006/main">
            <a:r>
              <a:t>{"LightGBM": {"RMSE": 0.43928996315596835, "MAE": 0.2883439901615231, "R2": 0.8527363022278559}, "LightGBM (tuned)": {"RMSE": 0.43928996315596835, "MAE": 0.2883439901615231, "R2": 0.8527363022278559}, "Stacking": {"RMSE": 0.44100361032693314, "MAE": 0.29044104373365365, "R2": 0.8515851252923601}, "XGBoost": {"RMSE": 0.4555634441360824, "MAE": 0.30181217401972577, "R2": 0.8416234510910252}, "XGBoost (tuned)": {"RMSE": 0.4555634441360824, "MAE": 0.30181217401972577, "R2": 0.8416234510910252}, "CatBoost": {"RMSE": 0.4715267015244089, "MAE": 0.31515490211107766, "R2": 0.830329741369022}, "CatBoost (tuned)": {"RMSE": 0.4715267015244089, "MAE": 0.31515490211107766, "R2": 0.830329741369022}, "RandomForest": {"RMSE": 0.5039333509016345, "MAE": 0.32629377073627364, "R2": 0.8062064390829707}, "MLP": {"RMSE": 0.5205192821031435, "MAE": 0.35275574036305657, "R2": 0.7932398758402253}, "MLP (tuned)": {"RMSE": 0.5205192821031435, "MAE": 0.35275574036305657, "R2": 0.7932398758402253}, "RandomForest (tuned)": {"RMSE": 0.5238512997535342, "MAE": 0.344116506057907, "R2": 0.7905843222916175}, "KNN": {"RMSE": 0.6425902852338763, "MAE": 0.43521505301008967, "R2": 0.6848905330065247}, "KNN (tuned)": {"RMSE": 0.6425902852338763, "MAE": 0.43521505301008967, "R2": 0.6848905330065247}, "Lasso": {"RMSE": 0.7404423656125414, "MAE": 0.5353261423609053, "R2": 0.5816154300698727}, "ElasticNet": {"RMSE": 0.7415883901375351, "MAE": 0.534077200417684, "R2": 0.5803193128873084}, "Ridge": {"RMSE": 0.7438185949703784, "MAE": 0.5330142193095552, "R2": 0.5777912763033604}, "LinearRegression": {"RMSE": 0.7455813830127765, "MAE": 0.5332001304956565, "R2": 0.5757877060324507}}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ml_models_tutorial.ipynb.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run_results/ml_models_tutorial/results.json.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c62e3640a40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ee102eeab4c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e1ff12e1247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1be5aacb040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7a93896ec44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9bc2264ca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65BF01-920B-447B-82D3-551C1CE64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AA0740-3DCE-47E1-9C54-E42DE5DA9E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6851D2-2918-4D69-BE62-1EE1C2B7D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CE740F-BD51-475E-93A4-FCBC96FD2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A540BB-7B17-4E3A-9880-D1CFA3B649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A2651B-73D7-4023-9F9C-451C008D5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E5B6D9-AD42-4159-A6EE-EBA30166F3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779A00-C694-4466-BE82-840A80B38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9D026-A03A-4DBD-9CEC-1C8C511E3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480B8D-2359-41C4-B230-8A8FDCE4F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f0a9778744021" /><Relationship Type="http://schemas.openxmlformats.org/officeDocument/2006/relationships/slideLayout" Target="/ppt/slideLayouts/slideLayout1.xml" Id="Re57b5a17847543c4" /><Relationship Type="http://schemas.openxmlformats.org/officeDocument/2006/relationships/slideLayout" Target="/ppt/slideLayouts/slideLayout2.xml" Id="Rfad73342c7984ed3" /><Relationship Type="http://schemas.openxmlformats.org/officeDocument/2006/relationships/slideLayout" Target="/ppt/slideLayouts/slideLayout3.xml" Id="Rc0d2fe534d2a405f" /><Relationship Type="http://schemas.openxmlformats.org/officeDocument/2006/relationships/slideLayout" Target="/ppt/slideLayouts/slideLayout4.xml" Id="R2a8d1ed8dfcf4901" /><Relationship Type="http://schemas.openxmlformats.org/officeDocument/2006/relationships/slideLayout" Target="/ppt/slideLayouts/slideLayout5.xml" Id="R7b71be980d7e4cad" /><Relationship Type="http://schemas.openxmlformats.org/officeDocument/2006/relationships/slideLayout" Target="/ppt/slideLayouts/slideLayout6.xml" Id="R22acce23a616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b5a17847543c4"/>
    <p:sldLayoutId xmlns:r="http://schemas.openxmlformats.org/officeDocument/2006/relationships" id="2147483650" r:id="Rfad73342c7984ed3"/>
    <p:sldLayoutId xmlns:r="http://schemas.openxmlformats.org/officeDocument/2006/relationships" id="2147483651" r:id="Rc0d2fe534d2a405f"/>
    <p:sldLayoutId xmlns:r="http://schemas.openxmlformats.org/officeDocument/2006/relationships" id="2147483652" r:id="R2a8d1ed8dfcf4901"/>
    <p:sldLayoutId xmlns:r="http://schemas.openxmlformats.org/officeDocument/2006/relationships" id="2147483653" r:id="R7b71be980d7e4cad"/>
    <p:sldLayoutId xmlns:r="http://schemas.openxmlformats.org/officeDocument/2006/relationships" id="2147483654" r:id="R22acce23a616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eefe8c33f49fd" /><Relationship Type="http://schemas.openxmlformats.org/officeDocument/2006/relationships/notesSlide" Target="/ppt/notesSlides/notesSlide1.xml" Id="Rb7c59ef1b3f3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d5eae23424b22" /><Relationship Type="http://schemas.openxmlformats.org/officeDocument/2006/relationships/notesSlide" Target="/ppt/notesSlides/notesSlide2.xml" Id="R1d031e17aa8b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221fc6a7c4ecb" /><Relationship Type="http://schemas.openxmlformats.org/officeDocument/2006/relationships/notesSlide" Target="/ppt/notesSlides/notesSlide3.xml" Id="R3ab08fe9632c42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aaf604b3149e7" /><Relationship Type="http://schemas.openxmlformats.org/officeDocument/2006/relationships/notesSlide" Target="/ppt/notesSlides/notesSlide4.xml" Id="R829689b8078346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d8e605f0b4fec" /><Relationship Type="http://schemas.openxmlformats.org/officeDocument/2006/relationships/notesSlide" Target="/ppt/notesSlides/notesSlide5.xml" Id="R07f3ef6eb44c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d1a22a0b64ea4" /><Relationship Type="http://schemas.openxmlformats.org/officeDocument/2006/relationships/image" Target="/ppt/media/image.png" Id="Rcc37d1fcf5a14db3" /><Relationship Type="http://schemas.openxmlformats.org/officeDocument/2006/relationships/notesSlide" Target="/ppt/notesSlides/notesSlide6.xml" Id="Ra0e6e733918e4f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75dfc678245f9" /><Relationship Type="http://schemas.openxmlformats.org/officeDocument/2006/relationships/notesSlide" Target="/ppt/notesSlides/notesSlide7.xml" Id="R9f35fcab1bdd42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6e50d2ba44b62" /><Relationship Type="http://schemas.openxmlformats.org/officeDocument/2006/relationships/notesSlide" Target="/ppt/notesSlides/notesSlide8.xml" Id="R734235ab14db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a1b68b746417d" /><Relationship Type="http://schemas.openxmlformats.org/officeDocument/2006/relationships/notesSlide" Target="/ppt/notesSlides/notesSlide9.xml" Id="Rc47f17332f5a4f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2c018987d4d1e" /><Relationship Type="http://schemas.openxmlformats.org/officeDocument/2006/relationships/notesSlide" Target="/ppt/notesSlides/notesSlide10.xml" Id="R73cb03fb7e3546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2166e7a3a4428" /><Relationship Type="http://schemas.openxmlformats.org/officeDocument/2006/relationships/notesSlide" Target="/ppt/notesSlides/notesSlide11.xml" Id="R113d1bc40f23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ef694f027490e" /><Relationship Type="http://schemas.openxmlformats.org/officeDocument/2006/relationships/notesSlide" Target="/ppt/notesSlides/notesSlide12.xml" Id="R22f2ce05e69344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bddd838294e54" /><Relationship Type="http://schemas.openxmlformats.org/officeDocument/2006/relationships/notesSlide" Target="/ppt/notesSlides/notesSlide13.xml" Id="Rc7f7f67d00ab41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d10419f6d4388" /><Relationship Type="http://schemas.openxmlformats.org/officeDocument/2006/relationships/notesSlide" Target="/ppt/notesSlides/notesSlide14.xml" Id="Rab4cae9c7da440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721b7563242ce" /><Relationship Type="http://schemas.openxmlformats.org/officeDocument/2006/relationships/image" Target="/ppt/media/image2.png" Id="R09c3b6ed26b14e81" /><Relationship Type="http://schemas.openxmlformats.org/officeDocument/2006/relationships/notesSlide" Target="/ppt/notesSlides/notesSlide15.xml" Id="R5235af3de6194d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3455648cf4c50" /><Relationship Type="http://schemas.openxmlformats.org/officeDocument/2006/relationships/image" Target="/ppt/media/image3.png" Id="R1c4392532b92473c" /><Relationship Type="http://schemas.openxmlformats.org/officeDocument/2006/relationships/notesSlide" Target="/ppt/notesSlides/notesSlide16.xml" Id="R11fb21d617274a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638a087474b8a" /><Relationship Type="http://schemas.openxmlformats.org/officeDocument/2006/relationships/image" Target="/ppt/media/image4.png" Id="R0bbda8e112724f0c" /><Relationship Type="http://schemas.openxmlformats.org/officeDocument/2006/relationships/notesSlide" Target="/ppt/notesSlides/notesSlide17.xml" Id="R25798cd2cda942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d177ef7c34144" /><Relationship Type="http://schemas.openxmlformats.org/officeDocument/2006/relationships/image" Target="/ppt/media/image5.png" Id="R7c0696979e4d4865" /><Relationship Type="http://schemas.openxmlformats.org/officeDocument/2006/relationships/notesSlide" Target="/ppt/notesSlides/notesSlide18.xml" Id="Rd1edc275a99044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324afdfd442d3" /><Relationship Type="http://schemas.openxmlformats.org/officeDocument/2006/relationships/notesSlide" Target="/ppt/notesSlides/notesSlide19.xml" Id="R39185b7ff8bf48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522d4b4244da0" /><Relationship Type="http://schemas.openxmlformats.org/officeDocument/2006/relationships/notesSlide" Target="/ppt/notesSlides/notesSlide20.xml" Id="R4224caf7cda641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ba7431ba74dbb" /><Relationship Type="http://schemas.openxmlformats.org/officeDocument/2006/relationships/notesSlide" Target="/ppt/notesSlides/notesSlide21.xml" Id="Ref3d230304c242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255d534c542f0" /><Relationship Type="http://schemas.openxmlformats.org/officeDocument/2006/relationships/notesSlide" Target="/ppt/notesSlides/notesSlide22.xml" Id="Rfbc75a8cee704e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9363533be45f7" /><Relationship Type="http://schemas.openxmlformats.org/officeDocument/2006/relationships/notesSlide" Target="/ppt/notesSlides/notesSlide23.xml" Id="R6d9ebb243b8041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a2a378a664222" /><Relationship Type="http://schemas.openxmlformats.org/officeDocument/2006/relationships/notesSlide" Target="/ppt/notesSlides/notesSlide24.xml" Id="R7885e555494741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e691971234666" /><Relationship Type="http://schemas.openxmlformats.org/officeDocument/2006/relationships/notesSlide" Target="/ppt/notesSlides/notesSlide25.xml" Id="R7d0fa30167ab48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944df66f84f32" /><Relationship Type="http://schemas.openxmlformats.org/officeDocument/2006/relationships/notesSlide" Target="/ppt/notesSlides/notesSlide26.xml" Id="R24ee56f51c584d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dfba414d74b79" /><Relationship Type="http://schemas.openxmlformats.org/officeDocument/2006/relationships/notesSlide" Target="/ppt/notesSlides/notesSlide27.xml" Id="Rc475ee1f095c47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8ff72fb6d4ade" /><Relationship Type="http://schemas.openxmlformats.org/officeDocument/2006/relationships/image" Target="/ppt/media/image6.png" Id="R1de73a1fda014cde" /><Relationship Type="http://schemas.openxmlformats.org/officeDocument/2006/relationships/notesSlide" Target="/ppt/notesSlides/notesSlide28.xml" Id="Reb8c448dacbb44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6c79aaee8483b" /><Relationship Type="http://schemas.openxmlformats.org/officeDocument/2006/relationships/image" Target="/ppt/media/image7.png" Id="Re679b9e45b6f47d4" /><Relationship Type="http://schemas.openxmlformats.org/officeDocument/2006/relationships/notesSlide" Target="/ppt/notesSlides/notesSlide29.xml" Id="R318b5fe6a42949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80b3880a14ee3" /><Relationship Type="http://schemas.openxmlformats.org/officeDocument/2006/relationships/image" Target="/ppt/media/image8.png" Id="Raa15bfb10cb647a5" /><Relationship Type="http://schemas.openxmlformats.org/officeDocument/2006/relationships/notesSlide" Target="/ppt/notesSlides/notesSlide30.xml" Id="R3cef36d4f1fa44b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89c9e64d1481d" /><Relationship Type="http://schemas.openxmlformats.org/officeDocument/2006/relationships/image" Target="/ppt/media/image9.png" Id="Re0bf4b2ca92a418c" /><Relationship Type="http://schemas.openxmlformats.org/officeDocument/2006/relationships/notesSlide" Target="/ppt/notesSlides/notesSlide31.xml" Id="R3c233c202d2541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6fdedc1fb42b8" /><Relationship Type="http://schemas.openxmlformats.org/officeDocument/2006/relationships/image" Target="/ppt/media/image10.png" Id="R5327499fede7417e" /><Relationship Type="http://schemas.openxmlformats.org/officeDocument/2006/relationships/notesSlide" Target="/ppt/notesSlides/notesSlide32.xml" Id="R7b619e0610cd41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f9754c19242d6" /><Relationship Type="http://schemas.openxmlformats.org/officeDocument/2006/relationships/image" Target="/ppt/media/image11.png" Id="R10f7570cc1f34461" /><Relationship Type="http://schemas.openxmlformats.org/officeDocument/2006/relationships/notesSlide" Target="/ppt/notesSlides/notesSlide33.xml" Id="R6f97836cf75c47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fc4b2bcbf4e6e" /><Relationship Type="http://schemas.openxmlformats.org/officeDocument/2006/relationships/notesSlide" Target="/ppt/notesSlides/notesSlide34.xml" Id="Rbd6195ce83504b1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6b977ee724ffa" /><Relationship Type="http://schemas.openxmlformats.org/officeDocument/2006/relationships/notesSlide" Target="/ppt/notesSlides/notesSlide35.xml" Id="R31129768d68842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d590018154fe7" /><Relationship Type="http://schemas.openxmlformats.org/officeDocument/2006/relationships/notesSlide" Target="/ppt/notesSlides/notesSlide36.xml" Id="R1087cdb346bc4be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9795120b14698" /><Relationship Type="http://schemas.openxmlformats.org/officeDocument/2006/relationships/notesSlide" Target="/ppt/notesSlides/notesSlide37.xml" Id="R06cd2c1422904ad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5f7958037444e" /><Relationship Type="http://schemas.openxmlformats.org/officeDocument/2006/relationships/notesSlide" Target="/ppt/notesSlides/notesSlide38.xml" Id="R2b94bd853d37444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a5281b1874371" /><Relationship Type="http://schemas.openxmlformats.org/officeDocument/2006/relationships/notesSlide" Target="/ppt/notesSlides/notesSlide39.xml" Id="Rc18d5dad4aa0495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53fe7dafa4dea" /><Relationship Type="http://schemas.openxmlformats.org/officeDocument/2006/relationships/image" Target="/ppt/media/image12.png" Id="R8b46409061ab4aec" /><Relationship Type="http://schemas.openxmlformats.org/officeDocument/2006/relationships/notesSlide" Target="/ppt/notesSlides/notesSlide40.xml" Id="R0d8d083b91b7420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ca8f7c7654227" /><Relationship Type="http://schemas.openxmlformats.org/officeDocument/2006/relationships/image" Target="/ppt/media/image13.png" Id="Rd285df5fcac14ad2" /><Relationship Type="http://schemas.openxmlformats.org/officeDocument/2006/relationships/notesSlide" Target="/ppt/notesSlides/notesSlide41.xml" Id="R8290b36eb93144f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5ec3d88b2446c" /><Relationship Type="http://schemas.openxmlformats.org/officeDocument/2006/relationships/notesSlide" Target="/ppt/notesSlides/notesSlide42.xml" Id="R8a9096a1a19a4af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1318ace7241fa" /><Relationship Type="http://schemas.openxmlformats.org/officeDocument/2006/relationships/notesSlide" Target="/ppt/notesSlides/notesSlide43.xml" Id="Raa643f103aae4f3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718964ca844c7" /><Relationship Type="http://schemas.openxmlformats.org/officeDocument/2006/relationships/notesSlide" Target="/ppt/notesSlides/notesSlide44.xml" Id="R954278691fee483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2ffef3f654b65" /><Relationship Type="http://schemas.openxmlformats.org/officeDocument/2006/relationships/notesSlide" Target="/ppt/notesSlides/notesSlide45.xml" Id="Ra0a74e820f8f4a3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8028ae7a7494b" /><Relationship Type="http://schemas.openxmlformats.org/officeDocument/2006/relationships/notesSlide" Target="/ppt/notesSlides/notesSlide46.xml" Id="R46758810ff11463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e0bc787834809" /><Relationship Type="http://schemas.openxmlformats.org/officeDocument/2006/relationships/notesSlide" Target="/ppt/notesSlides/notesSlide47.xml" Id="R33bbd50a090640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869C2F0-A7EF-430B-9906-31D01A9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C2CD33-A4E5-4010-BD01-65E87A63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F6DD52-47B8-432C-A369-114A239E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district home values from census data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19F85A-A409-4C59-B8D9-33DA7133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756220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7C9BFB2-20AA-4172-9ADA-A00038F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29441DA-38E8-452D-8F8E-968A9F4D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1F713A-5496-44CD-907E-82E1431F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CD9D3A-7AAA-40B2-B463-E836C1B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8D7351-19BD-454B-A349-2AC50176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0.4393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4F9CCA-0FD7-49E3-9710-9D7B3EBB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E37C1C0-B54F-472F-97F4-CAF2D29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model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F927AA4-6B37-45CE-B2FB-23F54CC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reaches RMSE 0.4393 and MAE about $28,834.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B24703B-3928-459C-871C-529BA444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0246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Comparison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EA77CBB-FCC1-41A4-8E88-0E7B396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4101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is 41.1% below OLS. Its small lead over stacking is uncertain under paired resampling.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650B8F-9A31-4830-99F0-48FC756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3533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9C804B5-6836-46B9-A084-7D7A237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7388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Keep LightGBM as the simpler leading candidate and validate on geographically separate districts.</a:t>
            </a:r>
          </a:p>
        </p:txBody>
      </p:sp>
    </p:spTree>
    <p:extLst>
      <p:ext uri="{BB962C8B-B14F-4D97-AF65-F5344CB8AC3E}">
        <p14:creationId xmlns:p14="http://schemas.microsoft.com/office/powerpoint/2010/main" val="219975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0B04F433-190F-42EA-ABD4-290D5945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EFB3F0-E87E-42F7-A782-D2D97FF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FC0672-B1B8-4B11-B046-78336BC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BDEF3A-2649-454B-A6C4-4F978E6F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8E19E5-92B2-42A5-BCDA-036C4436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17CB9B-FDE6-45D3-AEED-56B2AA6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Estimate the median home value of a California census district from its location, income and housing characteristics.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F1864F9-A112-4F87-9AC7-761BAD3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0C46C1A-1E58-473F-99B2-071B2C6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census district. Values are recorded in units of $100,000.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D7F4C92-8F52-4783-AB73-3390906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058FA41-29A7-4B2E-8398-3AF9EA6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for model ranking, MAE for typical error, and R² for explained variation.</a:t>
            </a:r>
          </a:p>
        </p:txBody>
      </p:sp>
    </p:spTree>
    <p:extLst>
      <p:ext uri="{BB962C8B-B14F-4D97-AF65-F5344CB8AC3E}">
        <p14:creationId xmlns:p14="http://schemas.microsoft.com/office/powerpoint/2010/main" val="168461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88259D0-084F-45F9-BB9D-94041C1F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333A49-5E0A-4F4A-BEAB-B09FB55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4908F2-405D-424D-8174-3245AB3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A763F9-5E78-4DB3-91E4-3496823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E7263-41C0-4F34-BA2A-57C14C10E30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20,640 California census districts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numerical census and location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district value, recorded in units of $100,000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district aggregates. Individual property transactions are outside the dataset.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10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6AA005B-C81B-4C65-B361-5931254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1C8D43-3584-4D49-B0FC-2AFC832A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3A18F6-4671-4A8C-9CBC-FD9A90AD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C40E155-DD14-43EF-9C54-2887F56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CB57-A198-4F85-AE66-53F16116DA6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data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all 20,640 districts and the eight numerical predictors.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benchmark has complete numerical fields.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Scaling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Standardize predictors using the training partition for linear models, KNN and MLP.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the recorded home-value ceiling of 5.00001.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515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4F1FB96-078B-490C-A841-C4C8E622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494CA17-D81B-4F4D-8156-0601A4A8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Target distribution and correlations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CBE2A7-52D0-45A2-AF24-3EB05B6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3920B3-C952-4C22-828A-47DBDC1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C7E15-F002-440C-8057-CCE2FC518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d1fcf5a14db3"/>
          <a:stretch xmlns:a="http://schemas.openxmlformats.org/drawingml/2006/main"/>
        </p:blipFill>
        <p:spPr>
          <a:xfrm xmlns:a="http://schemas.openxmlformats.org/drawingml/2006/main">
            <a:off x="514350" y="1767899"/>
            <a:ext cx="11163300" cy="3969902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291169E-D6C2-42C7-81DD-76673C9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distribution is right-skewed and includes a pile-up at the maximum recorded value.</a:t>
            </a:r>
          </a:p>
        </p:txBody>
      </p:sp>
    </p:spTree>
    <p:extLst>
      <p:ext uri="{BB962C8B-B14F-4D97-AF65-F5344CB8AC3E}">
        <p14:creationId xmlns:p14="http://schemas.microsoft.com/office/powerpoint/2010/main" val="884312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688B21C-69B8-48E5-B955-FE02D665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B8B9D2-61EA-4B14-93B4-CC03C6E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AC79B1-1A08-4AD8-BCC2-60EFB70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6428B8-1E2A-4974-9E1B-5D673E44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74A33F1-3DC0-4260-8108-3913035F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Home values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EB3836-6CAC-47FB-AEFC-CEF08650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distribution is right-skewed and includes a pile-up at the maximum recorded value.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A9B7988-47DD-4340-9DA3-B66C0A19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Related features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041E8C6-0A47-4231-A4F6-F2BB86C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Rooms and bedrooms are strongly related. Nearby districts also share geographic and market characteristics.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887B499-198A-4704-94AB-D7EAF419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Modeling choice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541111C-AB33-4304-AE1D-7BE11879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Test nonlinear models and report errors separately for districts at the recording ceiling.</a:t>
            </a:r>
          </a:p>
        </p:txBody>
      </p:sp>
    </p:spTree>
    <p:extLst>
      <p:ext uri="{BB962C8B-B14F-4D97-AF65-F5344CB8AC3E}">
        <p14:creationId xmlns:p14="http://schemas.microsoft.com/office/powerpoint/2010/main" val="796159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8B7F8D8-6842-4AC4-B59E-3A239ADC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35CE3B-8F55-4897-BADB-FE95276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B72141-7018-4363-8286-5C4E4C9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7E8522-BA74-4111-803A-DE6DF445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EE1B-D9E1-4EE9-BD8F-159E48CE988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 and age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income and median house 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Housing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rooms, average bedrooms and average occupancy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Population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District population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Latitude and longitude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699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9DCE717-BBB0-4542-A3D5-CF321D5E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D79450-C9ED-4792-9084-A66690F7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EC15377-C9CC-4717-9CE7-32B6212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8E27C7-5938-4CD2-8ACB-543C94E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4C97FC-9076-4849-8F34-C4FFC32E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A9D637-21BD-4068-8D47-95BF6AF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80/20 split with seed 42. Training has 16,512 districts and testing has 4,128 districts.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151D292-87A8-4209-A2A2-7784A199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26431C9-464C-44EB-926B-98BDC68E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70C0620-917A-4711-BAA2-63C51B9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3BD4ABE-A383-4B85-8DCC-848DC68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partition is separate from the rows used to fit each model.</a:t>
            </a:r>
          </a:p>
        </p:txBody>
      </p:sp>
    </p:spTree>
    <p:extLst>
      <p:ext uri="{BB962C8B-B14F-4D97-AF65-F5344CB8AC3E}">
        <p14:creationId xmlns:p14="http://schemas.microsoft.com/office/powerpoint/2010/main" val="2128934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84A2090-A191-4CEB-B54C-416D8FF0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EC205C-4F37-4D34-B890-C3A9183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B97F5A-02E2-4F3C-A6C6-FDBE5CB1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F4EF57-1561-4D14-A503-BC1761E0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1E3A9-A1D4-41DB-B396-E0565064C48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08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2AC112C-4CCE-4305-B641-1146732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81E8AE-219F-4941-966E-154F90E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1B91DF-6ABA-4AD8-BDCA-9523871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580145-F5E8-4974-BB4A-D154B715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B5F5-BD7A-491B-B532-D4048E53E45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2906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4348EF7-3586-4300-939E-855D1EF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0A9DE2-B73F-4890-B42F-269CA83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EF35B6-A274-499D-AD93-851B57F2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10E9CE7-2D66-45FA-8195-AAC9BEE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79D51-5B88-47D6-9383-B940D771D85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3389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68BE1A3-E656-45CB-8A83-0170CA1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7188CB-5209-4B4E-8C27-5A81C23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8F388FE-143D-42D8-A5B5-F840F23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BE879F-2524-4098-B55E-5F0887B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FFB4D-9286-43FF-B184-16C21FDE54C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70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7341256-2312-4572-A76A-53545974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E5F442-4812-4649-8302-545B5A9F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BF8087-054B-4B82-87C0-569DF80C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15834D-B47D-40DD-A243-5B3F938A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FCB4B27-B293-47A1-BB5E-83AE670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E23AAFE-B38E-4799-8751-7535C375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889C28B-7738-4ED7-B85F-C58B178C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56176C4-E18A-49AD-90C8-0105E90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D57E9F6-5BED-4D95-9242-EE754BA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65AACC0-BC7D-450B-B5F0-1B0DB19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8F32EF2-5674-4063-8507-9045AB2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0.4410 and MAE 0.2904.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889047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3E58D1B-F6B6-46B7-ACCC-0ED0B93C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ED1EB4-AF8B-4A8C-8571-9243954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BDBB43-D46D-418C-ACA5-CA7A8AE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CFB548D-C1E1-4701-812D-11282C7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8569-A70C-4F81-B0EF-2ECACCBE4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3b6ed26b14e81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0CFE66E-8A4A-401F-843D-C2DAC221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20486214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7FAE7DC-A80C-498B-BEBA-13B53A7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03488F-E861-4A25-9D2B-C1E0555D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61913B-AD4E-49BA-B876-1BF07646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A5FAB4-7440-46EB-A699-9EBA90CD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305E8-C905-4EA7-B3AD-E994DAC9A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392532b92473c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37CB1ED-B329-47D7-A048-2088241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LightGBM versus Stacking.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837276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93E48EA-D037-4B6E-B9B0-A6BF642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452842-595F-4017-B9FC-0B2BE4C0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5AD5A2-651A-4E15-BE04-1B6904F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65E764B-9394-4D6F-BAE1-6E27F36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297C8-D262-4AD7-B52E-5793D682E0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da8e112724f0c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D4F767E-605E-460C-8265-F19BF7C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Income and location provide useful predictive information. Correlated housing features can share importance.</a:t>
            </a:r>
          </a:p>
        </p:txBody>
      </p:sp>
    </p:spTree>
    <p:extLst>
      <p:ext uri="{BB962C8B-B14F-4D97-AF65-F5344CB8AC3E}">
        <p14:creationId xmlns:p14="http://schemas.microsoft.com/office/powerpoint/2010/main" val="18458515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AD3054B-8454-49AD-B0AA-36FA8B7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CBBF97-18BF-4569-82E1-3F53A5A2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Prediction errors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201603-7786-459D-BF27-5EAB0B8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03CA7E-4B25-42C5-A8DC-F8F6F59A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587E2-CCF4-4254-8FB2-37FE869BA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96979e4d4865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5A927-6803-46D7-9F0A-ED9FE82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Residual = prediction − actual. Positive residuals indicate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1422924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FD87CDC-02AE-48A2-8D36-95ADFEAE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4CEB35-E940-4A52-8F55-6AFDF702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7492FD-FA39-4DAB-BF10-4B3EF8A2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D1CC73-7600-49EE-8B62-C3F531B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30958-281C-43F3-8062-E34D6208502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1.1449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-0.000219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8A0FCAB-63A1-4EFF-8C84-A143053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100,000 USD.</a:t>
            </a:r>
          </a:p>
        </p:txBody>
      </p:sp>
    </p:spTree>
    <p:extLst>
      <p:ext uri="{BB962C8B-B14F-4D97-AF65-F5344CB8AC3E}">
        <p14:creationId xmlns:p14="http://schemas.microsoft.com/office/powerpoint/2010/main" val="20058185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CA7CD3C-72A9-4828-9442-633A5ECE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C0C390-673F-4999-8BD4-616CD1CE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6568E9-2046-495A-9F5E-5D9BD2B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D3C8897-1F9C-44E8-9277-6979DB7D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789D81-C19E-40FE-AD9F-352CE92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accuracy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B1ABBE-103C-4758-B8D2-986CFCA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and stacking have similar test error. Both improve substantially on the linear models.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2FA1133-6126-4709-920B-960CF4C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High-value districts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073A61A-D69A-4B03-AC9E-7B4213F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184 capped test targets have MAE about $62,005. Mean underprediction is about $55,610.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4A70AAD-1AA0-4831-855E-302E4A2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Use of the model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4E8A1A1-A03A-4BF2-B610-89A0223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target is a district median. A property valuation model needs property-level inputs and transaction prices.</a:t>
            </a:r>
          </a:p>
        </p:txBody>
      </p:sp>
    </p:spTree>
    <p:extLst>
      <p:ext uri="{BB962C8B-B14F-4D97-AF65-F5344CB8AC3E}">
        <p14:creationId xmlns:p14="http://schemas.microsoft.com/office/powerpoint/2010/main" val="20206493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266AC26-6630-4A10-8306-53E06554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9AB6C8-BB4E-4F3D-9725-6A5E2866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0234A9B-3DFC-4E22-B388-2902E210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7D72BE-93B2-4228-A863-A001B82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6092F-AA1B-4492-B776-FE0E9E5FCE9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Geography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random split can place nearby districts in both training and test data.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 of data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Market conditions may differ from the historical population.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ceiling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most expensive districts have capped labels.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selection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the selected model on data that did not guide model choice.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3512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B569CF2-F5FD-43C0-8FFE-B4A1001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916C6F-8997-4AA6-ADD1-4C379E8B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8F2AAE-8948-4864-B1C2-0E3F071A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CE76CF-3272-4CFF-8496-06D36591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C1BCD-9138-4E6B-AB10-590C1E72062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Spatial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districts by geographic blocks and keep regions separate.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error across held-out regions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ablation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location-only, income-only and complete feature sets.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Incremental value of each feature family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Ceiling sensitivity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 capped and uncapped districts separately.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error at the upper limit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 using training folds, refit all training rows, then score a new holdout.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untouched final estimate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3600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396415C-0A29-44E9-A928-0DF7E6FE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57E787-191B-4019-BAA6-E2995B50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6791331-7744-4EFF-936D-532439A9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35A0F6-9F10-473C-909E-DAE54FF8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224CD4-028A-47B0-805C-9779B7A4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is the leading candidate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0BEF22-CD0A-4D1B-9105-E32EFDCB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0.4393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765EE0-20E7-4B98-8875-A419FEE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Its score is close to stacking, with lower ensemble complexity. Geographic validation and capped-target errors remain the next priorities.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19B4E84-90B1-473E-BF2C-7B9BB92B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661997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C5423DB-776E-4F65-8096-1807407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57B20F-DC70-4CA8-812C-528A5301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C669A4F-C6E8-4A9A-B6C5-B93340F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88DDAC-8CB0-4C5A-892E-61600E0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A8044-B997-4366-B128-853FB77FA02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 root of mean 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Ranks models and emphasizes large misses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absolute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Describes typical error magnitude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predicting the test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explained variation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errors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by target range or time group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Locates concentrated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761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35DAF67-D6D3-4D6E-8BBE-44B6619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796BE-7DFC-46D1-86ED-51BB7EE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9EB78C-62F4-4EDF-AD4E-B03E1D0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6C5793-AE08-40AB-9C7E-64F3089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935EE-89E9-4840-ABD8-AF825CA220D8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9440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B2C7F74-D841-4D7C-87C9-86C4792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2055F7-747F-4A47-BEB6-348F5077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04E71C-5F8D-49AF-9DD6-D39FDC87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189B3B-D595-4491-99E2-4D444F7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7C063-E447-4783-9FF4-68A6D72481A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3143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558A1D7-54E2-414A-8480-70FA016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0DD22A-FD24-4A0D-954B-C171C55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BEF788-6983-42A6-B5EC-39CDFE8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45C567D-8362-4E17-869C-185924F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F2B5E5F-18AE-4502-B424-5198FEF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92100CA-D26D-4675-B037-4750A9A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Lasso has the lowest linear-model RMSE, 0.7404. The gain over OLS is small compared with the nonlinear models.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8FD9E9-1412-4C7F-BA82-F94B3E3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12CD87E-3B39-43AA-A1B1-C3C6A670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Income and location have strong fitted associations. Correlated housing variables can share or exchange coefficient weight.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C1223D0-A6A6-42C4-A525-8380BD10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A9322AB-5CDB-448E-A6F5-404E30B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Test income–location interactions and compare coefficient stability across geographic folds.</a:t>
            </a:r>
          </a:p>
        </p:txBody>
      </p:sp>
    </p:spTree>
    <p:extLst>
      <p:ext uri="{BB962C8B-B14F-4D97-AF65-F5344CB8AC3E}">
        <p14:creationId xmlns:p14="http://schemas.microsoft.com/office/powerpoint/2010/main" val="1982257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06B4FD0-938A-48E7-910E-AC12379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E79D45-30CB-4638-BE74-95167719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E42FF3E-D00E-48B4-A020-BB027926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DFEFEE-D68A-40CE-A5A3-9B556C3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59004-5C96-44C3-99F9-14CAB4122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73a1fda014cde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8785C72-4E5E-4E99-9E49-60F7964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8788415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3E5CD41-BB98-480A-8E7A-F5AC3ED4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B7AC92-F7AC-4EF8-B002-64D49C8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AD328A-9FEA-40F0-A4FA-782812CC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819994-2041-4083-8ADE-627D8B7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21598-5BD4-45AA-9B96-94CB48866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9b9e45b6f47d4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74C1C2A-4C4D-4724-A1C8-B0518DA2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6679916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03FF440-F931-40D0-BDB8-8D3FDA6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30CE55-86A6-4BAB-BCA6-25B8E5AA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B92F434-3B25-4CBC-99DA-37B0436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FADB0B-7231-490B-AD80-0210776C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9D536-B57D-458E-AF4A-764713BBCA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5bfb10cb647a5"/>
          <a:stretch xmlns:a="http://schemas.openxmlformats.org/drawingml/2006/main"/>
        </p:blipFill>
        <p:spPr>
          <a:xfrm xmlns:a="http://schemas.openxmlformats.org/drawingml/2006/main">
            <a:off x="3181310" y="1762125"/>
            <a:ext cx="582938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B1BE9A6-76A4-45D3-A438-F64D91E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9862510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F9CE256-84AB-4678-B1F0-8810E135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93370E-8F5C-47C5-A771-B88501B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D747D3-A188-412F-8853-872D9272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174EF4-3C22-47B8-82CD-C2445BE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A1DBB-5288-4A33-AA56-80D52F22F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f4b2ca92a418c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7AE9F31-9B91-47FC-BD8C-5C9D9960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Income and location provide useful predictive information. Correlated housing features can share importance.</a:t>
            </a:r>
          </a:p>
        </p:txBody>
      </p:sp>
    </p:spTree>
    <p:extLst>
      <p:ext uri="{BB962C8B-B14F-4D97-AF65-F5344CB8AC3E}">
        <p14:creationId xmlns:p14="http://schemas.microsoft.com/office/powerpoint/2010/main" val="4218670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0F99C1E-72A6-4896-A897-DEE13E6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81EEC4F-A21C-45E6-A723-C2638542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CD7804-EFA5-4120-B8F3-DF0C5F00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E4771F-B602-43D3-8095-DE9B767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74EB6-AE58-4A06-B3BB-6CA2F87291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7499fede7417e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41C0BDE-D0BB-43D2-ABEF-BE52203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Income and location provide useful predictive information. Correlated housing features can share importance.</a:t>
            </a:r>
          </a:p>
        </p:txBody>
      </p:sp>
    </p:spTree>
    <p:extLst>
      <p:ext uri="{BB962C8B-B14F-4D97-AF65-F5344CB8AC3E}">
        <p14:creationId xmlns:p14="http://schemas.microsoft.com/office/powerpoint/2010/main" val="5364634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A80FB0B-CF17-4CF4-AEC2-7CC7DB3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CF4E5A-969F-4BB7-8B04-1B1EC552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C98AA8-9099-41D9-87E9-128655D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E659F4-B77E-4165-8D32-74D1946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2FC4-038E-4D47-8565-BA19981EB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7570cc1f34461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3D53653-315A-49AD-9EDE-F90BD5ED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Income and location provide useful predictive information. Correlated housing features can share importance.</a:t>
            </a:r>
          </a:p>
        </p:txBody>
      </p:sp>
    </p:spTree>
    <p:extLst>
      <p:ext uri="{BB962C8B-B14F-4D97-AF65-F5344CB8AC3E}">
        <p14:creationId xmlns:p14="http://schemas.microsoft.com/office/powerpoint/2010/main" val="7232930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29AF812-900B-46D4-8ADB-ED180C48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42DFEEF-DB2D-483A-829B-0D897D5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368E80-3082-4EBA-888D-B26A444A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11E466-6984-460B-BF6B-5B7899D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F6A38-339C-4BB9-9C35-A0DBEFB0D1D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(0.149, 1.193]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(1.193, 1.786]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0.2150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0.0848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(1.786, 2.63]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Q4: (2.63, 5.0]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-0.2451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962A86F-C87A-407E-B0F7-5E9FB833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LightGBM. Mean error = prediction − actual. Units: 100,000 USD.</a:t>
            </a:r>
          </a:p>
        </p:txBody>
      </p:sp>
    </p:spTree>
    <p:extLst>
      <p:ext uri="{BB962C8B-B14F-4D97-AF65-F5344CB8AC3E}">
        <p14:creationId xmlns:p14="http://schemas.microsoft.com/office/powerpoint/2010/main" val="4947136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D84025D-86CA-4962-9ABC-E671398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235959-3B40-4D19-BE71-C7F46190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EF1BE2-5F2E-45E9-B096-0D9A367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D9E3F8-B089-4D00-9AEB-26F7D42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0DF4-73FB-43BD-A2DE-A87FC73024E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 a district median, with an error range appropriate to the local market.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historical dataset does not establish accuracy for current property prices.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Reserve geographic blocks to measure performance in a new area.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2797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556CBAA-6850-4684-B1F7-B8D3B197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E35FF1-A7C6-4D20-B573-E4D7E4E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B5DBA1-2554-4657-A5C5-82C4143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5BF95E-3A47-4082-B066-1BECA94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648329-DD0A-4D9F-B2BA-78AAC90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345FE1E-300C-4035-9F99-9C8D94E1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A0092A0-7DE4-45FA-ACCA-416FC56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899AD31-3992-4978-AB0E-C7BB851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3EC0997-9E1E-446E-BC2D-D294E7A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BDEE60A-D9EB-41BD-9AF6-3C933E00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811682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B11FA90-C372-45B6-8BEF-C23F2F4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AA5C8A-19D9-4ABA-AB25-8D13AD96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F39C15-8541-4288-B658-BE1F5CE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8BC15F-420C-4471-BFCB-AD7F8332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1DC701-378B-4F46-A815-15317F2A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EEA1F2-5273-4146-8BBA-B1F29C0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66F413-4BF3-4C25-9D61-3B62EC98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3F9751-38D2-4CA0-B765-8D0F633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512F1FB-7E4E-4069-97B0-2BC9A4C6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0F2C67C-DE5C-4F3C-8393-744049ED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7302685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0F5BBAD-57B2-4DDD-BA0A-1EC0D50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09AD80-4B3D-4463-B35B-B6C9E5E9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B97A385-EB95-4E0E-A293-5C85FC35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91E92E-2A79-4DFA-BBD7-131816F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902E103-B9F1-4B1F-A986-FAD6C8A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location?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16BFFD-32B2-45C7-96AF-38B98FE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Home values vary geographically. Holding out entire areas tests whether the relationship transfers to a new location.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681CA4-CD3D-47BC-B142-F2089360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does the target ceiling affect evaluation?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A019A30-8C6F-4184-9450-69F32C4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Capped records hide values above the ceiling. Evaluate these districts separately and avoid treating the recorded cap as their exact market value.</a:t>
            </a:r>
          </a:p>
        </p:txBody>
      </p:sp>
    </p:spTree>
    <p:extLst>
      <p:ext uri="{BB962C8B-B14F-4D97-AF65-F5344CB8AC3E}">
        <p14:creationId xmlns:p14="http://schemas.microsoft.com/office/powerpoint/2010/main" val="11822738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9C5CF46-F191-47EB-9638-8BCFF08E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686DF5-6C35-4822-9225-37FB465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2AEDD3-A233-48CF-9D6C-6E1CCD7C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DD019C-1F49-42B4-9E3C-4B99AD8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F6966E-CB7D-4699-AAE8-96FDF96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Can this predict an individual house price?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513F2A2-F3E6-401C-A27D-9C3A20A5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fitted target is a district median. A property model needs property-level features and transaction prices.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121A1AA-AD26-4815-90B2-D69D50C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would you validate LightGBM next?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A8EB7D0-4844-4C59-B646-DB61ABB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geographically separated folds and report errors by value range. Reserve a final region or period for the selected model.</a:t>
            </a:r>
          </a:p>
        </p:txBody>
      </p:sp>
    </p:spTree>
    <p:extLst>
      <p:ext uri="{BB962C8B-B14F-4D97-AF65-F5344CB8AC3E}">
        <p14:creationId xmlns:p14="http://schemas.microsoft.com/office/powerpoint/2010/main" val="16077967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D202670-30F7-437F-AD5A-7FE63D7C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560172-AD8F-40AB-A715-7B0EF509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Actual and predicted district values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DB60B6-3927-4000-B15E-8D529F9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780112-F210-41B5-B306-EF16994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755E1-EED6-43A5-AA68-6FF764935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409061ab4aec"/>
          <a:stretch xmlns:a="http://schemas.openxmlformats.org/drawingml/2006/main"/>
        </p:blipFill>
        <p:spPr>
          <a:xfrm xmlns:a="http://schemas.openxmlformats.org/drawingml/2006/main">
            <a:off x="4105275" y="1762125"/>
            <a:ext cx="398145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3234997-9592-49DF-AFCD-CEF7688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10367324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6E26569-46ED-4554-A7D2-D0B79111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B76AEC-0A11-4ACB-AE8D-07D3675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1F5525-0F09-48BE-8C3F-8935425F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50F723-2020-4AAD-9B01-4499876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47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3851-8252-4C75-9823-1153B5041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5df5fcac14ad2"/>
          <a:stretch xmlns:a="http://schemas.openxmlformats.org/drawingml/2006/main"/>
        </p:blipFill>
        <p:spPr>
          <a:xfrm xmlns:a="http://schemas.openxmlformats.org/drawingml/2006/main">
            <a:off x="514350" y="2047346"/>
            <a:ext cx="1116330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D5A21BC-A5FB-44AC-8C49-0B8EF8E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6292448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9CF89FF-ED30-4C2C-865C-DC19078B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C6D215-0007-4D7F-A266-0D16DB1B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482594-7DE1-4486-A808-130F87A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C418060-F5A1-475E-A2BC-1913517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E15D2-226E-4687-B940-4721739FFA2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0.2904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0.3018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0.3018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0.4715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0.4715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0.3528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4196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9C54B23-3411-4B46-A395-A88F879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7EF55B-F39D-4EF2-A291-8A5E876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36A7A7-8146-4FBC-9A98-C319AB39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7682D1-6A5E-4562-B152-E9176E7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56080-0DF8-4745-AF3C-5C4F1817931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0.3528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0.7906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5289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861CBE6-BC2D-4A69-9C07-56EBBF9D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5E4753-B102-4AAB-9E4C-89CA6F9B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E654040-EB7C-4582-8B8A-4D686975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D739AC-6A77-4A9D-8DCE-066B7D9D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8AAD6-9BE1-4280-9861-48D25D5803C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FE6EEA1-B5E9-43B1-9716-D183F84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4823089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C850B98-2030-4C0D-A249-1AC600D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E86AF5-DEB2-4AF6-B85A-A4F9E391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89D2FD-AEF0-43A9-BB57-278B3894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88177B8-1254-494B-90D1-7CCA143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5CFC-8235-4390-B37C-A1C1EA36F60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48261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150DE8D-0090-4CB8-96B2-6B953C5A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64C909-C2A3-4C96-8597-FDE0D5A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96DE8F-0200-4C83-AA04-B48DDFD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67E83F3-C2A5-422D-ABCD-EF18AF6D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393B2-63C8-4A26-BD3A-4014FF94D91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62258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78FA09A4-3B8D-4D0D-89CE-CF129191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3CE3BAA-ABF9-4726-A973-BF949F0D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1C6247-C4DA-4C21-8833-2348E08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California Housing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A76457-ACC5-4F74-A2BC-C9AFA82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47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C9D475-A32E-4D24-864B-08CE8969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92015E9-09F1-4BC9-B7B4-0AD8D62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 California Housing dataset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57B587-D8AC-4D4F-A847-F485BC6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9779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CB7DE33-69F6-4132-AFDF-00E436B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6016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ml_models_tutorial.ipynb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6FACB6C-7AF8-42DE-80DB-B0447781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13E2127-255C-4A8D-9B2D-9B9EB52F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961EBA4-E568-4A3A-9F90-354D4D5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83A211-5E2C-4223-82B9-FB5478FA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638839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2026-10-19T13:17:21.6230000Z</dcterms:created>
  <dcterms:modified xsi:type="dcterms:W3CDTF">2026-10-19T13:17:21.6230000Z</dcterms:modified>
</coreProperties>
</file>