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4d9d36a6c84835" /><Relationship Type="http://schemas.openxmlformats.org/officeDocument/2006/relationships/extended-properties" Target="/docProps/app.xml" Id="Rc6a51868f1fd4702" /><Relationship Type="http://schemas.openxmlformats.org/officeDocument/2006/relationships/officeDocument" Target="/ppt/presentation.xml" Id="Rcd52af4258c542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4e423c274644e5"/>
  </p:sldMasterIdLst>
  <p:notesMasterIdLst>
    <p:notesMasterId xmlns:r="http://schemas.openxmlformats.org/officeDocument/2006/relationships" r:id="Rb73fe059d97341b4"/>
  </p:notesMasterIdLst>
  <p:sldIdLst>
    <p:sldId xmlns:r="http://schemas.openxmlformats.org/officeDocument/2006/relationships" id="256" r:id="R799c8083f4074303"/>
    <p:sldId xmlns:r="http://schemas.openxmlformats.org/officeDocument/2006/relationships" id="257" r:id="R709ae7f617b041db"/>
    <p:sldId xmlns:r="http://schemas.openxmlformats.org/officeDocument/2006/relationships" id="258" r:id="Rd07f62c06e4b4b04"/>
    <p:sldId xmlns:r="http://schemas.openxmlformats.org/officeDocument/2006/relationships" id="259" r:id="R6450470d784a4131"/>
    <p:sldId xmlns:r="http://schemas.openxmlformats.org/officeDocument/2006/relationships" id="260" r:id="Rf84c99b92c6c4e54"/>
    <p:sldId xmlns:r="http://schemas.openxmlformats.org/officeDocument/2006/relationships" id="261" r:id="Ra5cf4b408d534211"/>
    <p:sldId xmlns:r="http://schemas.openxmlformats.org/officeDocument/2006/relationships" id="262" r:id="Rbf26d35605d94048"/>
    <p:sldId xmlns:r="http://schemas.openxmlformats.org/officeDocument/2006/relationships" id="263" r:id="R9902191335024e60"/>
    <p:sldId xmlns:r="http://schemas.openxmlformats.org/officeDocument/2006/relationships" id="264" r:id="R87234a6abf9c4eb1"/>
    <p:sldId xmlns:r="http://schemas.openxmlformats.org/officeDocument/2006/relationships" id="265" r:id="Rf6de8d5ea0dd48ba"/>
    <p:sldId xmlns:r="http://schemas.openxmlformats.org/officeDocument/2006/relationships" id="266" r:id="R5eb0b8a68c074e4f"/>
    <p:sldId xmlns:r="http://schemas.openxmlformats.org/officeDocument/2006/relationships" id="267" r:id="Rf82a50d159e74276"/>
    <p:sldId xmlns:r="http://schemas.openxmlformats.org/officeDocument/2006/relationships" id="268" r:id="Ra2ffb2cd3a0c46b6"/>
    <p:sldId xmlns:r="http://schemas.openxmlformats.org/officeDocument/2006/relationships" id="269" r:id="R95193ccc871845c0"/>
    <p:sldId xmlns:r="http://schemas.openxmlformats.org/officeDocument/2006/relationships" id="270" r:id="Rdaaaa55321034f8e"/>
    <p:sldId xmlns:r="http://schemas.openxmlformats.org/officeDocument/2006/relationships" id="271" r:id="R0f3fee78b0a440b0"/>
    <p:sldId xmlns:r="http://schemas.openxmlformats.org/officeDocument/2006/relationships" id="272" r:id="Rf64213882df64f72"/>
    <p:sldId xmlns:r="http://schemas.openxmlformats.org/officeDocument/2006/relationships" id="273" r:id="R9e49598bb8f7483e"/>
    <p:sldId xmlns:r="http://schemas.openxmlformats.org/officeDocument/2006/relationships" id="274" r:id="Rc24d88b82ded469c"/>
    <p:sldId xmlns:r="http://schemas.openxmlformats.org/officeDocument/2006/relationships" id="275" r:id="R2bae1adf8c4949c0"/>
    <p:sldId xmlns:r="http://schemas.openxmlformats.org/officeDocument/2006/relationships" id="276" r:id="R0cacc1e38f4c4d22"/>
    <p:sldId xmlns:r="http://schemas.openxmlformats.org/officeDocument/2006/relationships" id="277" r:id="R4cbae889518b4c34"/>
    <p:sldId xmlns:r="http://schemas.openxmlformats.org/officeDocument/2006/relationships" id="278" r:id="R7a7ed404a1ce4ec1"/>
    <p:sldId xmlns:r="http://schemas.openxmlformats.org/officeDocument/2006/relationships" id="279" r:id="Rf225c9d7f4f2445b"/>
    <p:sldId xmlns:r="http://schemas.openxmlformats.org/officeDocument/2006/relationships" id="280" r:id="R2a0d99570fae4f85"/>
    <p:sldId xmlns:r="http://schemas.openxmlformats.org/officeDocument/2006/relationships" id="281" r:id="Rdd47d91126444ebb"/>
    <p:sldId xmlns:r="http://schemas.openxmlformats.org/officeDocument/2006/relationships" id="282" r:id="R77df6aa4fd8a4780"/>
    <p:sldId xmlns:r="http://schemas.openxmlformats.org/officeDocument/2006/relationships" id="283" r:id="Rd7ba6fd843694473"/>
    <p:sldId xmlns:r="http://schemas.openxmlformats.org/officeDocument/2006/relationships" id="284" r:id="R39dba2ba71d14450"/>
    <p:sldId xmlns:r="http://schemas.openxmlformats.org/officeDocument/2006/relationships" id="285" r:id="R463b10ae33d24f41"/>
    <p:sldId xmlns:r="http://schemas.openxmlformats.org/officeDocument/2006/relationships" id="286" r:id="Re28aa526414f4a12"/>
    <p:sldId xmlns:r="http://schemas.openxmlformats.org/officeDocument/2006/relationships" id="287" r:id="R70181458d4e042f2"/>
    <p:sldId xmlns:r="http://schemas.openxmlformats.org/officeDocument/2006/relationships" id="288" r:id="R728060282c6b4e78"/>
    <p:sldId xmlns:r="http://schemas.openxmlformats.org/officeDocument/2006/relationships" id="289" r:id="R8ca7b19e7591459a"/>
    <p:sldId xmlns:r="http://schemas.openxmlformats.org/officeDocument/2006/relationships" id="290" r:id="Rb37ffa34a9774c05"/>
    <p:sldId xmlns:r="http://schemas.openxmlformats.org/officeDocument/2006/relationships" id="291" r:id="R219cc52d175f4753"/>
    <p:sldId xmlns:r="http://schemas.openxmlformats.org/officeDocument/2006/relationships" id="292" r:id="R8e173385ac0b451b"/>
    <p:sldId xmlns:r="http://schemas.openxmlformats.org/officeDocument/2006/relationships" id="293" r:id="R232edc23a3794de2"/>
    <p:sldId xmlns:r="http://schemas.openxmlformats.org/officeDocument/2006/relationships" id="294" r:id="R7489c2f8d4004301"/>
    <p:sldId xmlns:r="http://schemas.openxmlformats.org/officeDocument/2006/relationships" id="295" r:id="Rb57d81de5ca94b0d"/>
    <p:sldId xmlns:r="http://schemas.openxmlformats.org/officeDocument/2006/relationships" id="296" r:id="R391370d3cfe94e3f"/>
    <p:sldId xmlns:r="http://schemas.openxmlformats.org/officeDocument/2006/relationships" id="297" r:id="Rd652beb80b854218"/>
    <p:sldId xmlns:r="http://schemas.openxmlformats.org/officeDocument/2006/relationships" id="298" r:id="Rd829146e623f4a9a"/>
    <p:sldId xmlns:r="http://schemas.openxmlformats.org/officeDocument/2006/relationships" id="299" r:id="R0125ff54d89f427d"/>
    <p:sldId xmlns:r="http://schemas.openxmlformats.org/officeDocument/2006/relationships" id="300" r:id="R267794bfdbf148d5"/>
    <p:sldId xmlns:r="http://schemas.openxmlformats.org/officeDocument/2006/relationships" id="301" r:id="Ra06b76eab458429e"/>
    <p:sldId xmlns:r="http://schemas.openxmlformats.org/officeDocument/2006/relationships" id="302" r:id="Rc8d1804d3ce14c25"/>
    <p:sldId xmlns:r="http://schemas.openxmlformats.org/officeDocument/2006/relationships" id="303" r:id="R817d9a15d1354f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855808034740bd" /><Relationship Type="http://schemas.openxmlformats.org/officeDocument/2006/relationships/slideMaster" Target="/ppt/slideMasters/slideMaster1.xml" Id="R3a4e423c274644e5" /><Relationship Type="http://schemas.openxmlformats.org/officeDocument/2006/relationships/notesMaster" Target="/ppt/notesMasters/notesMaster1.xml" Id="Rb73fe059d97341b4" /><Relationship Type="http://schemas.openxmlformats.org/officeDocument/2006/relationships/presProps" Target="/ppt/presProps.xml" Id="R64b298a70fe24f7e" /><Relationship Type="http://schemas.openxmlformats.org/officeDocument/2006/relationships/tableStyles" Target="/ppt/tableStyles.xml" Id="Ra074c88458e04416" /><Relationship Type="http://schemas.openxmlformats.org/officeDocument/2006/relationships/slide" Target="/ppt/slides/slide1.xml" Id="R799c8083f4074303" /><Relationship Type="http://schemas.openxmlformats.org/officeDocument/2006/relationships/slide" Target="/ppt/slides/slide2.xml" Id="R709ae7f617b041db" /><Relationship Type="http://schemas.openxmlformats.org/officeDocument/2006/relationships/slide" Target="/ppt/slides/slide3.xml" Id="Rd07f62c06e4b4b04" /><Relationship Type="http://schemas.openxmlformats.org/officeDocument/2006/relationships/slide" Target="/ppt/slides/slide4.xml" Id="R6450470d784a4131" /><Relationship Type="http://schemas.openxmlformats.org/officeDocument/2006/relationships/slide" Target="/ppt/slides/slide5.xml" Id="Rf84c99b92c6c4e54" /><Relationship Type="http://schemas.openxmlformats.org/officeDocument/2006/relationships/slide" Target="/ppt/slides/slide6.xml" Id="Ra5cf4b408d534211" /><Relationship Type="http://schemas.openxmlformats.org/officeDocument/2006/relationships/slide" Target="/ppt/slides/slide7.xml" Id="Rbf26d35605d94048" /><Relationship Type="http://schemas.openxmlformats.org/officeDocument/2006/relationships/slide" Target="/ppt/slides/slide8.xml" Id="R9902191335024e60" /><Relationship Type="http://schemas.openxmlformats.org/officeDocument/2006/relationships/slide" Target="/ppt/slides/slide9.xml" Id="R87234a6abf9c4eb1" /><Relationship Type="http://schemas.openxmlformats.org/officeDocument/2006/relationships/slide" Target="/ppt/slides/slide10.xml" Id="Rf6de8d5ea0dd48ba" /><Relationship Type="http://schemas.openxmlformats.org/officeDocument/2006/relationships/slide" Target="/ppt/slides/slide11.xml" Id="R5eb0b8a68c074e4f" /><Relationship Type="http://schemas.openxmlformats.org/officeDocument/2006/relationships/slide" Target="/ppt/slides/slide12.xml" Id="Rf82a50d159e74276" /><Relationship Type="http://schemas.openxmlformats.org/officeDocument/2006/relationships/slide" Target="/ppt/slides/slide13.xml" Id="Ra2ffb2cd3a0c46b6" /><Relationship Type="http://schemas.openxmlformats.org/officeDocument/2006/relationships/slide" Target="/ppt/slides/slide14.xml" Id="R95193ccc871845c0" /><Relationship Type="http://schemas.openxmlformats.org/officeDocument/2006/relationships/slide" Target="/ppt/slides/slide15.xml" Id="Rdaaaa55321034f8e" /><Relationship Type="http://schemas.openxmlformats.org/officeDocument/2006/relationships/slide" Target="/ppt/slides/slide16.xml" Id="R0f3fee78b0a440b0" /><Relationship Type="http://schemas.openxmlformats.org/officeDocument/2006/relationships/slide" Target="/ppt/slides/slide17.xml" Id="Rf64213882df64f72" /><Relationship Type="http://schemas.openxmlformats.org/officeDocument/2006/relationships/slide" Target="/ppt/slides/slide18.xml" Id="R9e49598bb8f7483e" /><Relationship Type="http://schemas.openxmlformats.org/officeDocument/2006/relationships/slide" Target="/ppt/slides/slide19.xml" Id="Rc24d88b82ded469c" /><Relationship Type="http://schemas.openxmlformats.org/officeDocument/2006/relationships/slide" Target="/ppt/slides/slide20.xml" Id="R2bae1adf8c4949c0" /><Relationship Type="http://schemas.openxmlformats.org/officeDocument/2006/relationships/slide" Target="/ppt/slides/slide21.xml" Id="R0cacc1e38f4c4d22" /><Relationship Type="http://schemas.openxmlformats.org/officeDocument/2006/relationships/slide" Target="/ppt/slides/slide22.xml" Id="R4cbae889518b4c34" /><Relationship Type="http://schemas.openxmlformats.org/officeDocument/2006/relationships/slide" Target="/ppt/slides/slide23.xml" Id="R7a7ed404a1ce4ec1" /><Relationship Type="http://schemas.openxmlformats.org/officeDocument/2006/relationships/slide" Target="/ppt/slides/slide24.xml" Id="Rf225c9d7f4f2445b" /><Relationship Type="http://schemas.openxmlformats.org/officeDocument/2006/relationships/slide" Target="/ppt/slides/slide25.xml" Id="R2a0d99570fae4f85" /><Relationship Type="http://schemas.openxmlformats.org/officeDocument/2006/relationships/slide" Target="/ppt/slides/slide26.xml" Id="Rdd47d91126444ebb" /><Relationship Type="http://schemas.openxmlformats.org/officeDocument/2006/relationships/slide" Target="/ppt/slides/slide27.xml" Id="R77df6aa4fd8a4780" /><Relationship Type="http://schemas.openxmlformats.org/officeDocument/2006/relationships/slide" Target="/ppt/slides/slide28.xml" Id="Rd7ba6fd843694473" /><Relationship Type="http://schemas.openxmlformats.org/officeDocument/2006/relationships/slide" Target="/ppt/slides/slide29.xml" Id="R39dba2ba71d14450" /><Relationship Type="http://schemas.openxmlformats.org/officeDocument/2006/relationships/slide" Target="/ppt/slides/slide30.xml" Id="R463b10ae33d24f41" /><Relationship Type="http://schemas.openxmlformats.org/officeDocument/2006/relationships/slide" Target="/ppt/slides/slide31.xml" Id="Re28aa526414f4a12" /><Relationship Type="http://schemas.openxmlformats.org/officeDocument/2006/relationships/slide" Target="/ppt/slides/slide32.xml" Id="R70181458d4e042f2" /><Relationship Type="http://schemas.openxmlformats.org/officeDocument/2006/relationships/slide" Target="/ppt/slides/slide33.xml" Id="R728060282c6b4e78" /><Relationship Type="http://schemas.openxmlformats.org/officeDocument/2006/relationships/slide" Target="/ppt/slides/slide34.xml" Id="R8ca7b19e7591459a" /><Relationship Type="http://schemas.openxmlformats.org/officeDocument/2006/relationships/slide" Target="/ppt/slides/slide35.xml" Id="Rb37ffa34a9774c05" /><Relationship Type="http://schemas.openxmlformats.org/officeDocument/2006/relationships/slide" Target="/ppt/slides/slide36.xml" Id="R219cc52d175f4753" /><Relationship Type="http://schemas.openxmlformats.org/officeDocument/2006/relationships/slide" Target="/ppt/slides/slide37.xml" Id="R8e173385ac0b451b" /><Relationship Type="http://schemas.openxmlformats.org/officeDocument/2006/relationships/slide" Target="/ppt/slides/slide38.xml" Id="R232edc23a3794de2" /><Relationship Type="http://schemas.openxmlformats.org/officeDocument/2006/relationships/slide" Target="/ppt/slides/slide39.xml" Id="R7489c2f8d4004301" /><Relationship Type="http://schemas.openxmlformats.org/officeDocument/2006/relationships/slide" Target="/ppt/slides/slide40.xml" Id="Rb57d81de5ca94b0d" /><Relationship Type="http://schemas.openxmlformats.org/officeDocument/2006/relationships/slide" Target="/ppt/slides/slide41.xml" Id="R391370d3cfe94e3f" /><Relationship Type="http://schemas.openxmlformats.org/officeDocument/2006/relationships/slide" Target="/ppt/slides/slide42.xml" Id="Rd652beb80b854218" /><Relationship Type="http://schemas.openxmlformats.org/officeDocument/2006/relationships/slide" Target="/ppt/slides/slide43.xml" Id="Rd829146e623f4a9a" /><Relationship Type="http://schemas.openxmlformats.org/officeDocument/2006/relationships/slide" Target="/ppt/slides/slide44.xml" Id="R0125ff54d89f427d" /><Relationship Type="http://schemas.openxmlformats.org/officeDocument/2006/relationships/slide" Target="/ppt/slides/slide45.xml" Id="R267794bfdbf148d5" /><Relationship Type="http://schemas.openxmlformats.org/officeDocument/2006/relationships/slide" Target="/ppt/slides/slide46.xml" Id="Ra06b76eab458429e" /><Relationship Type="http://schemas.openxmlformats.org/officeDocument/2006/relationships/slide" Target="/ppt/slides/slide47.xml" Id="Rc8d1804d3ce14c25" /><Relationship Type="http://schemas.openxmlformats.org/officeDocument/2006/relationships/slide" Target="/ppt/slides/slide48.xml" Id="R817d9a15d1354f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1a6634561c42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a852301ceb4d24" /><Relationship Type="http://schemas.openxmlformats.org/officeDocument/2006/relationships/notesMaster" Target="/ppt/notesMasters/notesMaster1.xml" Id="R929ff46beeee40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0e14919cc14c0e" /><Relationship Type="http://schemas.openxmlformats.org/officeDocument/2006/relationships/notesMaster" Target="/ppt/notesMasters/notesMaster1.xml" Id="R40e1a5fbf0c347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2ecdfd359d4580" /><Relationship Type="http://schemas.openxmlformats.org/officeDocument/2006/relationships/notesMaster" Target="/ppt/notesMasters/notesMaster1.xml" Id="Rd574fa4778d342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013494ae16c4edb" /><Relationship Type="http://schemas.openxmlformats.org/officeDocument/2006/relationships/notesMaster" Target="/ppt/notesMasters/notesMaster1.xml" Id="R8552be93dbf844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b43a8f11c34990" /><Relationship Type="http://schemas.openxmlformats.org/officeDocument/2006/relationships/notesMaster" Target="/ppt/notesMasters/notesMaster1.xml" Id="R7c222e51b2d048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8438ec35d4436d" /><Relationship Type="http://schemas.openxmlformats.org/officeDocument/2006/relationships/notesMaster" Target="/ppt/notesMasters/notesMaster1.xml" Id="R6302a74e07f142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4757cca7084ca7" /><Relationship Type="http://schemas.openxmlformats.org/officeDocument/2006/relationships/notesMaster" Target="/ppt/notesMasters/notesMaster1.xml" Id="Rc15711ec191f46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e3212090d345e8" /><Relationship Type="http://schemas.openxmlformats.org/officeDocument/2006/relationships/notesMaster" Target="/ppt/notesMasters/notesMaster1.xml" Id="R976e84f764e54b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02b501f62454246" /><Relationship Type="http://schemas.openxmlformats.org/officeDocument/2006/relationships/notesMaster" Target="/ppt/notesMasters/notesMaster1.xml" Id="Rcbd93b1a2e674d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a99330538d49b2" /><Relationship Type="http://schemas.openxmlformats.org/officeDocument/2006/relationships/notesMaster" Target="/ppt/notesMasters/notesMaster1.xml" Id="R429310feff9448b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28374ca666c4084" /><Relationship Type="http://schemas.openxmlformats.org/officeDocument/2006/relationships/notesMaster" Target="/ppt/notesMasters/notesMaster1.xml" Id="Rbb6cdc2ddb8147f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0c9db1b2d347b8" /><Relationship Type="http://schemas.openxmlformats.org/officeDocument/2006/relationships/notesMaster" Target="/ppt/notesMasters/notesMaster1.xml" Id="R9b077bc9df124c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fff42444c494d5f" /><Relationship Type="http://schemas.openxmlformats.org/officeDocument/2006/relationships/notesMaster" Target="/ppt/notesMasters/notesMaster1.xml" Id="Re45f83e8d60d45f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98517687e34bbe" /><Relationship Type="http://schemas.openxmlformats.org/officeDocument/2006/relationships/notesMaster" Target="/ppt/notesMasters/notesMaster1.xml" Id="Ra212c8b5b2a645b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810c54d3f964e5e" /><Relationship Type="http://schemas.openxmlformats.org/officeDocument/2006/relationships/notesMaster" Target="/ppt/notesMasters/notesMaster1.xml" Id="R94629dae0e15409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d0fd08b9342418f" /><Relationship Type="http://schemas.openxmlformats.org/officeDocument/2006/relationships/notesMaster" Target="/ppt/notesMasters/notesMaster1.xml" Id="Rd90ed859fb6840c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9b2a18b88844ae0" /><Relationship Type="http://schemas.openxmlformats.org/officeDocument/2006/relationships/notesMaster" Target="/ppt/notesMasters/notesMaster1.xml" Id="R16b2ecf43558437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7d6cae71da64ffe" /><Relationship Type="http://schemas.openxmlformats.org/officeDocument/2006/relationships/notesMaster" Target="/ppt/notesMasters/notesMaster1.xml" Id="R1b891203fe87450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0b2729a4a0f4c2e" /><Relationship Type="http://schemas.openxmlformats.org/officeDocument/2006/relationships/notesMaster" Target="/ppt/notesMasters/notesMaster1.xml" Id="Rc0662cbe6a4f44d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159297e0365451e" /><Relationship Type="http://schemas.openxmlformats.org/officeDocument/2006/relationships/notesMaster" Target="/ppt/notesMasters/notesMaster1.xml" Id="R7318ec73e3f648b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9e6759cc1ab49bd" /><Relationship Type="http://schemas.openxmlformats.org/officeDocument/2006/relationships/notesMaster" Target="/ppt/notesMasters/notesMaster1.xml" Id="Rd745f077d7bb413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902aa96bc8b4ef3" /><Relationship Type="http://schemas.openxmlformats.org/officeDocument/2006/relationships/notesMaster" Target="/ppt/notesMasters/notesMaster1.xml" Id="Rea92921f63bb482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f83f401e700425c" /><Relationship Type="http://schemas.openxmlformats.org/officeDocument/2006/relationships/notesMaster" Target="/ppt/notesMasters/notesMaster1.xml" Id="Rc2c93e0ca7f6405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1de0ffd457d4f22" /><Relationship Type="http://schemas.openxmlformats.org/officeDocument/2006/relationships/notesMaster" Target="/ppt/notesMasters/notesMaster1.xml" Id="R935f00e51def4f8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5f001a5e0aa49ae" /><Relationship Type="http://schemas.openxmlformats.org/officeDocument/2006/relationships/notesMaster" Target="/ppt/notesMasters/notesMaster1.xml" Id="R8c42593a93204b4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5f6a5ccc6d24860" /><Relationship Type="http://schemas.openxmlformats.org/officeDocument/2006/relationships/notesMaster" Target="/ppt/notesMasters/notesMaster1.xml" Id="R505a89112da94f3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9188c99e1d4429e" /><Relationship Type="http://schemas.openxmlformats.org/officeDocument/2006/relationships/notesMaster" Target="/ppt/notesMasters/notesMaster1.xml" Id="R9766a3404307430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eef979233dc406e" /><Relationship Type="http://schemas.openxmlformats.org/officeDocument/2006/relationships/notesMaster" Target="/ppt/notesMasters/notesMaster1.xml" Id="R9bee2450d4894ac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008dc34921cd4191" /><Relationship Type="http://schemas.openxmlformats.org/officeDocument/2006/relationships/notesMaster" Target="/ppt/notesMasters/notesMaster1.xml" Id="R1f8d447e77fc437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0d8947b9f5a42de" /><Relationship Type="http://schemas.openxmlformats.org/officeDocument/2006/relationships/notesMaster" Target="/ppt/notesMasters/notesMaster1.xml" Id="R74415501449a449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1591193ad3ed40a3" /><Relationship Type="http://schemas.openxmlformats.org/officeDocument/2006/relationships/notesMaster" Target="/ppt/notesMasters/notesMaster1.xml" Id="Ref942f19582345d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1e17cc2b6374d7f" /><Relationship Type="http://schemas.openxmlformats.org/officeDocument/2006/relationships/notesMaster" Target="/ppt/notesMasters/notesMaster1.xml" Id="R0808c909f2a448c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23d3b19e4a845bc" /><Relationship Type="http://schemas.openxmlformats.org/officeDocument/2006/relationships/notesMaster" Target="/ppt/notesMasters/notesMaster1.xml" Id="R991ec89d4c414a6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d09bd2442ee4905" /><Relationship Type="http://schemas.openxmlformats.org/officeDocument/2006/relationships/notesMaster" Target="/ppt/notesMasters/notesMaster1.xml" Id="R64cceda3005e4df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f579986e02df4a17" /><Relationship Type="http://schemas.openxmlformats.org/officeDocument/2006/relationships/notesMaster" Target="/ppt/notesMasters/notesMaster1.xml" Id="R1eaf5eb635f14a83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fc934b2bfb344f0" /><Relationship Type="http://schemas.openxmlformats.org/officeDocument/2006/relationships/notesMaster" Target="/ppt/notesMasters/notesMaster1.xml" Id="R79c9724b0a46404a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d345ad0367f4cb1" /><Relationship Type="http://schemas.openxmlformats.org/officeDocument/2006/relationships/notesMaster" Target="/ppt/notesMasters/notesMaster1.xml" Id="Re571706488f647f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b58aec8550e443a" /><Relationship Type="http://schemas.openxmlformats.org/officeDocument/2006/relationships/notesMaster" Target="/ppt/notesMasters/notesMaster1.xml" Id="Rf797e1e26e904a1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4ac9bfdafc64713" /><Relationship Type="http://schemas.openxmlformats.org/officeDocument/2006/relationships/notesMaster" Target="/ppt/notesMasters/notesMaster1.xml" Id="R6a77336d45fb406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e3e2d895e1944688" /><Relationship Type="http://schemas.openxmlformats.org/officeDocument/2006/relationships/notesMaster" Target="/ppt/notesMasters/notesMaster1.xml" Id="Rc3f0b403311b4a13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65e0c24b0f248c8" /><Relationship Type="http://schemas.openxmlformats.org/officeDocument/2006/relationships/notesMaster" Target="/ppt/notesMasters/notesMaster1.xml" Id="Ra331aabfed774b58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9c12f9ff0cc4e39" /><Relationship Type="http://schemas.openxmlformats.org/officeDocument/2006/relationships/notesMaster" Target="/ppt/notesMasters/notesMaster1.xml" Id="R2c2a6b3e00c04e35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99aa8a22e31a4bcd" /><Relationship Type="http://schemas.openxmlformats.org/officeDocument/2006/relationships/notesMaster" Target="/ppt/notesMasters/notesMaster1.xml" Id="R2717338307b14a2b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379258bde93e47a9" /><Relationship Type="http://schemas.openxmlformats.org/officeDocument/2006/relationships/notesMaster" Target="/ppt/notesMasters/notesMaster1.xml" Id="R519dca97e3a74b83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eb323fe4a3354f0b" /><Relationship Type="http://schemas.openxmlformats.org/officeDocument/2006/relationships/notesMaster" Target="/ppt/notesMasters/notesMaster1.xml" Id="Rff41da150ee14109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fc78bcd9100a4ff2" /><Relationship Type="http://schemas.openxmlformats.org/officeDocument/2006/relationships/notesMaster" Target="/ppt/notesMasters/notesMaster1.xml" Id="R45144f257ee44044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d798d02280c4c72" /><Relationship Type="http://schemas.openxmlformats.org/officeDocument/2006/relationships/notesMaster" Target="/ppt/notesMasters/notesMaster1.xml" Id="R692139894e2c460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7545c597ce094bb4" /><Relationship Type="http://schemas.openxmlformats.org/officeDocument/2006/relationships/notesMaster" Target="/ppt/notesMasters/notesMaster1.xml" Id="R458c1493b6da46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Measured results: run_results/amex_default_tutorial/results.json.</a:t>
            </a:r>
          </a:p>
          <a:p xmlns:a="http://schemas.openxmlformats.org/drawingml/2006/main">
            <a:r>
              <a:t>{"RandomForest": {"ROC_AUC": 0.9627058928845464, "Accuracy": 0.9084967320261438, "Precision": 0.8287037037037037, "Recall": 0.7920353982300885, "F1": 0.8099547511312217, "LogLoss": 0.23927156733268878}, "Stacking": {"ROC_AUC": 0.9625620236329223, "Accuracy": 0.906318082788671, "Precision": 0.8211009174311926, "Recall": 0.7920353982300885, "F1": 0.8063063063063063, "LogLoss": 0.22549276705742724}, "CatBoost": {"ROC_AUC": 0.9622934676965574, "Accuracy": 0.9095860566448801, "Precision": 0.820627802690583, "Recall": 0.8097345132743363, "F1": 0.8151447661469933, "LogLoss": 0.2160584743020264}, "RandomForest (tuned)": {"ROC_AUC": 0.9622934676965573, "Accuracy": 0.9095860566448801, "Precision": 0.8294930875576036, "Recall": 0.7964601769911505, "F1": 0.8126410835214447, "LogLoss": 0.24061838621887505}, "LogReg (L2)": {"ROC_AUC": 0.9608164100465497, "Accuracy": 0.9052287581699346, "Precision": 0.8357487922705314, "Recall": 0.7654867256637168, "F1": 0.7990762124711316, "LogLoss": 0.22532819304537977}, "XGBoost (tuned)": {"ROC_AUC": 0.9590068545705662, "Accuracy": 0.9019607843137255, "Precision": 0.8119266055045872, "Recall": 0.7831858407079646, "F1": 0.7972972972972973, "LogLoss": 0.22726324200630188}, "CatBoost (tuned)": {"ROC_AUC": 0.9586807509335518, "Accuracy": 0.8965141612200436, "Precision": 0.8046511627906977, "Recall": 0.7654867256637168, "F1": 0.7845804988662132, "LogLoss": 0.22594194255062694}, "LightGBM": {"ROC_AUC": 0.9581564274387436, "Accuracy": 0.8965141612200436, "Precision": 0.8075117370892019, "Recall": 0.7610619469026548, "F1": 0.7835990888382688, "LogLoss": 0.3360604026079515}, "LightGBM (tuned)": {"ROC_AUC": 0.9581564274387436, "Accuracy": 0.8965141612200436, "Precision": 0.8075117370892019, "Recall": 0.7610619469026548, "F1": 0.7835990888382688, "LogLoss": 0.3360604026079515}, "XGBoost": {"ROC_AUC": 0.9581180623049772, "Accuracy": 0.8986928104575164, "Precision": 0.812206572769953, "Recall": 0.7654867256637168, "F1": 0.7881548974943052, "LogLoss": 0.24457305669784546}, "LogReg (ElasticNet)": {"ROC_AUC": 0.9569351373471788, "Accuracy": 0.9030501089324618, "Precision": 0.8407960199004975, "Recall": 0.7477876106194691, "F1": 0.7915690866510539, "LogLoss": 0.24496741616519727}, "LogReg (L1)": {"ROC_AUC": 0.9537316486776818, "Accuracy": 0.9019607843137255, "Precision": 0.8333333333333334, "Recall": 0.7522123893805309, "F1": 0.7906976744186046, "LogLoss": 0.2326247748188888}, "MLP": {"ROC_AUC": 0.9512954626835132, "Accuracy": 0.9019607843137255, "Precision": 0.8238095238095238, "Recall": 0.7654867256637168, "F1": 0.7935779816513762, "LogLoss": 0.24569114276660797}, "MLP (tuned)": {"ROC_AUC": 0.9512507033607858, "Accuracy": 0.9030501089324618, "Precision": 0.8246445497630331, "Recall": 0.7699115044247787, "F1": 0.7963386727688787, "LogLoss": 0.2456155000259258}, "KNN": {"ROC_AUC": 0.9428231623100924, "Accuracy": 0.8758169934640523, "Precision": 0.8636363636363636, "Recall": 0.588495575221239, "F1": 0.7, "LogLoss": 0.4032710976452569}, "KNN (tuned)": {"ROC_AUC": 0.9428231623100924, "Accuracy": 0.8758169934640523, "Precision": 0.8636363636363636, "Recall": 0.588495575221239, "F1": 0.7, "LogLoss": 0.4032710976452569}, "LogisticRegression": {"ROC_AUC": 0.9420558596347639, "Accuracy": 0.8954248366013072, "Precision": 0.8155339805825242, "Recall": 0.7433628318584071, "F1": 0.7777777777777778, "LogLoss": 0.27210948931200873}}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Figure: figures/notebook/amex_default/cell_008_figure_1.png</a:t>
            </a:r>
          </a:p>
          <a:p xmlns:a="http://schemas.openxmlformats.org/drawingml/2006/main">
            <a:r>
              <a:t>Measured results: run_results/amex_default_tutorial/results.json.</a:t>
            </a:r>
          </a:p>
          <a:p xmlns:a="http://schemas.openxmlformats.org/drawingml/2006/main">
            <a:r>
              <a:t>Notebook cell ID: fda07118.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Base models: fitted reference configurations, each cloned and refitted by StackingRegressor/Classifier. cv=2. Meta-model: LogisticRegression(C=1.0, max_iter=2000).</a:t>
            </a:r>
          </a:p>
          <a:p xmlns:a="http://schemas.openxmlformats.org/drawingml/2006/main">
            <a:r>
              <a:t>https://scikit-learn.org/stable/modules/ensemble.html#stacking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Figure: figures/amex_default/comparison.png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paired stratified row bootstrap. 1,000 paired resamples. Fitted models remain fixed.</a:t>
            </a:r>
          </a:p>
          <a:p xmlns:a="http://schemas.openxmlformats.org/drawingml/2006/main">
            <a:r>
              <a:t>[{"comparison": "RandomForest versus Stacking", "other": "Stacking", "advantage": 0.0001438692516241291, "ci_low": -0.0010201129213770117, "ci_high": 0.0012596552253311161}, {"comparison": "RandomForest versus Reference logistic", "other": "Reference logistic", "advantage": 0.02065003324978254, "ci_low": 0.007870127628011555, "ci_high": 0.0378324178986136}]</a:t>
            </a:r>
          </a:p>
          <a:p xmlns:a="http://schemas.openxmlformats.org/drawingml/2006/main">
            <a:r>
              <a:t>Figure: figures/amex_default/ranking_stability.png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Figure: figures/notebook/amex_default/cell_034_figure_1.png</a:t>
            </a:r>
          </a:p>
          <a:p xmlns:a="http://schemas.openxmlformats.org/drawingml/2006/main">
            <a:r>
              <a:t>Measured results: run_results/amex_default_tutorial/results.json.</a:t>
            </a:r>
          </a:p>
          <a:p xmlns:a="http://schemas.openxmlformats.org/drawingml/2006/main">
            <a:r>
              <a:t>Notebook cell ID: 38815278.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Figure: figures/amex_default/pr_calibration.png</a:t>
            </a:r>
          </a:p>
          <a:p xmlns:a="http://schemas.openxmlformats.org/drawingml/2006/main">
            <a:r>
              <a:t>Measured results: run_results/amex_default_tutorial/results.json.</a:t>
            </a:r>
          </a:p>
          <a:p xmlns:a="http://schemas.openxmlformats.org/drawingml/2006/main">
            <a:r>
              <a:t>Diagnostics use Random Forest predictions.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Figure: figures/amex_default/review_capacity.png</a:t>
            </a:r>
          </a:p>
          <a:p xmlns:a="http://schemas.openxmlformats.org/drawingml/2006/main">
            <a:r>
              <a:t>Measured results: run_results/amex_default_tutorial/results.json.</a:t>
            </a:r>
          </a:p>
          <a:p xmlns:a="http://schemas.openxmlformats.org/drawingml/2006/main">
            <a:r>
              <a:t>Diagnostics use Random Forest predictions.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Measured results: run_results/amex_default_tutorial/results.json.</a:t>
            </a:r>
          </a:p>
          <a:p xmlns:a="http://schemas.openxmlformats.org/drawingml/2006/main">
            <a:r>
              <a:t>{"RandomForest": {"ROC_AUC": 0.9627058928845464, "Accuracy": 0.9084967320261438, "Precision": 0.8287037037037037, "Recall": 0.7920353982300885, "F1": 0.8099547511312217, "LogLoss": 0.23927156733268878}, "Stacking": {"ROC_AUC": 0.9625620236329223, "Accuracy": 0.906318082788671, "Precision": 0.8211009174311926, "Recall": 0.7920353982300885, "F1": 0.8063063063063063, "LogLoss": 0.22549276705742724}, "CatBoost": {"ROC_AUC": 0.9622934676965574, "Accuracy": 0.9095860566448801, "Precision": 0.820627802690583, "Recall": 0.8097345132743363, "F1": 0.8151447661469933, "LogLoss": 0.2160584743020264}, "RandomForest (tuned)": {"ROC_AUC": 0.9622934676965573, "Accuracy": 0.9095860566448801, "Precision": 0.8294930875576036, "Recall": 0.7964601769911505, "F1": 0.8126410835214447, "LogLoss": 0.24061838621887505}, "LogReg (L2)": {"ROC_AUC": 0.9608164100465497, "Accuracy": 0.9052287581699346, "Precision": 0.8357487922705314, "Recall": 0.7654867256637168, "F1": 0.7990762124711316, "LogLoss": 0.22532819304537977}, "XGBoost (tuned)": {"ROC_AUC": 0.9590068545705662, "Accuracy": 0.9019607843137255, "Precision": 0.8119266055045872, "Recall": 0.7831858407079646, "F1": 0.7972972972972973, "LogLoss": 0.22726324200630188}, "CatBoost (tuned)": {"ROC_AUC": 0.9586807509335518, "Accuracy": 0.8965141612200436, "Precision": 0.8046511627906977, "Recall": 0.7654867256637168, "F1": 0.7845804988662132, "LogLoss": 0.22594194255062694}, "LightGBM": {"ROC_AUC": 0.9581564274387436, "Accuracy": 0.8965141612200436, "Precision": 0.8075117370892019, "Recall": 0.7610619469026548, "F1": 0.7835990888382688, "LogLoss": 0.3360604026079515}, "LightGBM (tuned)": {"ROC_AUC": 0.9581564274387436, "Accuracy": 0.8965141612200436, "Precision": 0.8075117370892019, "Recall": 0.7610619469026548, "F1": 0.7835990888382688, "LogLoss": 0.3360604026079515}, "XGBoost": {"ROC_AUC": 0.9581180623049772, "Accuracy": 0.8986928104575164, "Precision": 0.812206572769953, "Recall": 0.7654867256637168, "F1": 0.7881548974943052, "LogLoss": 0.24457305669784546}, "LogReg (ElasticNet)": {"ROC_AUC": 0.9569351373471788, "Accuracy": 0.9030501089324618, "Precision": 0.8407960199004975, "Recall": 0.7477876106194691, "F1": 0.7915690866510539, "LogLoss": 0.24496741616519727}, "LogReg (L1)": {"ROC_AUC": 0.9537316486776818, "Accuracy": 0.9019607843137255, "Precision": 0.8333333333333334, "Recall": 0.7522123893805309, "F1": 0.7906976744186046, "LogLoss": 0.2326247748188888}, "MLP": {"ROC_AUC": 0.9512954626835132, "Accuracy": 0.9019607843137255, "Precision": 0.8238095238095238, "Recall": 0.7654867256637168, "F1": 0.7935779816513762, "LogLoss": 0.24569114276660797}, "MLP (tuned)": {"ROC_AUC": 0.9512507033607858, "Accuracy": 0.9030501089324618, "Precision": 0.8246445497630331, "Recall": 0.7699115044247787, "F1": 0.7963386727688787, "LogLoss": 0.2456155000259258}, "KNN": {"ROC_AUC": 0.9428231623100924, "Accuracy": 0.8758169934640523, "Precision": 0.8636363636363636, "Recall": 0.588495575221239, "F1": 0.7, "LogLoss": 0.4032710976452569}, "KNN (tuned)": {"ROC_AUC": 0.9428231623100924, "Accuracy": 0.8758169934640523, "Precision": 0.8636363636363636, "Recall": 0.588495575221239, "F1": 0.7, "LogLoss": 0.4032710976452569}, "LogisticRegression": {"ROC_AUC": 0.9420558596347639, "Accuracy": 0.8954248366013072, "Precision": 0.8155339805825242, "Recall": 0.7433628318584071, "F1": 0.7777777777777778, "LogLoss": 0.27210948931200873}}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Measured results: run_results/amex_default_tutorial/results.json.</a:t>
            </a:r>
          </a:p>
          <a:p xmlns:a="http://schemas.openxmlformats.org/drawingml/2006/main">
            <a:r>
              <a:t>{"RandomForest": {"ROC_AUC": 0.9627058928845464, "Accuracy": 0.9084967320261438, "Precision": 0.8287037037037037, "Recall": 0.7920353982300885, "F1": 0.8099547511312217, "LogLoss": 0.23927156733268878}, "Stacking": {"ROC_AUC": 0.9625620236329223, "Accuracy": 0.906318082788671, "Precision": 0.8211009174311926, "Recall": 0.7920353982300885, "F1": 0.8063063063063063, "LogLoss": 0.22549276705742724}, "CatBoost": {"ROC_AUC": 0.9622934676965574, "Accuracy": 0.9095860566448801, "Precision": 0.820627802690583, "Recall": 0.8097345132743363, "F1": 0.8151447661469933, "LogLoss": 0.2160584743020264}, "RandomForest (tuned)": {"ROC_AUC": 0.9622934676965573, "Accuracy": 0.9095860566448801, "Precision": 0.8294930875576036, "Recall": 0.7964601769911505, "F1": 0.8126410835214447, "LogLoss": 0.24061838621887505}, "LogReg (L2)": {"ROC_AUC": 0.9608164100465497, "Accuracy": 0.9052287581699346, "Precision": 0.8357487922705314, "Recall": 0.7654867256637168, "F1": 0.7990762124711316, "LogLoss": 0.22532819304537977}, "XGBoost (tuned)": {"ROC_AUC": 0.9590068545705662, "Accuracy": 0.9019607843137255, "Precision": 0.8119266055045872, "Recall": 0.7831858407079646, "F1": 0.7972972972972973, "LogLoss": 0.22726324200630188}, "CatBoost (tuned)": {"ROC_AUC": 0.9586807509335518, "Accuracy": 0.8965141612200436, "Precision": 0.8046511627906977, "Recall": 0.7654867256637168, "F1": 0.7845804988662132, "LogLoss": 0.22594194255062694}, "LightGBM": {"ROC_AUC": 0.9581564274387436, "Accuracy": 0.8965141612200436, "Precision": 0.8075117370892019, "Recall": 0.7610619469026548, "F1": 0.7835990888382688, "LogLoss": 0.3360604026079515}, "LightGBM (tuned)": {"ROC_AUC": 0.9581564274387436, "Accuracy": 0.8965141612200436, "Precision": 0.8075117370892019, "Recall": 0.7610619469026548, "F1": 0.7835990888382688, "LogLoss": 0.3360604026079515}, "XGBoost": {"ROC_AUC": 0.9581180623049772, "Accuracy": 0.8986928104575164, "Precision": 0.812206572769953, "Recall": 0.7654867256637168, "F1": 0.7881548974943052, "LogLoss": 0.24457305669784546}, "LogReg (ElasticNet)": {"ROC_AUC": 0.9569351373471788, "Accuracy": 0.9030501089324618, "Precision": 0.8407960199004975, "Recall": 0.7477876106194691, "F1": 0.7915690866510539, "LogLoss": 0.24496741616519727}, "LogReg (L1)": {"ROC_AUC": 0.9537316486776818, "Accuracy": 0.9019607843137255, "Precision": 0.8333333333333334, "Recall": 0.7522123893805309, "F1": 0.7906976744186046, "LogLoss": 0.2326247748188888}, "MLP": {"ROC_AUC": 0.9512954626835132, "Accuracy": 0.9019607843137255, "Precision": 0.8238095238095238, "Recall": 0.7654867256637168, "F1": 0.7935779816513762, "LogLoss": 0.24569114276660797}, "MLP (tuned)": {"ROC_AUC": 0.9512507033607858, "Accuracy": 0.9030501089324618, "Precision": 0.8246445497630331, "Recall": 0.7699115044247787, "F1": 0.7963386727688787, "LogLoss": 0.2456155000259258}, "KNN": {"ROC_AUC": 0.9428231623100924, "Accuracy": 0.8758169934640523, "Precision": 0.8636363636363636, "Recall": 0.588495575221239, "F1": 0.7, "LogLoss": 0.4032710976452569}, "KNN (tuned)": {"ROC_AUC": 0.9428231623100924, "Accuracy": 0.8758169934640523, "Precision": 0.8636363636363636, "Recall": 0.588495575221239, "F1": 0.7, "LogLoss": 0.4032710976452569}, "LogisticRegression": {"ROC_AUC": 0.9420558596347639, "Accuracy": 0.8954248366013072, "Precision": 0.8155339805825242, "Recall": 0.7433628318584071, "F1": 0.7777777777777778, "LogLoss": 0.27210948931200873}}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Measured results: run_results/amex_default_tutorial/results.json.</a:t>
            </a:r>
          </a:p>
          <a:p xmlns:a="http://schemas.openxmlformats.org/drawingml/2006/main">
            <a:r>
              <a:t>{"RandomForest": {"ROC_AUC": 0.9627058928845464, "Accuracy": 0.9084967320261438, "Precision": 0.8287037037037037, "Recall": 0.7920353982300885, "F1": 0.8099547511312217, "LogLoss": 0.23927156733268878}, "Stacking": {"ROC_AUC": 0.9625620236329223, "Accuracy": 0.906318082788671, "Precision": 0.8211009174311926, "Recall": 0.7920353982300885, "F1": 0.8063063063063063, "LogLoss": 0.22549276705742724}, "CatBoost": {"ROC_AUC": 0.9622934676965574, "Accuracy": 0.9095860566448801, "Precision": 0.820627802690583, "Recall": 0.8097345132743363, "F1": 0.8151447661469933, "LogLoss": 0.2160584743020264}, "RandomForest (tuned)": {"ROC_AUC": 0.9622934676965573, "Accuracy": 0.9095860566448801, "Precision": 0.8294930875576036, "Recall": 0.7964601769911505, "F1": 0.8126410835214447, "LogLoss": 0.24061838621887505}, "LogReg (L2)": {"ROC_AUC": 0.9608164100465497, "Accuracy": 0.9052287581699346, "Precision": 0.8357487922705314, "Recall": 0.7654867256637168, "F1": 0.7990762124711316, "LogLoss": 0.22532819304537977}, "XGBoost (tuned)": {"ROC_AUC": 0.9590068545705662, "Accuracy": 0.9019607843137255, "Precision": 0.8119266055045872, "Recall": 0.7831858407079646, "F1": 0.7972972972972973, "LogLoss": 0.22726324200630188}, "CatBoost (tuned)": {"ROC_AUC": 0.9586807509335518, "Accuracy": 0.8965141612200436, "Precision": 0.8046511627906977, "Recall": 0.7654867256637168, "F1": 0.7845804988662132, "LogLoss": 0.22594194255062694}, "LightGBM": {"ROC_AUC": 0.9581564274387436, "Accuracy": 0.8965141612200436, "Precision": 0.8075117370892019, "Recall": 0.7610619469026548, "F1": 0.7835990888382688, "LogLoss": 0.3360604026079515}, "LightGBM (tuned)": {"ROC_AUC": 0.9581564274387436, "Accuracy": 0.8965141612200436, "Precision": 0.8075117370892019, "Recall": 0.7610619469026548, "F1": 0.7835990888382688, "LogLoss": 0.3360604026079515}, "XGBoost": {"ROC_AUC": 0.9581180623049772, "Accuracy": 0.8986928104575164, "Precision": 0.812206572769953, "Recall": 0.7654867256637168, "F1": 0.7881548974943052, "LogLoss": 0.24457305669784546}, "LogReg (ElasticNet)": {"ROC_AUC": 0.9569351373471788, "Accuracy": 0.9030501089324618, "Precision": 0.8407960199004975, "Recall": 0.7477876106194691, "F1": 0.7915690866510539, "LogLoss": 0.24496741616519727}, "LogReg (L1)": {"ROC_AUC": 0.9537316486776818, "Accuracy": 0.9019607843137255, "Precision": 0.8333333333333334, "Recall": 0.7522123893805309, "F1": 0.7906976744186046, "LogLoss": 0.2326247748188888}, "MLP": {"ROC_AUC": 0.9512954626835132, "Accuracy": 0.9019607843137255, "Precision": 0.8238095238095238, "Recall": 0.7654867256637168, "F1": 0.7935779816513762, "LogLoss": 0.24569114276660797}, "MLP (tuned)": {"ROC_AUC": 0.9512507033607858, "Accuracy": 0.9030501089324618, "Precision": 0.8246445497630331, "Recall": 0.7699115044247787, "F1": 0.7963386727688787, "LogLoss": 0.2456155000259258}, "KNN": {"ROC_AUC": 0.9428231623100924, "Accuracy": 0.8758169934640523, "Precision": 0.8636363636363636, "Recall": 0.588495575221239, "F1": 0.7, "LogLoss": 0.4032710976452569}, "KNN (tuned)": {"ROC_AUC": 0.9428231623100924, "Accuracy": 0.8758169934640523, "Precision": 0.8636363636363636, "Recall": 0.588495575221239, "F1": 0.7, "LogLoss": 0.4032710976452569}, "LogisticRegression": {"ROC_AUC": 0.9420558596347639, "Accuracy": 0.8954248366013072, "Precision": 0.8155339805825242, "Recall": 0.7433628318584071, "F1": 0.7777777777777778, "LogLoss": 0.27210948931200873}}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Figure: figures/notebook/amex_default/cell_015_figure_1.png</a:t>
            </a:r>
          </a:p>
          <a:p xmlns:a="http://schemas.openxmlformats.org/drawingml/2006/main">
            <a:r>
              <a:t>Measured results: run_results/amex_default_tutorial/results.json.</a:t>
            </a:r>
          </a:p>
          <a:p xmlns:a="http://schemas.openxmlformats.org/drawingml/2006/main">
            <a:r>
              <a:t>Notebook cell ID: 4e85a845.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Figure: figures/notebook/amex_default/cell_028_figure_1.png</a:t>
            </a:r>
          </a:p>
          <a:p xmlns:a="http://schemas.openxmlformats.org/drawingml/2006/main">
            <a:r>
              <a:t>Measured results: run_results/amex_default_tutorial/results.json.</a:t>
            </a:r>
          </a:p>
          <a:p xmlns:a="http://schemas.openxmlformats.org/drawingml/2006/main">
            <a:r>
              <a:t>Notebook cell ID: e16dac82.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Figure: figures/notebook/amex_default/cell_040_figure_1.png</a:t>
            </a:r>
          </a:p>
          <a:p xmlns:a="http://schemas.openxmlformats.org/drawingml/2006/main">
            <a:r>
              <a:t>Measured results: run_results/amex_default_tutorial/results.json.</a:t>
            </a:r>
          </a:p>
          <a:p xmlns:a="http://schemas.openxmlformats.org/drawingml/2006/main">
            <a:r>
              <a:t>Notebook cell ID: bc5cc0f9.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Figure: figures/notebook/amex_default/cell_046_figure_1.png</a:t>
            </a:r>
          </a:p>
          <a:p xmlns:a="http://schemas.openxmlformats.org/drawingml/2006/main">
            <a:r>
              <a:t>Measured results: run_results/amex_default_tutorial/results.json.</a:t>
            </a:r>
          </a:p>
          <a:p xmlns:a="http://schemas.openxmlformats.org/drawingml/2006/main">
            <a:r>
              <a:t>Notebook cell ID: 1b2076d8.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Figure: figures/notebook/amex_default/cell_052_figure_1.png</a:t>
            </a:r>
          </a:p>
          <a:p xmlns:a="http://schemas.openxmlformats.org/drawingml/2006/main">
            <a:r>
              <a:t>Measured results: run_results/amex_default_tutorial/results.json.</a:t>
            </a:r>
          </a:p>
          <a:p xmlns:a="http://schemas.openxmlformats.org/drawingml/2006/main">
            <a:r>
              <a:t>Notebook cell ID: e5eb8ec3.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Figure: figures/notebook/amex_default/cell_059_figure_1.png</a:t>
            </a:r>
          </a:p>
          <a:p xmlns:a="http://schemas.openxmlformats.org/drawingml/2006/main">
            <a:r>
              <a:t>Measured results: run_results/amex_default_tutorial/results.json.</a:t>
            </a:r>
          </a:p>
          <a:p xmlns:a="http://schemas.openxmlformats.org/drawingml/2006/main">
            <a:r>
              <a:t>Notebook cell ID: 3fc02d7d.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https://scikit-learn.org/stable/modules/neighbors.html</a:t>
            </a:r>
          </a:p>
          <a:p xmlns:a="http://schemas.openxmlformats.org/drawingml/2006/main">
            <a:r>
              <a:t>https://scikit-learn.org/stable/modules/neural_networks_supervised.html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https://scikit-learn.org/stable/modules/ensemble.html</a:t>
            </a:r>
          </a:p>
          <a:p xmlns:a="http://schemas.openxmlformats.org/drawingml/2006/main">
            <a:r>
              <a:t>https://xgboost.readthedocs.io/en/stable/tutorials/model.html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Figure: figures/notebook/amex_default/cell_058_figure_1.png</a:t>
            </a:r>
          </a:p>
          <a:p xmlns:a="http://schemas.openxmlformats.org/drawingml/2006/main">
            <a:r>
              <a:t>Measured results: run_results/amex_default_tutorial/results.json.</a:t>
            </a:r>
          </a:p>
          <a:p xmlns:a="http://schemas.openxmlformats.org/drawingml/2006/main">
            <a:r>
              <a:t>Notebook cell ID: d4eb0a33.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Measured results: run_results/amex_default_tutorial/results.json.</a:t>
            </a:r>
          </a:p>
          <a:p xmlns:a="http://schemas.openxmlformats.org/drawingml/2006/main">
            <a:r>
              <a:t>{"RandomForest": {"ROC_AUC": 0.9627058928845464, "Accuracy": 0.9084967320261438, "Precision": 0.8287037037037037, "Recall": 0.7920353982300885, "F1": 0.8099547511312217, "LogLoss": 0.23927156733268878}, "Stacking": {"ROC_AUC": 0.9625620236329223, "Accuracy": 0.906318082788671, "Precision": 0.8211009174311926, "Recall": 0.7920353982300885, "F1": 0.8063063063063063, "LogLoss": 0.22549276705742724}, "CatBoost": {"ROC_AUC": 0.9622934676965574, "Accuracy": 0.9095860566448801, "Precision": 0.820627802690583, "Recall": 0.8097345132743363, "F1": 0.8151447661469933, "LogLoss": 0.2160584743020264}, "RandomForest (tuned)": {"ROC_AUC": 0.9622934676965573, "Accuracy": 0.9095860566448801, "Precision": 0.8294930875576036, "Recall": 0.7964601769911505, "F1": 0.8126410835214447, "LogLoss": 0.24061838621887505}, "LogReg (L2)": {"ROC_AUC": 0.9608164100465497, "Accuracy": 0.9052287581699346, "Precision": 0.8357487922705314, "Recall": 0.7654867256637168, "F1": 0.7990762124711316, "LogLoss": 0.22532819304537977}, "XGBoost (tuned)": {"ROC_AUC": 0.9590068545705662, "Accuracy": 0.9019607843137255, "Precision": 0.8119266055045872, "Recall": 0.7831858407079646, "F1": 0.7972972972972973, "LogLoss": 0.22726324200630188}, "CatBoost (tuned)": {"ROC_AUC": 0.9586807509335518, "Accuracy": 0.8965141612200436, "Precision": 0.8046511627906977, "Recall": 0.7654867256637168, "F1": 0.7845804988662132, "LogLoss": 0.22594194255062694}, "LightGBM": {"ROC_AUC": 0.9581564274387436, "Accuracy": 0.8965141612200436, "Precision": 0.8075117370892019, "Recall": 0.7610619469026548, "F1": 0.7835990888382688, "LogLoss": 0.3360604026079515}, "LightGBM (tuned)": {"ROC_AUC": 0.9581564274387436, "Accuracy": 0.8965141612200436, "Precision": 0.8075117370892019, "Recall": 0.7610619469026548, "F1": 0.7835990888382688, "LogLoss": 0.3360604026079515}, "XGBoost": {"ROC_AUC": 0.9581180623049772, "Accuracy": 0.8986928104575164, "Precision": 0.812206572769953, "Recall": 0.7654867256637168, "F1": 0.7881548974943052, "LogLoss": 0.24457305669784546}, "LogReg (ElasticNet)": {"ROC_AUC": 0.9569351373471788, "Accuracy": 0.9030501089324618, "Precision": 0.8407960199004975, "Recall": 0.7477876106194691, "F1": 0.7915690866510539, "LogLoss": 0.24496741616519727}, "LogReg (L1)": {"ROC_AUC": 0.9537316486776818, "Accuracy": 0.9019607843137255, "Precision": 0.8333333333333334, "Recall": 0.7522123893805309, "F1": 0.7906976744186046, "LogLoss": 0.2326247748188888}, "MLP": {"ROC_AUC": 0.9512954626835132, "Accuracy": 0.9019607843137255, "Precision": 0.8238095238095238, "Recall": 0.7654867256637168, "F1": 0.7935779816513762, "LogLoss": 0.24569114276660797}, "MLP (tuned)": {"ROC_AUC": 0.9512507033607858, "Accuracy": 0.9030501089324618, "Precision": 0.8246445497630331, "Recall": 0.7699115044247787, "F1": 0.7963386727688787, "LogLoss": 0.2456155000259258}, "KNN": {"ROC_AUC": 0.9428231623100924, "Accuracy": 0.8758169934640523, "Precision": 0.8636363636363636, "Recall": 0.588495575221239, "F1": 0.7, "LogLoss": 0.4032710976452569}, "KNN (tuned)": {"ROC_AUC": 0.9428231623100924, "Accuracy": 0.8758169934640523, "Precision": 0.8636363636363636, "Recall": 0.588495575221239, "F1": 0.7, "LogLoss": 0.4032710976452569}, "LogisticRegression": {"ROC_AUC": 0.9420558596347639, "Accuracy": 0.8954248366013072, "Precision": 0.8155339805825242, "Recall": 0.7433628318584071, "F1": 0.7777777777777778, "LogLoss": 0.27210948931200873}}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Measured results: run_results/amex_default_tutorial/results.json.</a:t>
            </a:r>
          </a:p>
          <a:p xmlns:a="http://schemas.openxmlformats.org/drawingml/2006/main">
            <a:r>
              <a:t>{"RandomForest": {"ROC_AUC": 0.9627058928845464, "Accuracy": 0.9084967320261438, "Precision": 0.8287037037037037, "Recall": 0.7920353982300885, "F1": 0.8099547511312217, "LogLoss": 0.23927156733268878}, "Stacking": {"ROC_AUC": 0.9625620236329223, "Accuracy": 0.906318082788671, "Precision": 0.8211009174311926, "Recall": 0.7920353982300885, "F1": 0.8063063063063063, "LogLoss": 0.22549276705742724}, "CatBoost": {"ROC_AUC": 0.9622934676965574, "Accuracy": 0.9095860566448801, "Precision": 0.820627802690583, "Recall": 0.8097345132743363, "F1": 0.8151447661469933, "LogLoss": 0.2160584743020264}, "RandomForest (tuned)": {"ROC_AUC": 0.9622934676965573, "Accuracy": 0.9095860566448801, "Precision": 0.8294930875576036, "Recall": 0.7964601769911505, "F1": 0.8126410835214447, "LogLoss": 0.24061838621887505}, "LogReg (L2)": {"ROC_AUC": 0.9608164100465497, "Accuracy": 0.9052287581699346, "Precision": 0.8357487922705314, "Recall": 0.7654867256637168, "F1": 0.7990762124711316, "LogLoss": 0.22532819304537977}, "XGBoost (tuned)": {"ROC_AUC": 0.9590068545705662, "Accuracy": 0.9019607843137255, "Precision": 0.8119266055045872, "Recall": 0.7831858407079646, "F1": 0.7972972972972973, "LogLoss": 0.22726324200630188}, "CatBoost (tuned)": {"ROC_AUC": 0.9586807509335518, "Accuracy": 0.8965141612200436, "Precision": 0.8046511627906977, "Recall": 0.7654867256637168, "F1": 0.7845804988662132, "LogLoss": 0.22594194255062694}, "LightGBM": {"ROC_AUC": 0.9581564274387436, "Accuracy": 0.8965141612200436, "Precision": 0.8075117370892019, "Recall": 0.7610619469026548, "F1": 0.7835990888382688, "LogLoss": 0.3360604026079515}, "LightGBM (tuned)": {"ROC_AUC": 0.9581564274387436, "Accuracy": 0.8965141612200436, "Precision": 0.8075117370892019, "Recall": 0.7610619469026548, "F1": 0.7835990888382688, "LogLoss": 0.3360604026079515}, "XGBoost": {"ROC_AUC": 0.9581180623049772, "Accuracy": 0.8986928104575164, "Precision": 0.812206572769953, "Recall": 0.7654867256637168, "F1": 0.7881548974943052, "LogLoss": 0.24457305669784546}, "LogReg (ElasticNet)": {"ROC_AUC": 0.9569351373471788, "Accuracy": 0.9030501089324618, "Precision": 0.8407960199004975, "Recall": 0.7477876106194691, "F1": 0.7915690866510539, "LogLoss": 0.24496741616519727}, "LogReg (L1)": {"ROC_AUC": 0.9537316486776818, "Accuracy": 0.9019607843137255, "Precision": 0.8333333333333334, "Recall": 0.7522123893805309, "F1": 0.7906976744186046, "LogLoss": 0.2326247748188888}, "MLP": {"ROC_AUC": 0.9512954626835132, "Accuracy": 0.9019607843137255, "Precision": 0.8238095238095238, "Recall": 0.7654867256637168, "F1": 0.7935779816513762, "LogLoss": 0.24569114276660797}, "MLP (tuned)": {"ROC_AUC": 0.9512507033607858, "Accuracy": 0.9030501089324618, "Precision": 0.8246445497630331, "Recall": 0.7699115044247787, "F1": 0.7963386727688787, "LogLoss": 0.2456155000259258}, "KNN": {"ROC_AUC": 0.9428231623100924, "Accuracy": 0.8758169934640523, "Precision": 0.8636363636363636, "Recall": 0.588495575221239, "F1": 0.7, "LogLoss": 0.4032710976452569}, "KNN (tuned)": {"ROC_AUC": 0.9428231623100924, "Accuracy": 0.8758169934640523, "Precision": 0.8636363636363636, "Recall": 0.588495575221239, "F1": 0.7, "LogLoss": 0.4032710976452569}, "LogisticRegression": {"ROC_AUC": 0.9420558596347639, "Accuracy": 0.8954248366013072, "Precision": 0.8155339805825242, "Recall": 0.7433628318584071, "F1": 0.7777777777777778, "LogLoss": 0.27210948931200873}}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Seed 42. Stacking uses two ordinary folds. Penalized linear models test three strengths. See the notebook for all constructor arguments.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Analysis: amex_default_tutorial.ipynb.</a:t>
            </a:r>
          </a:p>
          <a:p xmlns:a="http://schemas.openxmlformats.org/drawingml/2006/main">
            <a:r>
              <a:t>https://scikit-learn.org/stable/modules/linear_model.html</a:t>
            </a:r>
          </a:p>
          <a:p xmlns:a="http://schemas.openxmlformats.org/drawingml/2006/main">
            <a:r>
              <a:t>https://scikit-learn.org/stable/modules/neighbors.html</a:t>
            </a:r>
          </a:p>
          <a:p xmlns:a="http://schemas.openxmlformats.org/drawingml/2006/main">
            <a:r>
              <a:t>https://scikit-learn.org/stable/modules/neural_networks_supervised.html</a:t>
            </a:r>
          </a:p>
          <a:p xmlns:a="http://schemas.openxmlformats.org/drawingml/2006/main">
            <a:r>
              <a:t>https://scikit-learn.org/stable/modules/ensemble.html</a:t>
            </a:r>
          </a:p>
          <a:p xmlns:a="http://schemas.openxmlformats.org/drawingml/2006/main">
            <a:r>
              <a:t>https://xgboost.readthedocs.io/en/stable/tutorials/model.html</a:t>
            </a:r>
          </a:p>
          <a:p xmlns:a="http://schemas.openxmlformats.org/drawingml/2006/main">
            <a:r>
              <a:t>https://catboost.ai/docs/en/concepts/algorithm-main-stages_cat-to-numberic</a:t>
            </a:r>
          </a:p>
          <a:p xmlns:a="http://schemas.openxmlformats.org/drawingml/2006/main">
            <a:r>
              <a:t>https://lightgbm.readthedocs.io/en/stable/Features.html</a:t>
            </a:r>
          </a:p>
          <a:p xmlns:a="http://schemas.openxmlformats.org/drawingml/2006/main">
            <a:r>
              <a:t>https://www.statsmodels.org/stable/generated/statsmodels.tsa.statespace.sarimax.SARIMAX.html</a:t>
            </a:r>
          </a:p>
          <a:p xmlns:a="http://schemas.openxmlformats.org/drawingml/2006/main">
            <a:r>
              <a:t>Measured results: run_results/amex_default_tutorial/results.json.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f7463823d7436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cda4eaf2a8430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e9ec18864a4c2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2ea6ab1bb7451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757e201bcb45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cce61236d74a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C328F0-2757-4849-ACFD-46591C3D80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D094D23-C2C8-41C7-B9EB-5D0586F027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9C7684A-74AC-4DEC-8763-4AFDFAAAB6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FC1AC9-58CD-4788-A591-736EBC07C6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BA42D71-281C-4CB4-9FE9-10B978B2BA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F30CC73-25CF-4421-954A-8F16C6CB02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55A0184-8187-43EF-89B3-5F8C3761B96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4178411-3D7C-44B5-B982-B188FCF9CAA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49D360-3484-4DFF-A83A-95F2FB88EF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1CF1482-2C28-40E1-9FDA-2F8D00EEC56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66f0ee2b6c4eb5" /><Relationship Type="http://schemas.openxmlformats.org/officeDocument/2006/relationships/slideLayout" Target="/ppt/slideLayouts/slideLayout1.xml" Id="R063299ba9acd443c" /><Relationship Type="http://schemas.openxmlformats.org/officeDocument/2006/relationships/slideLayout" Target="/ppt/slideLayouts/slideLayout2.xml" Id="Rb77626fe52f04ebd" /><Relationship Type="http://schemas.openxmlformats.org/officeDocument/2006/relationships/slideLayout" Target="/ppt/slideLayouts/slideLayout3.xml" Id="R688a3fe7ac7d4810" /><Relationship Type="http://schemas.openxmlformats.org/officeDocument/2006/relationships/slideLayout" Target="/ppt/slideLayouts/slideLayout4.xml" Id="Rb1d2f1d9728e4cfb" /><Relationship Type="http://schemas.openxmlformats.org/officeDocument/2006/relationships/slideLayout" Target="/ppt/slideLayouts/slideLayout5.xml" Id="R35820528bf774d30" /><Relationship Type="http://schemas.openxmlformats.org/officeDocument/2006/relationships/slideLayout" Target="/ppt/slideLayouts/slideLayout6.xml" Id="R2ff205d79d1940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3299ba9acd443c"/>
    <p:sldLayoutId xmlns:r="http://schemas.openxmlformats.org/officeDocument/2006/relationships" id="2147483650" r:id="Rb77626fe52f04ebd"/>
    <p:sldLayoutId xmlns:r="http://schemas.openxmlformats.org/officeDocument/2006/relationships" id="2147483651" r:id="R688a3fe7ac7d4810"/>
    <p:sldLayoutId xmlns:r="http://schemas.openxmlformats.org/officeDocument/2006/relationships" id="2147483652" r:id="Rb1d2f1d9728e4cfb"/>
    <p:sldLayoutId xmlns:r="http://schemas.openxmlformats.org/officeDocument/2006/relationships" id="2147483653" r:id="R35820528bf774d30"/>
    <p:sldLayoutId xmlns:r="http://schemas.openxmlformats.org/officeDocument/2006/relationships" id="2147483654" r:id="R2ff205d79d1940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36748051814111" /><Relationship Type="http://schemas.openxmlformats.org/officeDocument/2006/relationships/notesSlide" Target="/ppt/notesSlides/notesSlide1.xml" Id="R99a19415156c4ea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5ec19af09848e1" /><Relationship Type="http://schemas.openxmlformats.org/officeDocument/2006/relationships/notesSlide" Target="/ppt/notesSlides/notesSlide2.xml" Id="R40c5b25ffe5c42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e6684759974922" /><Relationship Type="http://schemas.openxmlformats.org/officeDocument/2006/relationships/notesSlide" Target="/ppt/notesSlides/notesSlide3.xml" Id="R28e5d0b9873b44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94131dfc2541c5" /><Relationship Type="http://schemas.openxmlformats.org/officeDocument/2006/relationships/notesSlide" Target="/ppt/notesSlides/notesSlide4.xml" Id="Rd0be92f9d5fb4b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56e9a226ab439d" /><Relationship Type="http://schemas.openxmlformats.org/officeDocument/2006/relationships/notesSlide" Target="/ppt/notesSlides/notesSlide5.xml" Id="R9bd600dcc75141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940eb930f74309" /><Relationship Type="http://schemas.openxmlformats.org/officeDocument/2006/relationships/image" Target="/ppt/media/image.png" Id="Rfe01de0310ed489b" /><Relationship Type="http://schemas.openxmlformats.org/officeDocument/2006/relationships/notesSlide" Target="/ppt/notesSlides/notesSlide6.xml" Id="R5f930b23ff9c456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850127ed594955" /><Relationship Type="http://schemas.openxmlformats.org/officeDocument/2006/relationships/notesSlide" Target="/ppt/notesSlides/notesSlide7.xml" Id="R97a78b851fed49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54853a21e24754" /><Relationship Type="http://schemas.openxmlformats.org/officeDocument/2006/relationships/notesSlide" Target="/ppt/notesSlides/notesSlide8.xml" Id="R9d0afbb04ca947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b3c27783a1488f" /><Relationship Type="http://schemas.openxmlformats.org/officeDocument/2006/relationships/notesSlide" Target="/ppt/notesSlides/notesSlide9.xml" Id="Rb6af158f623a48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e8767a8bb342e9" /><Relationship Type="http://schemas.openxmlformats.org/officeDocument/2006/relationships/notesSlide" Target="/ppt/notesSlides/notesSlide10.xml" Id="R27fa14e380a345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37ab7aa6514476" /><Relationship Type="http://schemas.openxmlformats.org/officeDocument/2006/relationships/notesSlide" Target="/ppt/notesSlides/notesSlide11.xml" Id="R8407a748150042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68ad82ed4541b8" /><Relationship Type="http://schemas.openxmlformats.org/officeDocument/2006/relationships/notesSlide" Target="/ppt/notesSlides/notesSlide12.xml" Id="R923c05c85af84bd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48d3bdc9f544d8" /><Relationship Type="http://schemas.openxmlformats.org/officeDocument/2006/relationships/notesSlide" Target="/ppt/notesSlides/notesSlide13.xml" Id="Rdea32ff13566460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9e77cb80f84446" /><Relationship Type="http://schemas.openxmlformats.org/officeDocument/2006/relationships/notesSlide" Target="/ppt/notesSlides/notesSlide14.xml" Id="R0ade7e3073454e5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318457093146a1" /><Relationship Type="http://schemas.openxmlformats.org/officeDocument/2006/relationships/image" Target="/ppt/media/image2.png" Id="R86e0dc588aa943f5" /><Relationship Type="http://schemas.openxmlformats.org/officeDocument/2006/relationships/notesSlide" Target="/ppt/notesSlides/notesSlide15.xml" Id="Rd329f606b57b422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e003f3a30146d4" /><Relationship Type="http://schemas.openxmlformats.org/officeDocument/2006/relationships/image" Target="/ppt/media/image3.png" Id="R5b73c2985bf14972" /><Relationship Type="http://schemas.openxmlformats.org/officeDocument/2006/relationships/notesSlide" Target="/ppt/notesSlides/notesSlide16.xml" Id="R39746edb51394d0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89ea2e1851453b" /><Relationship Type="http://schemas.openxmlformats.org/officeDocument/2006/relationships/image" Target="/ppt/media/image4.png" Id="R3cd0316f424f41f5" /><Relationship Type="http://schemas.openxmlformats.org/officeDocument/2006/relationships/notesSlide" Target="/ppt/notesSlides/notesSlide17.xml" Id="Re5ced2b719194a4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ff03287c414cb2" /><Relationship Type="http://schemas.openxmlformats.org/officeDocument/2006/relationships/image" Target="/ppt/media/image5.png" Id="R65539192d0a44c5e" /><Relationship Type="http://schemas.openxmlformats.org/officeDocument/2006/relationships/notesSlide" Target="/ppt/notesSlides/notesSlide18.xml" Id="R5542709dfac64c1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4334660bad4898" /><Relationship Type="http://schemas.openxmlformats.org/officeDocument/2006/relationships/image" Target="/ppt/media/image6.png" Id="Rf4a7dd1acc7d4ee6" /><Relationship Type="http://schemas.openxmlformats.org/officeDocument/2006/relationships/notesSlide" Target="/ppt/notesSlides/notesSlide19.xml" Id="R284b6cb703b0441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da37a4b2054bfa" /><Relationship Type="http://schemas.openxmlformats.org/officeDocument/2006/relationships/notesSlide" Target="/ppt/notesSlides/notesSlide20.xml" Id="Re79c4a0e48304dd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043e5e9067491e" /><Relationship Type="http://schemas.openxmlformats.org/officeDocument/2006/relationships/notesSlide" Target="/ppt/notesSlides/notesSlide21.xml" Id="Re6f344964a8c411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2c0ec5457640e9" /><Relationship Type="http://schemas.openxmlformats.org/officeDocument/2006/relationships/notesSlide" Target="/ppt/notesSlides/notesSlide22.xml" Id="Rd5e3d56ebbe849a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82ee6949f449da" /><Relationship Type="http://schemas.openxmlformats.org/officeDocument/2006/relationships/notesSlide" Target="/ppt/notesSlides/notesSlide23.xml" Id="Rd19ffbf98ed34a5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75ab05d5e343e6" /><Relationship Type="http://schemas.openxmlformats.org/officeDocument/2006/relationships/notesSlide" Target="/ppt/notesSlides/notesSlide24.xml" Id="Re4dbed6aebd1459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8f2ecfc3d6481e" /><Relationship Type="http://schemas.openxmlformats.org/officeDocument/2006/relationships/notesSlide" Target="/ppt/notesSlides/notesSlide25.xml" Id="R28756c01ab7f4f0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95916dadf346b8" /><Relationship Type="http://schemas.openxmlformats.org/officeDocument/2006/relationships/notesSlide" Target="/ppt/notesSlides/notesSlide26.xml" Id="R9c2998a9c498426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3704fa4ba94c06" /><Relationship Type="http://schemas.openxmlformats.org/officeDocument/2006/relationships/notesSlide" Target="/ppt/notesSlides/notesSlide27.xml" Id="Rcaff3f853a7b469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390833a0eb40cf" /><Relationship Type="http://schemas.openxmlformats.org/officeDocument/2006/relationships/image" Target="/ppt/media/image7.png" Id="R878be2cf82224a2f" /><Relationship Type="http://schemas.openxmlformats.org/officeDocument/2006/relationships/notesSlide" Target="/ppt/notesSlides/notesSlide28.xml" Id="R453f61341b4c45b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39434115204c5d" /><Relationship Type="http://schemas.openxmlformats.org/officeDocument/2006/relationships/image" Target="/ppt/media/image8.png" Id="Ref03f12e3785490b" /><Relationship Type="http://schemas.openxmlformats.org/officeDocument/2006/relationships/notesSlide" Target="/ppt/notesSlides/notesSlide29.xml" Id="R93c7a4c56915439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3dae9db1684ecf" /><Relationship Type="http://schemas.openxmlformats.org/officeDocument/2006/relationships/image" Target="/ppt/media/image9.png" Id="R54b6d508a0f64fcb" /><Relationship Type="http://schemas.openxmlformats.org/officeDocument/2006/relationships/notesSlide" Target="/ppt/notesSlides/notesSlide30.xml" Id="R1eea03af22bb4cc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52a4f3937a4288" /><Relationship Type="http://schemas.openxmlformats.org/officeDocument/2006/relationships/image" Target="/ppt/media/image10.png" Id="R74630df959694362" /><Relationship Type="http://schemas.openxmlformats.org/officeDocument/2006/relationships/notesSlide" Target="/ppt/notesSlides/notesSlide31.xml" Id="Re48d2d23826141e6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1a3eebaf8f4c52" /><Relationship Type="http://schemas.openxmlformats.org/officeDocument/2006/relationships/image" Target="/ppt/media/image11.png" Id="R1f386dc495424a5b" /><Relationship Type="http://schemas.openxmlformats.org/officeDocument/2006/relationships/notesSlide" Target="/ppt/notesSlides/notesSlide32.xml" Id="R1f794e0ec547400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86291266bd4223" /><Relationship Type="http://schemas.openxmlformats.org/officeDocument/2006/relationships/notesSlide" Target="/ppt/notesSlides/notesSlide33.xml" Id="Ref084c7332e34b4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20c249e7444d38" /><Relationship Type="http://schemas.openxmlformats.org/officeDocument/2006/relationships/image" Target="/ppt/media/image12.png" Id="R580b1da3b4f7400a" /><Relationship Type="http://schemas.openxmlformats.org/officeDocument/2006/relationships/notesSlide" Target="/ppt/notesSlides/notesSlide34.xml" Id="R99f57eaf132e477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3e368c6c7d44b2" /><Relationship Type="http://schemas.openxmlformats.org/officeDocument/2006/relationships/notesSlide" Target="/ppt/notesSlides/notesSlide35.xml" Id="R743d23321ed44446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2846e9cc264e65" /><Relationship Type="http://schemas.openxmlformats.org/officeDocument/2006/relationships/notesSlide" Target="/ppt/notesSlides/notesSlide36.xml" Id="R175d9363604f4db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15f1a83c0b49e1" /><Relationship Type="http://schemas.openxmlformats.org/officeDocument/2006/relationships/notesSlide" Target="/ppt/notesSlides/notesSlide37.xml" Id="R4743944aea8c498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11f115a79a4902" /><Relationship Type="http://schemas.openxmlformats.org/officeDocument/2006/relationships/notesSlide" Target="/ppt/notesSlides/notesSlide38.xml" Id="Rf14a38830af04ed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ab3962a6bc4c0a" /><Relationship Type="http://schemas.openxmlformats.org/officeDocument/2006/relationships/notesSlide" Target="/ppt/notesSlides/notesSlide39.xml" Id="R2a823d322ed34d0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7b410af4234888" /><Relationship Type="http://schemas.openxmlformats.org/officeDocument/2006/relationships/notesSlide" Target="/ppt/notesSlides/notesSlide40.xml" Id="R277141ec43e64d2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3841c5741945eb" /><Relationship Type="http://schemas.openxmlformats.org/officeDocument/2006/relationships/notesSlide" Target="/ppt/notesSlides/notesSlide41.xml" Id="Rce2a663eb163419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a05808334643b6" /><Relationship Type="http://schemas.openxmlformats.org/officeDocument/2006/relationships/image" Target="/ppt/media/image13.png" Id="R17875653164d449e" /><Relationship Type="http://schemas.openxmlformats.org/officeDocument/2006/relationships/notesSlide" Target="/ppt/notesSlides/notesSlide42.xml" Id="R3ff604c867c74e0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f51d3fa33e4010" /><Relationship Type="http://schemas.openxmlformats.org/officeDocument/2006/relationships/notesSlide" Target="/ppt/notesSlides/notesSlide43.xml" Id="R58a919e752c7467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cec53565a84832" /><Relationship Type="http://schemas.openxmlformats.org/officeDocument/2006/relationships/notesSlide" Target="/ppt/notesSlides/notesSlide44.xml" Id="R20ece32ae076442e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38c33ce47c47aa" /><Relationship Type="http://schemas.openxmlformats.org/officeDocument/2006/relationships/notesSlide" Target="/ppt/notesSlides/notesSlide45.xml" Id="Rdac6f13bf2ed4d72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e77098d10e4282" /><Relationship Type="http://schemas.openxmlformats.org/officeDocument/2006/relationships/notesSlide" Target="/ppt/notesSlides/notesSlide46.xml" Id="R0f0bceb6037444e1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01e464fd634eb4" /><Relationship Type="http://schemas.openxmlformats.org/officeDocument/2006/relationships/notesSlide" Target="/ppt/notesSlides/notesSlide47.xml" Id="Rd75c7df2b5c149be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93616797364b5d" /><Relationship Type="http://schemas.openxmlformats.org/officeDocument/2006/relationships/notesSlide" Target="/ppt/notesSlides/notesSlide48.xml" Id="R8d9b01dc94e74d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231F9239-9BD1-4A13-A727-DB3ABB53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858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DATA SCIENCE PROJECT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A44133E-A6E6-41EB-896F-A59AD59A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477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0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DBB9040-675E-485B-8FC5-303737B0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9906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Predicting default from customer account statements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75CAE2A-A53D-4B38-9745-7D0549894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19750"/>
            <a:ext cx="10001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Data, methods and results</a:t>
            </a:r>
          </a:p>
        </p:txBody>
      </p:sp>
    </p:spTree>
    <p:extLst>
      <p:ext uri="{BB962C8B-B14F-4D97-AF65-F5344CB8AC3E}">
        <p14:creationId xmlns:p14="http://schemas.microsoft.com/office/powerpoint/2010/main" val="8920337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D36FA6C9-E41E-413E-9989-77AE7048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01 Summary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50D0601-AE2D-4AD7-903D-7B1FA885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Summary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9EB2D0A-38E2-4E78-A4BA-753365C6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99FE0F9-D230-42BD-B8DC-6694521E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02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A538BA72-1260-4530-A983-140BA515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714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0.9627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767EAD41-6578-46A7-AF4D-EACA8AFB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34099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Test ROC-AUC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B5AECC9B-F6A3-4331-9420-925C4CD3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76425"/>
            <a:ext cx="67437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Leading models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F971F80-A085-48C5-9790-9BF2A920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40280"/>
            <a:ext cx="67437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 has AUC 0.9627. Stacking reaches 0.9626. Their difference is uncertain.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3F0B9C15-8FA4-4B51-89A6-E9F22383B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29712"/>
            <a:ext cx="67437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Probability quality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9C30A7BD-AC20-46E4-AC66-3C2C6683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93567"/>
            <a:ext cx="67437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CatBoost has log loss 0.2161, versus 0.2393 for Random Forest.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B902611E-98E8-4FD3-A43E-4060B1E30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82999"/>
            <a:ext cx="674370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Next step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8813D09E-754B-49AF-966A-EC8346FA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46854"/>
            <a:ext cx="67437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Compare customer-history features and the official competition metric before selecting the final approach.</a:t>
            </a:r>
          </a:p>
        </p:txBody>
      </p:sp>
    </p:spTree>
    <p:extLst>
      <p:ext uri="{BB962C8B-B14F-4D97-AF65-F5344CB8AC3E}">
        <p14:creationId xmlns:p14="http://schemas.microsoft.com/office/powerpoint/2010/main" val="17562725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8353306E-C2B6-46AB-8D1E-15AB6A6F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02 Objective and data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2976DAB-1754-4F00-BF48-677FBD1D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Objective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C8ABDC8-B65A-4758-A5C5-1DF5A58F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B231716-198B-43DA-A8B3-42954D3B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03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F1E1B4C-9DE8-46C0-BEB9-1F3670E5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Objective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57D50484-CBED-4878-B09D-91AADB27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Predict customer default from monthly account statements and compare a simple customer snapshot across model families.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F462439-CEEA-42DC-815B-34C06113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Prediction unit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1FE935F-4843-463D-AF2C-692128EE3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One customer. Statements are aggregated before the train–test split.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3B5700B-1FD8-434D-8EDF-BC127624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506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2903AAC2-B9ED-4936-BBD7-1925CB2F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6744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ROC-AUC for ranking, log loss for probabilities, and precision–recall at a chosen cutoff.</a:t>
            </a:r>
          </a:p>
        </p:txBody>
      </p:sp>
    </p:spTree>
    <p:extLst>
      <p:ext uri="{BB962C8B-B14F-4D97-AF65-F5344CB8AC3E}">
        <p14:creationId xmlns:p14="http://schemas.microsoft.com/office/powerpoint/2010/main" val="12164081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CEB9B8BA-E3FB-4A93-A5C4-0E3BF932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02 Objective and data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DC289BF-A297-4C47-B2EF-639804A85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Dataset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052E1ED-BC0B-4205-BDC8-4363E901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D62ECBB-EEB7-43F0-9D51-BBA8DCDB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04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6590B-C36E-4FE3-B1D3-3B52F65087E3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6896"/>
                <a:gridCol w="8223504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Item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Details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Records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55,249 statement rows for 4,589 customers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to 13 statements per customer, averaging about 12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Inputs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162 features after aggregation and missingness filtering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Class balance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24.624% positive customer outcomes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47318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CA087FD-690C-4913-A2D4-1B644CC4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02 Objective and data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F489EA6-1395-47B7-9BF0-5A5A6E59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Preprocessing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49B2EC4-5292-4AE8-BC15-57D24719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C9EA7A3-43EE-4DC3-AC62-541E8A60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05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05C93-B711-4240-A843-8931D575A337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6896"/>
                <a:gridCol w="8223504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Step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Processing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Customer snapshot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Sort statements by date and take the last nonmissing value in each customer–column group.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Column filtering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Remove 26 columns with more than 50% missing values after aggregation.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 values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Fill numerical gaps with medians and label missing categories.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Identifiers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Remove customer ID and statement date from the predictors.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80308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52CE29AA-3A7E-4C54-B9E2-1D9134F9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F8D294D-E689-4B6F-8B63-AAAC0365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Class balance and feature associations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E6A43ED-8740-43F9-A26B-BD30C76E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A10F7BE0-70BB-4E73-A7A9-2CE98EA7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06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46130-34F2-4DA6-9B91-448C74400A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1de0310ed489b"/>
          <a:stretch xmlns:a="http://schemas.openxmlformats.org/drawingml/2006/main"/>
        </p:blipFill>
        <p:spPr>
          <a:xfrm xmlns:a="http://schemas.openxmlformats.org/drawingml/2006/main">
            <a:off x="514350" y="1800886"/>
            <a:ext cx="11163300" cy="3903929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C8CA6AE4-2042-4202-82DE-69C1A28C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Most customers have multiple monthly statements. A customer must remain in a single evaluation partition.</a:t>
            </a:r>
          </a:p>
        </p:txBody>
      </p:sp>
    </p:spTree>
    <p:extLst>
      <p:ext uri="{BB962C8B-B14F-4D97-AF65-F5344CB8AC3E}">
        <p14:creationId xmlns:p14="http://schemas.microsoft.com/office/powerpoint/2010/main" val="19902617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49AEDFDB-E273-4111-A673-B65B75DE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5DEC0AC-7FA8-48C3-9209-EAF27425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EDA findings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134207A-7640-4AC5-9F0C-F7AA0E68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909B223-CD84-46E9-A650-1BB829B46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07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47D1C4CF-B796-48D0-9BC2-F864FA323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Customer history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A5027FEA-555E-41B1-8D22-31E74B39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Most customers have multiple monthly statements. A customer must remain in a single evaluation partition.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ADC88C3A-922F-453E-9913-75841A6E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Feature size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63EE40A1-3C49-4E51-94BA-830A018E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 snapshot contains 162 features after filtering. Many fields are correlated and anonymized.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12555B6-78AA-4664-A376-AAF007A1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Snapshot definition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3BF1A6D5-AA79-4863-A3AD-DA542A31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 last nonmissing value in each column can come from a different statement date.</a:t>
            </a:r>
          </a:p>
        </p:txBody>
      </p:sp>
    </p:spTree>
    <p:extLst>
      <p:ext uri="{BB962C8B-B14F-4D97-AF65-F5344CB8AC3E}">
        <p14:creationId xmlns:p14="http://schemas.microsoft.com/office/powerpoint/2010/main" val="13217106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9728D26B-8EFC-45C8-89D7-FD2EEFAB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03 EDA and features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E6AD7F8-012E-42AF-8E49-B800752E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Feature engineering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6258325-373B-49A4-840B-1DF39453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39FFD57-3A60-43C4-985C-558E1189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08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D5647-A0CE-4EDB-AB7A-DAFF976522B3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115300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Feature group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Predictors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Statement families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Anonymized D, S, P, B and R fields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Categories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D_63 and D_64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Numerical fields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160 numerical predictors after filtering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Snapshot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Last nonmissing value per field, giving 162 predictors in total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8078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98327B5D-A0F8-401F-B2A9-4DB7DA60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04 Validation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7581689-66B1-4E15-ABA9-2B010696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Train–test split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9D2CADA-6AF5-4E8D-93E9-E276F4C8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750A4A8-63DF-4E75-9349-899410E4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09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02B18F9A-F9A2-46DF-AD76-8AF2392B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Partition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695FD3A-3D2B-4B7F-AD0B-A8E2D91DF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Aggregate before splitting so a customer appears in only one partition. Stratified 80/20 split with seed 42 gives 3,671 training customers and 918 test customers.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54D7E4EC-6897-4C45-AB08-B14CB3C5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Transforms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4A0621E-95AB-4C0C-8673-0F641B97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Scaling uses training rows. The imputation and filtering scope is listed under Limitations.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4E76287B-5DC9-4BEB-ADB1-5B4D8C27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506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4E7DE318-D68A-42C4-ABD2-C4BF0F5CA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6744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 test partition is separate from the rows used to fit each model.</a:t>
            </a:r>
          </a:p>
        </p:txBody>
      </p:sp>
    </p:spTree>
    <p:extLst>
      <p:ext uri="{BB962C8B-B14F-4D97-AF65-F5344CB8AC3E}">
        <p14:creationId xmlns:p14="http://schemas.microsoft.com/office/powerpoint/2010/main" val="11376576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B8D5EE8D-0A78-4BAF-B3E7-1F114E4E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807C0B5-CE30-4B54-BEE3-0D2E9B3E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Methods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61A9E96-47A7-4CC3-BAAB-192B67678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9B6BDF6-8465-45A6-A13A-0A246BAC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10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E3C56-07EE-46F7-9F0E-BD39D5D366E2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47672"/>
                <a:gridCol w="5085588"/>
                <a:gridCol w="3787140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Family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 regression with L2, L1 and Elastic Net penalties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Interpretable reference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K-nearest neighbors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Predict from similar records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Neural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Multilayer perceptron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 nonlinear relationships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Trees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Forest, XGBoost, CatBoost and LightGBM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 thresholds and interactions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Ensemble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Stacking of Random Forest, XGBoost and LightGBM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 predictions using a fitted meta-model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63484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397DC3A-3544-4FA0-AEF1-1E40CCC7B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A13BAC4-5ED4-4657-8C5C-0F4ADBDA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Logistic regression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96909E9D-8C86-4C33-AFA9-29428C83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C3612DB-1219-43E1-8833-A816C2E0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11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E9A7F-6FCF-4AD2-8315-7C28B9E1439D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96896"/>
                <a:gridCol w="4111752"/>
                <a:gridCol w="4111752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Strength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Weakness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Reference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Easy to inspect and use as a baseline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Misses nonlinear effects without added features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L2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Stabilizes coefficients when predictors overlap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Keeps all predictors and introduces shrinkage bias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L1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remove weak predictors with zero coefficients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select inconsistently among correlated inputs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Combines sparse selection with L2 shrinkage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Requires penalty strength and mixing to be selected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76410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4B20D2D-4EC1-4945-8A04-536B532C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9102827-68D5-40EB-B27C-E2C2CE977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KNN and neural networks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551B7A9-9AC5-4478-88B0-38ABF051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7EEB6B3-6B57-466F-8943-EDFE7504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12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9579D-59EF-4931-B600-C3A10FFD54EF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3570732"/>
                <a:gridCol w="5085588"/>
              </a:tblGrid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Strength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Weakness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Simple local prediction with few modeling assumptions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Distances depend on scaling. Prediction slows as the reference set grows.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Learns smooth nonlinear effects and interactions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Sensitive to scaling and optimization. Needs regularization and convergence checks.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42683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124A38F-EE6C-4353-B364-41DF7247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8A7B298-38BA-4F54-A6CF-4D750302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Tree-based models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24A95A9-FC00-4CA9-AE13-9994CCC4B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FC543D0-6818-4060-AE21-9D1DF9737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13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EF7B96-B532-4238-8BFC-944E3C297CCC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31264"/>
                <a:gridCol w="4544568"/>
                <a:gridCol w="454456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Strength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Weakness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Averaging many trees reduces variance and captures interactions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Large ensembles use memory and extrapolate poorly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Regularized boosting handles complex tabular relationships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Tree depth, learning rate and tree count need joint selection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Supports categorical features alongside numerical features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can be costly. Data quality still limits performance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Histogram splits support efficient training on large tables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Flexible leaf growth can overfit small groups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1466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0">
            <a:extLst xmlns:a="http://schemas.openxmlformats.org/drawingml/2006/main">
              <a:ext uri="{FF2B5EF4-FFF2-40B4-BE49-F238E27FC236}">
                <a16:creationId xmlns:a16="http://schemas.microsoft.com/office/drawing/2014/main" id="{DE54FA6A-4CDD-4670-937C-94A65323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05 Methods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FA5A0F0-BF13-4FB7-B6D8-5E85509F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Stacking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4D0FDB9-647E-48C6-8CF9-A1D85B7F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523367E-F3B5-4A8D-8F73-543B41B5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14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D56BACF-93BD-4275-BC84-44225895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10820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Forest, XGBoost and LightGBM generate out-of-fold predictions. A logistic meta-model learns how to combine them.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25BD3139-5032-467A-8700-3DC9D9DA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50292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Strengths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3D52BA7F-FFB6-4629-9865-FAF0DBA1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1863"/>
            <a:ext cx="5029200" cy="9929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Can reduce error when the base models make different mistakes. The meta-model learns the weights from training predictions.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206E2250-D9A5-4D81-B8F2-3DAA481C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95625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Weaknesses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555A07AA-CECB-4E13-819D-9453E2C6D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1863"/>
            <a:ext cx="5105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Adds fitting and inference cost. Similar base-model errors can limit the gain.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F5312DB-402C-4E0D-9E0E-8C790473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RESULT IN THIS STUDY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E8F382C8-DAAB-4D30-9072-0841FEF9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820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ROC-AUC 0.9626 and log loss 0.2255. It does not exceed the best individual model on the primary metric.</a:t>
            </a:r>
          </a:p>
        </p:txBody>
      </p:sp>
    </p:spTree>
    <p:extLst>
      <p:ext uri="{BB962C8B-B14F-4D97-AF65-F5344CB8AC3E}">
        <p14:creationId xmlns:p14="http://schemas.microsoft.com/office/powerpoint/2010/main" val="1861014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32A7587D-36BF-40FA-8906-4CAB0F3C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62BE0B1-0D31-415B-B61A-E0113849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comparison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20A4A01-377F-460C-BC91-A8D4D42E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2CF4F84-D2EB-4E06-A713-90D274ED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15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32F9F-6F84-4E37-BA6B-5167677A0E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e0dc588aa943f5"/>
          <a:stretch xmlns:a="http://schemas.openxmlformats.org/drawingml/2006/main"/>
        </p:blipFill>
        <p:spPr>
          <a:xfrm xmlns:a="http://schemas.openxmlformats.org/drawingml/2006/main">
            <a:off x="1089622" y="1762125"/>
            <a:ext cx="10012755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08812700-F8CC-4607-9ECE-8FD23737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Best test score per family, including the strongest penalized linear model. Full results appear in the appendix.</a:t>
            </a:r>
          </a:p>
        </p:txBody>
      </p:sp>
    </p:spTree>
    <p:extLst>
      <p:ext uri="{BB962C8B-B14F-4D97-AF65-F5344CB8AC3E}">
        <p14:creationId xmlns:p14="http://schemas.microsoft.com/office/powerpoint/2010/main" val="63483378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2B07F2C9-3B33-4FA7-9E9B-44122A22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544F121A-A2AF-4FC9-B177-AF382A2C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Ranking stability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EC325FF-B915-486C-AA38-FD21C0E0E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54BFBBE-FA74-486C-BF46-70310F62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16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78EF7-617D-4011-9F39-74EFD9B4D4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73c2985bf14972"/>
          <a:stretch xmlns:a="http://schemas.openxmlformats.org/drawingml/2006/main"/>
        </p:blipFill>
        <p:spPr>
          <a:xfrm xmlns:a="http://schemas.openxmlformats.org/drawingml/2006/main">
            <a:off x="514350" y="1958655"/>
            <a:ext cx="11163300" cy="3588391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E14EFB4-5BBB-4EFD-A158-226036D7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The 95% interval includes zero for Random Forest versus Stacking. Their ordering remains uncertain.</a:t>
            </a:r>
          </a:p>
        </p:txBody>
      </p:sp>
    </p:spTree>
    <p:extLst>
      <p:ext uri="{BB962C8B-B14F-4D97-AF65-F5344CB8AC3E}">
        <p14:creationId xmlns:p14="http://schemas.microsoft.com/office/powerpoint/2010/main" val="148283364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4EDE2261-98B1-4ACC-B143-C5223937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C8F4B87-DC4B-466E-926D-CB8F9C33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6FEB5EEB-0291-4EEB-92C3-5DE64FCF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6094BDF-5D95-4A15-A79E-55B8DBD9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17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D1A13A-969B-4346-9354-A74E767DEF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0316f424f41f5"/>
          <a:stretch xmlns:a="http://schemas.openxmlformats.org/drawingml/2006/main"/>
        </p:blipFill>
        <p:spPr>
          <a:xfrm xmlns:a="http://schemas.openxmlformats.org/drawingml/2006/main">
            <a:off x="3082642" y="1762125"/>
            <a:ext cx="6026715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0D9929F-CCF5-45EF-91D2-0626F94C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Feature codes are anonymized. Compare their stability and feature families without assigning unsupported business meanings.</a:t>
            </a:r>
          </a:p>
        </p:txBody>
      </p:sp>
    </p:spTree>
    <p:extLst>
      <p:ext uri="{BB962C8B-B14F-4D97-AF65-F5344CB8AC3E}">
        <p14:creationId xmlns:p14="http://schemas.microsoft.com/office/powerpoint/2010/main" val="3123563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C263B13A-9FCE-4B16-B0DE-E45A2D1D9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A14C64C-F094-48FB-B219-6FB1DAB9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Precision–recall and calibration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9368FFF-BBF9-47E9-B93B-4738F51B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D3959C5D-F973-49A8-A10D-14DA80E4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18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E4931E-A64C-4D19-B609-6C45AAC034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39192d0a44c5e"/>
          <a:stretch xmlns:a="http://schemas.openxmlformats.org/drawingml/2006/main"/>
        </p:blipFill>
        <p:spPr>
          <a:xfrm xmlns:a="http://schemas.openxmlformats.org/drawingml/2006/main">
            <a:off x="781395" y="1762125"/>
            <a:ext cx="10629210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EB2C483-481D-4177-B9F5-EE6ACCA2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Random Forest: average precision 0.874, positive prevalence 0.246, Brier score 0.0712.</a:t>
            </a:r>
          </a:p>
        </p:txBody>
      </p:sp>
    </p:spTree>
    <p:extLst>
      <p:ext uri="{BB962C8B-B14F-4D97-AF65-F5344CB8AC3E}">
        <p14:creationId xmlns:p14="http://schemas.microsoft.com/office/powerpoint/2010/main" val="16336187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7224B7BB-140B-45F2-9917-8FCB0574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48FF305-0094-406C-B832-631221CC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Review capacity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BFCE1E4D-5594-4983-BC74-98FC75FD6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5A71317-8626-44F8-8DB1-B1DF786C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19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0F5BA6-72A2-4BAA-8688-7FAC430C28E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a7dd1acc7d4ee6"/>
          <a:stretch xmlns:a="http://schemas.openxmlformats.org/drawingml/2006/main"/>
        </p:blipFill>
        <p:spPr>
          <a:xfrm xmlns:a="http://schemas.openxmlformats.org/drawingml/2006/main">
            <a:off x="629854" y="1762125"/>
            <a:ext cx="109322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BD64028-AF2C-423B-96C5-9995B569C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Random Forest, top 10% reviewed: 37.2% recall and 91.3% precision.</a:t>
            </a:r>
          </a:p>
        </p:txBody>
      </p:sp>
    </p:spTree>
    <p:extLst>
      <p:ext uri="{BB962C8B-B14F-4D97-AF65-F5344CB8AC3E}">
        <p14:creationId xmlns:p14="http://schemas.microsoft.com/office/powerpoint/2010/main" val="23106201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9E8A82C2-76D6-4BFB-8184-519394BB7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06 Results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0EA2AED-2E15-4149-A3A2-2DECF70C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Results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481BD07-06A9-452A-869C-C6CEA4F7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F9AE31E-83AF-4D7C-AF1A-68AD960E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20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C502AC6-F682-4968-B11C-4A57EEC1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Risk ranking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441B6015-C5CC-4D04-8B71-1E8B3DCC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 and stacking differ by only 0.00014 AUC. The resampling interval includes zero.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F7ADA1EA-7071-4E96-85C7-F1F97F21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Other metrics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BF105FEA-C2BA-418C-BC23-533838B0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CatBoost has lower log loss and higher recall at cutoff 0.5. The AUC leader does not lead every measure.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0A0AEA2-5809-4079-9AA2-E4C76207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Further work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11744EE6-4118-4C9B-88EC-C79834B2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Add statement changes, trends and observation counts, then evaluate the official competition metric.</a:t>
            </a:r>
          </a:p>
        </p:txBody>
      </p:sp>
    </p:spTree>
    <p:extLst>
      <p:ext uri="{BB962C8B-B14F-4D97-AF65-F5344CB8AC3E}">
        <p14:creationId xmlns:p14="http://schemas.microsoft.com/office/powerpoint/2010/main" val="174410575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946B0C19-B00A-4541-B7DE-765239EF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07 Conclusion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C6996E2E-1F5D-4A98-8187-923211BB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Limitations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B6EC2BC-ED6F-43C1-AE57-DB5B5356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0571B46-4C24-490C-A115-271CC489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21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B8FBF-6603-4263-986C-35AC1B417A4F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115300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Limitation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Details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Sample size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study uses a 1% customer sample and 918 test customers.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Preprocessing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Missingness filters and imputation use the full customer sample.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ROC-AUC differs from the official competition scoring rule.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Aggregation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The snapshot leaves most monthly changes unused.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10485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15C92AA-81B7-4606-BB03-AAFAF3C8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07 Conclusion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95618EA-BC5C-472E-A3E8-D3AAA30B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Next steps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685ACA2-3C6A-48C9-8F16-FE4AF5ED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629100C-FAAD-4BD1-98F0-53932A29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22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63DBCA-EF92-410C-880C-1793E581FCB2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57428"/>
                <a:gridCol w="2380488"/>
                <a:gridCol w="4760976"/>
                <a:gridCol w="292150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#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Aggregation audit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Compare actual final rows with columnwise last-nonmissing values.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precise, consistent snapshot definition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Temporal features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Add changes, ranges, means and observation counts by customer.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Value from the 13-statement histories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 alignment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Implement the official metric from verified competition rules before submission.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Validation that matches the competition objective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Customer validation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Use fold-safe preprocessing, repeated customer folds and a final untouched holdout.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Stable performance without customer overlap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795104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FB54A2AE-C919-492A-ACDC-8F70F297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07 Conclusion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F203DA5-172D-41AB-BEB6-5BF17B0E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Conclusion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31B75DA-E996-4200-991F-EA1CC15A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1B954B1B-C33C-4864-ADF3-CDD0F7B39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23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6547F94-400C-4454-AAF2-35508670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477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Several models remain in contention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6180B2B1-B4AA-4A87-8CB1-66813B60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4775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ROC-AUC 0.9627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6B538268-207B-41AF-9AE6-E6DAE5DB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Forest, stacking and CatBoost are close on AUC. Compare probability quality and the competition metric using richer customer histories.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D19EC9D0-F2C8-47B0-B023-7ABB3A98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912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6911915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9E3E425-EDF9-4515-84F4-A32C0E17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F027DB09-5BA9-4269-A268-CF3D41CF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Evaluation metrics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FD73040-DBBF-4898-B9E8-2D111481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F7DA429-013F-40C5-B652-556F0CED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24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CC7139-8DDE-4185-9CAA-F5B0401A7BCC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55876"/>
                <a:gridCol w="4652772"/>
                <a:gridCol w="4111752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Meaning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Role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ROC-AUC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Ranking across thresholds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Primary model comparison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 loss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Quality of predicted probabilities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Probability assessment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Precision and recall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Detection and false-positive trade-off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Threshold analysis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Calibration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Agreement of predicted and observed risk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Probability interpretation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60415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770C3A3-B01E-4DB1-A3F1-480DC5E6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E3EFF48-7862-4EE5-AC03-241BAB21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Logistic regularization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31357F3-C387-4AE3-AFB2-D03A6559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30DF83C-6661-42A5-BD33-882613D6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25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BD4AA8-E03B-4C26-B2A7-2FB0021049A5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4328160"/>
                <a:gridCol w="3787140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Variant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objective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Main effect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Reference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 loss with reference settings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Linear log-odds reference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L2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 loss + Ridge penalty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Shrinks correlated coefficients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L1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 loss + Lasso penalty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Can remove coefficients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 loss + mixed penalty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Balances sparsity and shrinkage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06556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8A784AB0-33FC-4B3E-A5C3-B082652C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65BAD6D-6BF0-4B19-B83D-52E0EF59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Logistic model results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D9113ADC-8AFE-44FA-9957-8B90F974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2E5DD72-0AC9-4790-B47C-52ADCF27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26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DAB9A-8592-42FB-8F2B-7A89825AF2C6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95344"/>
                <a:gridCol w="2272284"/>
                <a:gridCol w="2272284"/>
                <a:gridCol w="2380488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ROC-AUC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 loss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 at 0.5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0.9421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0.2721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0.7434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L2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0.9608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0.2253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0.7655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L1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0.9537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0.2326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0.7522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0.9569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0.2450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0.7478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15843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3BBE3C08-AEB5-478D-A379-6AF49411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3557FCA-8215-4D9A-B32C-C04C51B4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Linear model discussion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F3404DC-65BB-45F1-9588-953409BE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C2771F82-84C0-4C5A-9C27-73D289AFC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27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269EAD42-485B-4872-A383-E263A040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Results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BAB5DFD7-4E66-4AA6-A6FD-543729807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3690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L2 logistic reaches AUC 0.9608, close to the tree models, with log loss 0.2253.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EAD16FA9-BA98-4BBD-A9E1-A77A186B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4631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D02D0A2-8AD5-4615-A71C-CA0AC104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0869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Shrinkage helps with correlated account fields. Anonymized names limit business interpretation of individual coefficients.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FD0DFB50-018E-4885-AC4A-28C574AB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0506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Further work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0BDD44B8-108C-44BB-8F6F-0238F802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6744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Check stability across customer folds and test changes and trends from the monthly statements.</a:t>
            </a:r>
          </a:p>
        </p:txBody>
      </p:sp>
    </p:spTree>
    <p:extLst>
      <p:ext uri="{BB962C8B-B14F-4D97-AF65-F5344CB8AC3E}">
        <p14:creationId xmlns:p14="http://schemas.microsoft.com/office/powerpoint/2010/main" val="27682817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266DE249-1A76-492C-B783-0C8E7E64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88B27A3-CC43-48F1-8981-C549B74A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Logistic regression coefficients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C8C5AAF-8144-4CE8-8FF1-0E524692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F5E06FC-6277-46B2-BA09-8A47E1888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28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1EBE5A-927C-4C22-883B-D3BD529E5C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be2cf82224a2f"/>
          <a:stretch xmlns:a="http://schemas.openxmlformats.org/drawingml/2006/main"/>
        </p:blipFill>
        <p:spPr>
          <a:xfrm xmlns:a="http://schemas.openxmlformats.org/drawingml/2006/main">
            <a:off x="3086051" y="1762125"/>
            <a:ext cx="6019898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98550455-C11C-4487-8867-E7376211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Coefficients describe fitted associations after accounting for the other encoded inputs.</a:t>
            </a:r>
          </a:p>
        </p:txBody>
      </p:sp>
    </p:spTree>
    <p:extLst>
      <p:ext uri="{BB962C8B-B14F-4D97-AF65-F5344CB8AC3E}">
        <p14:creationId xmlns:p14="http://schemas.microsoft.com/office/powerpoint/2010/main" val="209640882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DBBDF3E0-092C-412F-91C7-E4557ACE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E18A5078-A3E7-4AAF-87B2-DBB06E208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MLP training loss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A0B588F-1822-4C00-8102-3559854D4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5718AFE-4414-4C02-BC30-B0236689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29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8E45FE-069C-48FA-A846-3C8F241590F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03f12e3785490b"/>
          <a:stretch xmlns:a="http://schemas.openxmlformats.org/drawingml/2006/main"/>
        </p:blipFill>
        <p:spPr>
          <a:xfrm xmlns:a="http://schemas.openxmlformats.org/drawingml/2006/main">
            <a:off x="3147711" y="1762125"/>
            <a:ext cx="5896578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F2EB02C-AACE-4467-8DBA-F95AA0DC1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Training loss by optimization iteration.</a:t>
            </a:r>
          </a:p>
        </p:txBody>
      </p:sp>
    </p:spTree>
    <p:extLst>
      <p:ext uri="{BB962C8B-B14F-4D97-AF65-F5344CB8AC3E}">
        <p14:creationId xmlns:p14="http://schemas.microsoft.com/office/powerpoint/2010/main" val="45375153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3B09FF8-B39C-4892-A76A-19851F27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1A4BD0C-F629-4240-BE7D-37AADED5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XGBoost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61493F6-6550-4D97-9488-E6E631416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981EF8A-76D3-4269-BB59-40C85830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30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2577B-A20E-455B-830C-D609E1661B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b6d508a0f64fcb"/>
          <a:stretch xmlns:a="http://schemas.openxmlformats.org/drawingml/2006/main"/>
        </p:blipFill>
        <p:spPr>
          <a:xfrm xmlns:a="http://schemas.openxmlformats.org/drawingml/2006/main">
            <a:off x="3082642" y="1762125"/>
            <a:ext cx="6026715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FBC62D6-6FED-4E59-B97E-3ED9E3DF3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Feature codes are anonymized. Compare their stability and feature families without assigning unsupported business meanings.</a:t>
            </a:r>
          </a:p>
        </p:txBody>
      </p:sp>
    </p:spTree>
    <p:extLst>
      <p:ext uri="{BB962C8B-B14F-4D97-AF65-F5344CB8AC3E}">
        <p14:creationId xmlns:p14="http://schemas.microsoft.com/office/powerpoint/2010/main" val="1058939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D4446B68-5630-42E1-81B4-872CCB7A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75A3EE7-DCE6-4515-889A-30B1F316C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CatBoost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01599BA0-0BCA-4C05-81A4-944D7C30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6E42D6E-E16E-4573-A6FD-D9AA21D87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31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6F05ED-F39A-479C-A2BC-4497C0BD01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630df959694362"/>
          <a:stretch xmlns:a="http://schemas.openxmlformats.org/drawingml/2006/main"/>
        </p:blipFill>
        <p:spPr>
          <a:xfrm xmlns:a="http://schemas.openxmlformats.org/drawingml/2006/main">
            <a:off x="3082642" y="1762125"/>
            <a:ext cx="6026715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C81BFB5-E65B-4964-9A42-0DF30608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Feature codes are anonymized. Compare their stability and feature families without assigning unsupported business meanings.</a:t>
            </a:r>
          </a:p>
        </p:txBody>
      </p:sp>
    </p:spTree>
    <p:extLst>
      <p:ext uri="{BB962C8B-B14F-4D97-AF65-F5344CB8AC3E}">
        <p14:creationId xmlns:p14="http://schemas.microsoft.com/office/powerpoint/2010/main" val="5243012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9648931-373D-4C2D-92DF-49E39027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093BDAD-CFC9-4D52-A7D2-23D75A4D8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LightGBM feature importance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63FB586-6EDB-4155-A914-52BE931BF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6EF5615D-CD04-4017-9A12-41F279DA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32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963DE-708F-4858-8221-980C535756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386dc495424a5b"/>
          <a:stretch xmlns:a="http://schemas.openxmlformats.org/drawingml/2006/main"/>
        </p:blipFill>
        <p:spPr>
          <a:xfrm xmlns:a="http://schemas.openxmlformats.org/drawingml/2006/main">
            <a:off x="3082642" y="1762125"/>
            <a:ext cx="6026715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24EB059F-1D54-4EDE-A3A4-5FC9F473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Feature codes are anonymized. Compare their stability and feature families without assigning unsupported business meanings.</a:t>
            </a:r>
          </a:p>
        </p:txBody>
      </p:sp>
    </p:spTree>
    <p:extLst>
      <p:ext uri="{BB962C8B-B14F-4D97-AF65-F5344CB8AC3E}">
        <p14:creationId xmlns:p14="http://schemas.microsoft.com/office/powerpoint/2010/main" val="1246710931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B264790-A17A-462C-ADA1-BDCF83FDD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48D80AE-36C6-460F-948A-F988F380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Review capacity results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D42F42C-1F78-4F0F-80E0-685C3EB8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0B2D002-3F8C-47B8-BB29-A52351B2F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33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1CCB59-6134-4119-8987-ADAE7CD798E5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47672"/>
                <a:gridCol w="2055876"/>
                <a:gridCol w="2272284"/>
                <a:gridCol w="2272284"/>
                <a:gridCol w="2272284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Reviewed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Applicants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Precision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Lift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1.1%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90.0%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4.0%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3.66×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5.0%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95.7%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19.5%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3.89×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10.0%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91.3%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37.2%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3.71×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20.0%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87.0%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70.8%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3.53×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4CB562CD-1400-4A43-839C-9B479A1B5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Random Forest. Highest scores selected first. Capacity is the share reviewed.</a:t>
            </a:r>
          </a:p>
        </p:txBody>
      </p:sp>
    </p:spTree>
    <p:extLst>
      <p:ext uri="{BB962C8B-B14F-4D97-AF65-F5344CB8AC3E}">
        <p14:creationId xmlns:p14="http://schemas.microsoft.com/office/powerpoint/2010/main" val="111105410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EA19A50F-381C-4631-AA62-8B07B56CC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A1745D1-B5D6-4738-8288-5E82A2EA9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Confusion matrix at 0.5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F1342755-9BCA-40E7-AA25-9AFD78FD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9A9A5436-ACAC-444D-A14C-1120816D5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34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CF148-4011-4852-9E6F-3D70980E3E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0b1da3b4f7400a"/>
          <a:stretch xmlns:a="http://schemas.openxmlformats.org/drawingml/2006/main"/>
        </p:blipFill>
        <p:spPr>
          <a:xfrm xmlns:a="http://schemas.openxmlformats.org/drawingml/2006/main">
            <a:off x="3654251" y="1762125"/>
            <a:ext cx="4883497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0CA89142-07E4-439D-8A80-FCC2E63BD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Rows show actual classes. Columns show predicted classes.</a:t>
            </a:r>
          </a:p>
        </p:txBody>
      </p:sp>
    </p:spTree>
    <p:extLst>
      <p:ext uri="{BB962C8B-B14F-4D97-AF65-F5344CB8AC3E}">
        <p14:creationId xmlns:p14="http://schemas.microsoft.com/office/powerpoint/2010/main" val="651638876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FA9CB084-BC82-4BA0-B856-CBB431B5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E09EB17-14AD-4585-A982-548767DC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Threshold results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E53DBCD9-14FA-486C-B86F-8BA13F21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EF2427B-A447-42C8-85AD-13EBDB6E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35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0B6E4-1004-4FB0-895C-2F351D975256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2921508"/>
                <a:gridCol w="2921508"/>
                <a:gridCol w="2813304"/>
              </a:tblGrid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Cutoff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Flagged share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Precision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0.1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49.3%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49.4%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99.1%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39.8%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60.3%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97.3%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33.7%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68.0%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92.9%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23.5%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82.9%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79.2%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79F5D8D3-B7F7-4509-9599-599FD1C8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Random Forest. Cutoffs are descriptive test results. Select the operating rule using validation data.</a:t>
            </a:r>
          </a:p>
        </p:txBody>
      </p:sp>
    </p:spTree>
    <p:extLst>
      <p:ext uri="{BB962C8B-B14F-4D97-AF65-F5344CB8AC3E}">
        <p14:creationId xmlns:p14="http://schemas.microsoft.com/office/powerpoint/2010/main" val="60950387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E16CD009-4141-434E-9344-FD6FF24B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3394453-53E0-4667-AF22-918366C7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Calibration results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5F19998C-9ED3-459B-ACCF-C8DB576A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2AF216A-DDA1-4264-A503-1BC5B723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36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F16CB5-C17C-415C-BA00-ACD00FF9791D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800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13304"/>
                <a:gridCol w="2164080"/>
                <a:gridCol w="2921508"/>
                <a:gridCol w="2921508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Risk group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cases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Mean prediction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Observed positive rate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Q1 lowest risk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0.45%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Q2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2.87%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0.00%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Q3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10.78%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3.26%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Q4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37.80%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33.33%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Q5 highest risk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75.53%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86.89%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BE6D0A4B-5158-4FAE-9671-D3843E6B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Random Forest. Equal-count score groups compare average risk with observed outcomes.</a:t>
            </a:r>
          </a:p>
        </p:txBody>
      </p:sp>
    </p:spTree>
    <p:extLst>
      <p:ext uri="{BB962C8B-B14F-4D97-AF65-F5344CB8AC3E}">
        <p14:creationId xmlns:p14="http://schemas.microsoft.com/office/powerpoint/2010/main" val="135002922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15FCFE03-AF5D-4AD1-B421-0064EDE0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CB94A9B-63EF-4114-947C-809861E1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Application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250CA81-175F-4528-A529-3658CA25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EE94B68E-C46F-4819-9F1F-C5A235EE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37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B0148-D8F4-4067-BCE4-8B5E59CA3C01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05100"/>
                <a:gridCol w="8115300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Topic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Application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Snapshot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Columnwise last-nonmissing values can combine several statement dates.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History features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 last-minus-first changes, means, variability and observation counts.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Metric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Compute the official competition metric before selecting a competition submission.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575514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87DFF02B-0EC4-4F0A-AFC0-0B44C584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3D1F3215-AAEA-45EF-B699-48225CBE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selection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B0E5782-20C4-4B70-BD9B-47D97434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0A670F2B-4432-4F0A-9212-B80374E0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38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4B73927-E2C9-48DA-9315-D0549757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include penalized linear models?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6BCE6A2-EE4B-4B0A-94E2-F4B805EE0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Ridge uses L2 shrinkage to stabilize coefficients. Lasso uses L1 to encourage zeros. Elastic Net combines the penalties. Logistic models use the same penalty types for classification.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066F7BCB-977A-4994-909A-17ABAAD4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standardize the predictors?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888C72D6-2E55-473A-BEB1-67D0BDE4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Penalties and distance calculations depend on feature units. Scaling also helps neural-network optimization. Estimate the scaling parameters from training data.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0A36218-1E00-42E7-BA42-E2A495216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include stacking?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8CAC0AF-2DC3-4973-8ADC-EA16BADC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It does not improve the leading individual model here. Combining models helps only when their errors are sufficiently different. Compare its gain with inference and maintenance cost.</a:t>
            </a:r>
          </a:p>
        </p:txBody>
      </p:sp>
    </p:spTree>
    <p:extLst>
      <p:ext uri="{BB962C8B-B14F-4D97-AF65-F5344CB8AC3E}">
        <p14:creationId xmlns:p14="http://schemas.microsoft.com/office/powerpoint/2010/main" val="47531711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0">
            <a:extLst xmlns:a="http://schemas.openxmlformats.org/drawingml/2006/main">
              <a:ext uri="{FF2B5EF4-FFF2-40B4-BE49-F238E27FC236}">
                <a16:creationId xmlns:a16="http://schemas.microsoft.com/office/drawing/2014/main" id="{6A003415-07CD-4AD1-BD57-F0DD0761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6833952-DBE1-4A1D-99BC-489DFBB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interpretation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F4370FC-BB8A-47B9-9ED7-3CC7DFA6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FA5FC4EC-3D56-4A81-B4C1-51834854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39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8AF164A2-BB1F-4874-8EC8-810093A9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How do forests and boosting differ?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DD7C2A08-4364-40CB-9F77-EB151E3BE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Random Forest averages trees trained with randomized rows and features. Boosting adds trees sequentially to reduce the chosen loss.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D22A1F6-5798-40B8-8178-D2BFA010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What does feature importance mean?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57B2E09-8F6B-44E2-A7F3-B1D39657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It describes how the fitted model uses its inputs. Related predictors can share importance. A high value does not establish a causal effect.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7A25AFF5-2853-43D4-8DE2-AC7B886F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What do the resampling intervals cover?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B4E2A72-AA52-44D3-8733-926EC02AB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3868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They measure variation in the available test predictions with the fitted models fixed. A new split also tests sensitivity to training and model selection.</a:t>
            </a:r>
          </a:p>
        </p:txBody>
      </p:sp>
    </p:spTree>
    <p:extLst>
      <p:ext uri="{BB962C8B-B14F-4D97-AF65-F5344CB8AC3E}">
        <p14:creationId xmlns:p14="http://schemas.microsoft.com/office/powerpoint/2010/main" val="166720641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04B581DE-9F11-4A35-A02A-8C31BF26B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96D04495-49F9-44B6-ACC3-2439B75C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Data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8C4F58B-44A1-46A1-BC80-F153558E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5835A17-E1A9-4EE7-84C4-727F81BC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40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3CB999A9-6FFB-4A21-8E87-664BFC1A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Why split by customer?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74E5B4B-BF6D-4D40-8DF6-D41E646B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Statements from one customer share history and the same outcome. Keep all statements for a customer in one partition.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7634E63D-6C2B-44F6-BE2D-2DFAB424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Does last() select one complete final statement?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F454F724-AA82-4F3F-A3B4-A241262F4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It selects the last nonmissing value separately for each column. Use the final row when all snapshot fields must refer to the same date.</a:t>
            </a:r>
          </a:p>
        </p:txBody>
      </p:sp>
    </p:spTree>
    <p:extLst>
      <p:ext uri="{BB962C8B-B14F-4D97-AF65-F5344CB8AC3E}">
        <p14:creationId xmlns:p14="http://schemas.microsoft.com/office/powerpoint/2010/main" val="1807587880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0">
            <a:extLst xmlns:a="http://schemas.openxmlformats.org/drawingml/2006/main">
              <a:ext uri="{FF2B5EF4-FFF2-40B4-BE49-F238E27FC236}">
                <a16:creationId xmlns:a16="http://schemas.microsoft.com/office/drawing/2014/main" id="{0DAF9D75-BC8A-4AF4-AEA2-F578412B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A05C2F59-3C47-417A-826A-FFAF149C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Results Q&amp;A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335A4573-D565-4FEF-97FB-960A18F6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53827874-4EB5-4627-A5FD-FD4CCAF3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41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F04356E8-3145-4FB3-A35D-DC7B8E95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Is Random Forest clearly best?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E4183E4A-3E81-43A0-BFD0-8F8823D6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Its AUC lead over stacking is only 0.00014. Compare customer folds, probability quality and the official competition metric.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F932FB5-F969-4309-BF5E-6C94C5C28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820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What features would you add?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42B9EF24-29C1-44F1-8C22-D3694370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2813"/>
            <a:ext cx="10820400" cy="6810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Test first-to-last changes, trends, variability and observation counts. Measure the value of each history feature group.</a:t>
            </a:r>
          </a:p>
        </p:txBody>
      </p:sp>
    </p:spTree>
    <p:extLst>
      <p:ext uri="{BB962C8B-B14F-4D97-AF65-F5344CB8AC3E}">
        <p14:creationId xmlns:p14="http://schemas.microsoft.com/office/powerpoint/2010/main" val="1595023791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6D5424F2-8982-4699-808E-92C810B3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4782E8A-8213-4B8E-A856-5ACDF50F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ROC curves and model ranking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47521C5-834B-4BC2-94AC-D35B36AF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EB4575D-2950-406D-A234-73EDF80B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42 / 48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65649-067C-4ED6-A6B7-C4F2449529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875653164d449e"/>
          <a:stretch xmlns:a="http://schemas.openxmlformats.org/drawingml/2006/main"/>
        </p:blipFill>
        <p:spPr>
          <a:xfrm xmlns:a="http://schemas.openxmlformats.org/drawingml/2006/main">
            <a:off x="1378254" y="1762125"/>
            <a:ext cx="9435491" cy="3981450"/>
          </a:xfrm>
          <a:prstGeom xmlns:a="http://schemas.openxmlformats.org/drawingml/2006/main" prst="rect">
            <a:avLst/>
          </a:prstGeom>
        </p:spPr>
      </p:pic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A600327A-5B6A-4ABF-9723-6134CA42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ROC curves and test results for the individual models. Stacking appears in the full results tables.</a:t>
            </a:r>
          </a:p>
        </p:txBody>
      </p:sp>
    </p:spTree>
    <p:extLst>
      <p:ext uri="{BB962C8B-B14F-4D97-AF65-F5344CB8AC3E}">
        <p14:creationId xmlns:p14="http://schemas.microsoft.com/office/powerpoint/2010/main" val="15497970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A5AB25DD-98E0-48CA-884C-E4FFFD685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D851CE80-7158-488E-AC69-16B911F35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Full results (1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714C387-3A51-4A40-AD24-B200BAF5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353E8B90-E22E-43EC-8E07-0916ABAE8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43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0A72E-A9B5-4247-8B7E-CB596300CEEC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1298448"/>
                <a:gridCol w="1298448"/>
                <a:gridCol w="1298448"/>
                <a:gridCol w="1298448"/>
                <a:gridCol w="1298448"/>
                <a:gridCol w="1298448"/>
              </a:tblGrid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AUC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Accuracy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Precision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 loss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0.9627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0.9085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0.8287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0.7920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0.8100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0.2393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Stacking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0.9626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0.9063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0.8211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0.7920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0.8063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0.2255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0.9623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0.9096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0.8206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0.8097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0.8151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0.2161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Forest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0.9623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0.9096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0.8295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0.7965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0.8126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0.2406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L2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0.9608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0.9052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0.8357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0.7655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0.7991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0.2253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0.9590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0.9020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0.8119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0.7832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0.7973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0.2273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0.9587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0.8965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0.8047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0.7655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0.7846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0.2259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0.9582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0.8965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0.8075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0.7611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0.7836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0.3361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0100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0.9582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0.8965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0.8075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0.7611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0.7836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0.3361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6507A282-01CB-4EF5-911B-760456A0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Precision, recall and F1 use cutoff 0.5. All configurations use the same test applicants.</a:t>
            </a:r>
          </a:p>
        </p:txBody>
      </p:sp>
    </p:spTree>
    <p:extLst>
      <p:ext uri="{BB962C8B-B14F-4D97-AF65-F5344CB8AC3E}">
        <p14:creationId xmlns:p14="http://schemas.microsoft.com/office/powerpoint/2010/main" val="209350254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C969D9BD-4373-40CC-870C-3F01E51C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B4AC6524-E3D6-4A70-BE74-A7BDAC16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Full results (2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70D974D7-1D55-4443-90A3-E0D25247D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71C93C8-DD44-4C0A-9324-92511D766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44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AD8379-FEEB-4CAC-A2AF-12DC8428F6C9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1298448"/>
                <a:gridCol w="1298448"/>
                <a:gridCol w="1298448"/>
                <a:gridCol w="1298448"/>
                <a:gridCol w="1298448"/>
                <a:gridCol w="1298448"/>
              </a:tblGrid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AUC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Accuracy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Precision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Recall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 loss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0.9581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0.8987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0.8122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0.7655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0.7882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0.2446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Elastic Net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0.9569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0.9031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0.8408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0.7478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0.7916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0.2450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L1 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0.9537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0.9020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0.8333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0.7522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0.7907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0.2326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0.9513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0.9020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0.8238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0.7655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0.7936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0.2457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0.9513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0.9031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0.8246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0.7699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0.7963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0.2456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0.9428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0.8758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0.8636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0.5885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0.7000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0.4033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 (tuned)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0.9428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0.8758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0.8636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0.5885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0.7000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0.4033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45558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0.9421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0.8954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0.8155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0.7434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0.7778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0.2721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3064B1B6-2167-44D3-B4EA-72B01C5E7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Precision, recall and F1 use cutoff 0.5. All configurations use the same test applicants.</a:t>
            </a:r>
          </a:p>
        </p:txBody>
      </p:sp>
    </p:spTree>
    <p:extLst>
      <p:ext uri="{BB962C8B-B14F-4D97-AF65-F5344CB8AC3E}">
        <p14:creationId xmlns:p14="http://schemas.microsoft.com/office/powerpoint/2010/main" val="1893835785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0">
            <a:extLst xmlns:a="http://schemas.openxmlformats.org/drawingml/2006/main">
              <a:ext uri="{FF2B5EF4-FFF2-40B4-BE49-F238E27FC236}">
                <a16:creationId xmlns:a16="http://schemas.microsoft.com/office/drawing/2014/main" id="{47561D5F-E289-481B-988B-D23BA187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12362B23-5260-427B-A777-1533FC7C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Model settings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14F1B267-FC52-4CD7-88B0-91931F6B6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F0CDB99-2782-4989-B8CE-C9553F9F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45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A8DD0C-A8B0-4C7F-A8C1-8558FC375DC7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3267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29712"/>
                <a:gridCol w="7790688"/>
              </a:tblGrid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Parameters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n_neighbors=15, weights='distance'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hidden_layer_sizes=(64, 32), alpha=0.0001, max_iter=500, early_stopping=True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n_estimators=300, max_depth=None, min_samples_leaf=2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n_estimators=500, learning_rate=0.05, max_depth=5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iterations=500, learning_rate=0.05, depth=6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n_estimators=500, learning_rate=0.05, num_leaves=31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4">
            <a:extLst xmlns:a="http://schemas.openxmlformats.org/drawingml/2006/main">
              <a:ext uri="{FF2B5EF4-FFF2-40B4-BE49-F238E27FC236}">
                <a16:creationId xmlns:a16="http://schemas.microsoft.com/office/drawing/2014/main" id="{E84F2D63-A7B6-4100-8AC7-BECD42E37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0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Searches use two folds and two candidates. Each selected estimator refits on the full training partition.</a:t>
            </a:r>
          </a:p>
        </p:txBody>
      </p:sp>
    </p:spTree>
    <p:extLst>
      <p:ext uri="{BB962C8B-B14F-4D97-AF65-F5344CB8AC3E}">
        <p14:creationId xmlns:p14="http://schemas.microsoft.com/office/powerpoint/2010/main" val="689342282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BB2AB977-18FD-42C3-8768-B90DF5FF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201845B3-25CD-4E4A-8C06-CBDF7EE3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Selected hyperparameters (1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92C9102-C71A-411C-BDE3-4E3CA2FC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76213E06-918D-4197-87AA-E4EA5BC3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46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881954-1D5B-4E6F-B6BD-FD1F90F1A694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8656320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Selected parameters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KNN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n_neighbors=15, p=2, weights=distance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MLP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hidden_layer_sizes=(64, 32), alpha=0.001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Random Forest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n_estimators=300, min_samples_leaf=5, max_depth=8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136534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A1263066-4344-4408-B731-6AC0AF48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0C91F128-F19F-418E-8967-A71798EA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Selected hyperparameters (2 of 2)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1ED5497-E10C-436C-960E-1D057A2B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8D066FAC-800E-4893-A983-04506E93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47 / 48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8CEDC2-5566-4E4B-BC20-0AE17E646E90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64080"/>
                <a:gridCol w="8656320"/>
              </a:tblGrid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Selected parameters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T w="6191">
                      <a:solidFill>
                        <a:srgbClr val="DAE3E5"/>
                      </a:solidFill>
                      <a:prstDash val="solid"/>
                    </a:lnT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EDF5F4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XGBoost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n_estimators=500, max_depth=5, learning_rate=0.03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CatBoost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learning_rate=0.05, iterations=500, depth=4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7C78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LightGBM</a:t>
                      </a:r>
                    </a:p>
                  </a:txBody>
                  <a:tcPr marL="123825" marR="123825" marT="38100" marB="38100" anchor="ctr">
                    <a:lnL w="6191">
                      <a:solidFill>
                        <a:srgbClr val="DAE3E5"/>
                      </a:solidFill>
                      <a:prstDash val="solid"/>
                    </a:lnL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83C4A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num_leaves=31, n_estimators=500, learning_rate=0.05</a:t>
                      </a:r>
                    </a:p>
                  </a:txBody>
                  <a:tcPr marL="123825" marR="123825" marT="38100" marB="38100" anchor="ctr">
                    <a:lnR w="6191">
                      <a:solidFill>
                        <a:srgbClr val="DAE3E5"/>
                      </a:solidFill>
                      <a:prstDash val="solid"/>
                    </a:lnR>
                    <a:lnB w="6191">
                      <a:solidFill>
                        <a:srgbClr val="DAE3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7308041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0">
            <a:extLst xmlns:a="http://schemas.openxmlformats.org/drawingml/2006/main">
              <a:ext uri="{FF2B5EF4-FFF2-40B4-BE49-F238E27FC236}">
                <a16:creationId xmlns:a16="http://schemas.microsoft.com/office/drawing/2014/main" id="{5CF76479-57B6-4F57-8EB3-6614C557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08 Appendix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45476E86-DE68-41FB-ADEF-F9C37555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Sources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42BCB00D-C1F9-4CE9-8314-B8A1205E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67475"/>
            <a:ext cx="933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American Express Default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2FD4C328-AC26-4C2E-9488-92DA6699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484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C6F78"/>
                </a:solidFill>
                <a:latin typeface="Helvetica Neue"/>
                <a:ea typeface="Helvetica Neue"/>
                <a:cs typeface="Helvetica Neue"/>
              </a:rPr>
              <a:t>48 / 48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5A1BFB30-E146-4BDE-9240-76C734CF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Dataset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892217E6-068C-4D01-8DE9-23FC124B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66938"/>
            <a:ext cx="51054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Kaggle American Express customer statements and labels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C8BD1E7A-15AB-4E0C-AD2F-934F71AB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9245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Project analysis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9928D6DC-C8E1-4602-90C6-E8529C7EB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5482"/>
            <a:ext cx="5105400" cy="3566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amex_default_tutorial.ipynb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B1C8B92A-89AF-42CB-80FC-6952B3F2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790700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Methods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E075C993-347A-4F5A-B050-CCB08EF9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66938"/>
            <a:ext cx="51054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scikit-learn, XGBoost, CatBoost and LightGBM documentation.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93F0C23A-A5EA-41DB-A3DE-42F5AEDE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99245"/>
            <a:ext cx="5105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7C78"/>
                </a:solidFill>
                <a:latin typeface="Helvetica Neue"/>
                <a:ea typeface="Helvetica Neue"/>
                <a:cs typeface="Helvetica Neue"/>
              </a:rPr>
              <a:t>Statistical analysis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933BAD3B-E864-4D87-B175-E6165853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75482"/>
            <a:ext cx="5105400" cy="6560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defPPr>
            <a:lvl1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83C4A"/>
                </a:solidFill>
                <a:latin typeface="Helvetica Neue"/>
                <a:ea typeface="Helvetica Neue"/>
                <a:cs typeface="Helvetica Neue"/>
              </a:rPr>
              <a:t>Paired resampling of test predictions, residual analysis and group-level error checks.</a:t>
            </a:r>
          </a:p>
        </p:txBody>
      </p:sp>
    </p:spTree>
    <p:extLst>
      <p:ext uri="{BB962C8B-B14F-4D97-AF65-F5344CB8AC3E}">
        <p14:creationId xmlns:p14="http://schemas.microsoft.com/office/powerpoint/2010/main" val="14864026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2026-10-19T13:17:46.0540000Z</dcterms:created>
  <dcterms:modified xsi:type="dcterms:W3CDTF">2026-10-19T13:17:46.0540000Z</dcterms:modified>
</coreProperties>
</file>