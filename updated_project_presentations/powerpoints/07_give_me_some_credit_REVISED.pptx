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03ac1c6ca49f1" /><Relationship Type="http://schemas.openxmlformats.org/officeDocument/2006/relationships/extended-properties" Target="/docProps/app.xml" Id="R149c376daf1a40bb" /><Relationship Type="http://schemas.openxmlformats.org/officeDocument/2006/relationships/officeDocument" Target="/ppt/presentation.xml" Id="R921813aa93bd40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1e0cf6d1d34ab0"/>
  </p:sldMasterIdLst>
  <p:notesMasterIdLst>
    <p:notesMasterId xmlns:r="http://schemas.openxmlformats.org/officeDocument/2006/relationships" r:id="Rcfae38582778405c"/>
  </p:notesMasterIdLst>
  <p:sldIdLst>
    <p:sldId xmlns:r="http://schemas.openxmlformats.org/officeDocument/2006/relationships" id="256" r:id="R8dda56a48c5046f2"/>
    <p:sldId xmlns:r="http://schemas.openxmlformats.org/officeDocument/2006/relationships" id="257" r:id="R93d8ea26ca8f47bd"/>
    <p:sldId xmlns:r="http://schemas.openxmlformats.org/officeDocument/2006/relationships" id="258" r:id="R52b23494c7594f60"/>
    <p:sldId xmlns:r="http://schemas.openxmlformats.org/officeDocument/2006/relationships" id="259" r:id="R594b629b8df847c9"/>
    <p:sldId xmlns:r="http://schemas.openxmlformats.org/officeDocument/2006/relationships" id="260" r:id="Rcd81472066fd4515"/>
    <p:sldId xmlns:r="http://schemas.openxmlformats.org/officeDocument/2006/relationships" id="261" r:id="Rb1cd2f1ed1cc404c"/>
    <p:sldId xmlns:r="http://schemas.openxmlformats.org/officeDocument/2006/relationships" id="262" r:id="Reb5fd88405764be1"/>
    <p:sldId xmlns:r="http://schemas.openxmlformats.org/officeDocument/2006/relationships" id="263" r:id="R90e4f951c1c54b9b"/>
    <p:sldId xmlns:r="http://schemas.openxmlformats.org/officeDocument/2006/relationships" id="264" r:id="R19f1360f7ace46f4"/>
    <p:sldId xmlns:r="http://schemas.openxmlformats.org/officeDocument/2006/relationships" id="265" r:id="R6fff8828bbc24dd2"/>
    <p:sldId xmlns:r="http://schemas.openxmlformats.org/officeDocument/2006/relationships" id="266" r:id="R12679c15ace74e82"/>
    <p:sldId xmlns:r="http://schemas.openxmlformats.org/officeDocument/2006/relationships" id="267" r:id="Rc890c38066fe434e"/>
    <p:sldId xmlns:r="http://schemas.openxmlformats.org/officeDocument/2006/relationships" id="268" r:id="R60cf1444d2e348e1"/>
    <p:sldId xmlns:r="http://schemas.openxmlformats.org/officeDocument/2006/relationships" id="269" r:id="Ra09ee7cc25e04ac4"/>
    <p:sldId xmlns:r="http://schemas.openxmlformats.org/officeDocument/2006/relationships" id="270" r:id="R714a9cbd6b8e4212"/>
    <p:sldId xmlns:r="http://schemas.openxmlformats.org/officeDocument/2006/relationships" id="271" r:id="R2bf2f0a458df4430"/>
    <p:sldId xmlns:r="http://schemas.openxmlformats.org/officeDocument/2006/relationships" id="272" r:id="R6dd1e6cb528f49df"/>
    <p:sldId xmlns:r="http://schemas.openxmlformats.org/officeDocument/2006/relationships" id="273" r:id="R7b3cf4969cb341fa"/>
    <p:sldId xmlns:r="http://schemas.openxmlformats.org/officeDocument/2006/relationships" id="274" r:id="Rbf38664a51b74d4f"/>
    <p:sldId xmlns:r="http://schemas.openxmlformats.org/officeDocument/2006/relationships" id="275" r:id="R1ce57137d4c94f71"/>
    <p:sldId xmlns:r="http://schemas.openxmlformats.org/officeDocument/2006/relationships" id="276" r:id="Rfe86e5dd95d84782"/>
    <p:sldId xmlns:r="http://schemas.openxmlformats.org/officeDocument/2006/relationships" id="277" r:id="Raac9d59cbe8e4f6a"/>
    <p:sldId xmlns:r="http://schemas.openxmlformats.org/officeDocument/2006/relationships" id="278" r:id="Rcd2c996f36464a54"/>
    <p:sldId xmlns:r="http://schemas.openxmlformats.org/officeDocument/2006/relationships" id="279" r:id="Ra06b68fd7f254147"/>
    <p:sldId xmlns:r="http://schemas.openxmlformats.org/officeDocument/2006/relationships" id="280" r:id="R99218575727f4a32"/>
    <p:sldId xmlns:r="http://schemas.openxmlformats.org/officeDocument/2006/relationships" id="281" r:id="Rd19ead9c627249ae"/>
    <p:sldId xmlns:r="http://schemas.openxmlformats.org/officeDocument/2006/relationships" id="282" r:id="R6719eedaec8240a0"/>
    <p:sldId xmlns:r="http://schemas.openxmlformats.org/officeDocument/2006/relationships" id="283" r:id="R25b3364b8c774dc2"/>
    <p:sldId xmlns:r="http://schemas.openxmlformats.org/officeDocument/2006/relationships" id="284" r:id="R68a284017ab24770"/>
    <p:sldId xmlns:r="http://schemas.openxmlformats.org/officeDocument/2006/relationships" id="285" r:id="R4b500f811b024fdc"/>
    <p:sldId xmlns:r="http://schemas.openxmlformats.org/officeDocument/2006/relationships" id="286" r:id="R634355b74e184053"/>
    <p:sldId xmlns:r="http://schemas.openxmlformats.org/officeDocument/2006/relationships" id="287" r:id="R257e2bd4aa364e0b"/>
    <p:sldId xmlns:r="http://schemas.openxmlformats.org/officeDocument/2006/relationships" id="288" r:id="Rd4413ff8b6c84af8"/>
    <p:sldId xmlns:r="http://schemas.openxmlformats.org/officeDocument/2006/relationships" id="289" r:id="Rdb38a550db7249e1"/>
    <p:sldId xmlns:r="http://schemas.openxmlformats.org/officeDocument/2006/relationships" id="290" r:id="Rffc13232a99f4f5c"/>
    <p:sldId xmlns:r="http://schemas.openxmlformats.org/officeDocument/2006/relationships" id="291" r:id="R475cec238f324cea"/>
    <p:sldId xmlns:r="http://schemas.openxmlformats.org/officeDocument/2006/relationships" id="292" r:id="Rc72061002452410b"/>
    <p:sldId xmlns:r="http://schemas.openxmlformats.org/officeDocument/2006/relationships" id="293" r:id="Rec2289f3244b4300"/>
    <p:sldId xmlns:r="http://schemas.openxmlformats.org/officeDocument/2006/relationships" id="294" r:id="R08338599cd9f4ee9"/>
    <p:sldId xmlns:r="http://schemas.openxmlformats.org/officeDocument/2006/relationships" id="295" r:id="R2b3ed6aceeb144c3"/>
    <p:sldId xmlns:r="http://schemas.openxmlformats.org/officeDocument/2006/relationships" id="296" r:id="R1e4474fbf05949b6"/>
    <p:sldId xmlns:r="http://schemas.openxmlformats.org/officeDocument/2006/relationships" id="297" r:id="Re5c11d4d8b4440a8"/>
    <p:sldId xmlns:r="http://schemas.openxmlformats.org/officeDocument/2006/relationships" id="298" r:id="R89f6bc9d4b6f4a82"/>
    <p:sldId xmlns:r="http://schemas.openxmlformats.org/officeDocument/2006/relationships" id="299" r:id="Rfb4ae09388c5469c"/>
    <p:sldId xmlns:r="http://schemas.openxmlformats.org/officeDocument/2006/relationships" id="300" r:id="Rb78cad4c5b4d4027"/>
    <p:sldId xmlns:r="http://schemas.openxmlformats.org/officeDocument/2006/relationships" id="301" r:id="Rec150b4d354446d3"/>
    <p:sldId xmlns:r="http://schemas.openxmlformats.org/officeDocument/2006/relationships" id="302" r:id="R5674dbb2ac9d41ba"/>
    <p:sldId xmlns:r="http://schemas.openxmlformats.org/officeDocument/2006/relationships" id="303" r:id="Re3263571e5d548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deb7aa7e543b9" /><Relationship Type="http://schemas.openxmlformats.org/officeDocument/2006/relationships/slideMaster" Target="/ppt/slideMasters/slideMaster1.xml" Id="R361e0cf6d1d34ab0" /><Relationship Type="http://schemas.openxmlformats.org/officeDocument/2006/relationships/notesMaster" Target="/ppt/notesMasters/notesMaster1.xml" Id="Rcfae38582778405c" /><Relationship Type="http://schemas.openxmlformats.org/officeDocument/2006/relationships/presProps" Target="/ppt/presProps.xml" Id="Rec0dc34dcdd34ea6" /><Relationship Type="http://schemas.openxmlformats.org/officeDocument/2006/relationships/tableStyles" Target="/ppt/tableStyles.xml" Id="R7200342affe44478" /><Relationship Type="http://schemas.openxmlformats.org/officeDocument/2006/relationships/slide" Target="/ppt/slides/slide1.xml" Id="R8dda56a48c5046f2" /><Relationship Type="http://schemas.openxmlformats.org/officeDocument/2006/relationships/slide" Target="/ppt/slides/slide2.xml" Id="R93d8ea26ca8f47bd" /><Relationship Type="http://schemas.openxmlformats.org/officeDocument/2006/relationships/slide" Target="/ppt/slides/slide3.xml" Id="R52b23494c7594f60" /><Relationship Type="http://schemas.openxmlformats.org/officeDocument/2006/relationships/slide" Target="/ppt/slides/slide4.xml" Id="R594b629b8df847c9" /><Relationship Type="http://schemas.openxmlformats.org/officeDocument/2006/relationships/slide" Target="/ppt/slides/slide5.xml" Id="Rcd81472066fd4515" /><Relationship Type="http://schemas.openxmlformats.org/officeDocument/2006/relationships/slide" Target="/ppt/slides/slide6.xml" Id="Rb1cd2f1ed1cc404c" /><Relationship Type="http://schemas.openxmlformats.org/officeDocument/2006/relationships/slide" Target="/ppt/slides/slide7.xml" Id="Reb5fd88405764be1" /><Relationship Type="http://schemas.openxmlformats.org/officeDocument/2006/relationships/slide" Target="/ppt/slides/slide8.xml" Id="R90e4f951c1c54b9b" /><Relationship Type="http://schemas.openxmlformats.org/officeDocument/2006/relationships/slide" Target="/ppt/slides/slide9.xml" Id="R19f1360f7ace46f4" /><Relationship Type="http://schemas.openxmlformats.org/officeDocument/2006/relationships/slide" Target="/ppt/slides/slide10.xml" Id="R6fff8828bbc24dd2" /><Relationship Type="http://schemas.openxmlformats.org/officeDocument/2006/relationships/slide" Target="/ppt/slides/slide11.xml" Id="R12679c15ace74e82" /><Relationship Type="http://schemas.openxmlformats.org/officeDocument/2006/relationships/slide" Target="/ppt/slides/slide12.xml" Id="Rc890c38066fe434e" /><Relationship Type="http://schemas.openxmlformats.org/officeDocument/2006/relationships/slide" Target="/ppt/slides/slide13.xml" Id="R60cf1444d2e348e1" /><Relationship Type="http://schemas.openxmlformats.org/officeDocument/2006/relationships/slide" Target="/ppt/slides/slide14.xml" Id="Ra09ee7cc25e04ac4" /><Relationship Type="http://schemas.openxmlformats.org/officeDocument/2006/relationships/slide" Target="/ppt/slides/slide15.xml" Id="R714a9cbd6b8e4212" /><Relationship Type="http://schemas.openxmlformats.org/officeDocument/2006/relationships/slide" Target="/ppt/slides/slide16.xml" Id="R2bf2f0a458df4430" /><Relationship Type="http://schemas.openxmlformats.org/officeDocument/2006/relationships/slide" Target="/ppt/slides/slide17.xml" Id="R6dd1e6cb528f49df" /><Relationship Type="http://schemas.openxmlformats.org/officeDocument/2006/relationships/slide" Target="/ppt/slides/slide18.xml" Id="R7b3cf4969cb341fa" /><Relationship Type="http://schemas.openxmlformats.org/officeDocument/2006/relationships/slide" Target="/ppt/slides/slide19.xml" Id="Rbf38664a51b74d4f" /><Relationship Type="http://schemas.openxmlformats.org/officeDocument/2006/relationships/slide" Target="/ppt/slides/slide20.xml" Id="R1ce57137d4c94f71" /><Relationship Type="http://schemas.openxmlformats.org/officeDocument/2006/relationships/slide" Target="/ppt/slides/slide21.xml" Id="Rfe86e5dd95d84782" /><Relationship Type="http://schemas.openxmlformats.org/officeDocument/2006/relationships/slide" Target="/ppt/slides/slide22.xml" Id="Raac9d59cbe8e4f6a" /><Relationship Type="http://schemas.openxmlformats.org/officeDocument/2006/relationships/slide" Target="/ppt/slides/slide23.xml" Id="Rcd2c996f36464a54" /><Relationship Type="http://schemas.openxmlformats.org/officeDocument/2006/relationships/slide" Target="/ppt/slides/slide24.xml" Id="Ra06b68fd7f254147" /><Relationship Type="http://schemas.openxmlformats.org/officeDocument/2006/relationships/slide" Target="/ppt/slides/slide25.xml" Id="R99218575727f4a32" /><Relationship Type="http://schemas.openxmlformats.org/officeDocument/2006/relationships/slide" Target="/ppt/slides/slide26.xml" Id="Rd19ead9c627249ae" /><Relationship Type="http://schemas.openxmlformats.org/officeDocument/2006/relationships/slide" Target="/ppt/slides/slide27.xml" Id="R6719eedaec8240a0" /><Relationship Type="http://schemas.openxmlformats.org/officeDocument/2006/relationships/slide" Target="/ppt/slides/slide28.xml" Id="R25b3364b8c774dc2" /><Relationship Type="http://schemas.openxmlformats.org/officeDocument/2006/relationships/slide" Target="/ppt/slides/slide29.xml" Id="R68a284017ab24770" /><Relationship Type="http://schemas.openxmlformats.org/officeDocument/2006/relationships/slide" Target="/ppt/slides/slide30.xml" Id="R4b500f811b024fdc" /><Relationship Type="http://schemas.openxmlformats.org/officeDocument/2006/relationships/slide" Target="/ppt/slides/slide31.xml" Id="R634355b74e184053" /><Relationship Type="http://schemas.openxmlformats.org/officeDocument/2006/relationships/slide" Target="/ppt/slides/slide32.xml" Id="R257e2bd4aa364e0b" /><Relationship Type="http://schemas.openxmlformats.org/officeDocument/2006/relationships/slide" Target="/ppt/slides/slide33.xml" Id="Rd4413ff8b6c84af8" /><Relationship Type="http://schemas.openxmlformats.org/officeDocument/2006/relationships/slide" Target="/ppt/slides/slide34.xml" Id="Rdb38a550db7249e1" /><Relationship Type="http://schemas.openxmlformats.org/officeDocument/2006/relationships/slide" Target="/ppt/slides/slide35.xml" Id="Rffc13232a99f4f5c" /><Relationship Type="http://schemas.openxmlformats.org/officeDocument/2006/relationships/slide" Target="/ppt/slides/slide36.xml" Id="R475cec238f324cea" /><Relationship Type="http://schemas.openxmlformats.org/officeDocument/2006/relationships/slide" Target="/ppt/slides/slide37.xml" Id="Rc72061002452410b" /><Relationship Type="http://schemas.openxmlformats.org/officeDocument/2006/relationships/slide" Target="/ppt/slides/slide38.xml" Id="Rec2289f3244b4300" /><Relationship Type="http://schemas.openxmlformats.org/officeDocument/2006/relationships/slide" Target="/ppt/slides/slide39.xml" Id="R08338599cd9f4ee9" /><Relationship Type="http://schemas.openxmlformats.org/officeDocument/2006/relationships/slide" Target="/ppt/slides/slide40.xml" Id="R2b3ed6aceeb144c3" /><Relationship Type="http://schemas.openxmlformats.org/officeDocument/2006/relationships/slide" Target="/ppt/slides/slide41.xml" Id="R1e4474fbf05949b6" /><Relationship Type="http://schemas.openxmlformats.org/officeDocument/2006/relationships/slide" Target="/ppt/slides/slide42.xml" Id="Re5c11d4d8b4440a8" /><Relationship Type="http://schemas.openxmlformats.org/officeDocument/2006/relationships/slide" Target="/ppt/slides/slide43.xml" Id="R89f6bc9d4b6f4a82" /><Relationship Type="http://schemas.openxmlformats.org/officeDocument/2006/relationships/slide" Target="/ppt/slides/slide44.xml" Id="Rfb4ae09388c5469c" /><Relationship Type="http://schemas.openxmlformats.org/officeDocument/2006/relationships/slide" Target="/ppt/slides/slide45.xml" Id="Rb78cad4c5b4d4027" /><Relationship Type="http://schemas.openxmlformats.org/officeDocument/2006/relationships/slide" Target="/ppt/slides/slide46.xml" Id="Rec150b4d354446d3" /><Relationship Type="http://schemas.openxmlformats.org/officeDocument/2006/relationships/slide" Target="/ppt/slides/slide47.xml" Id="R5674dbb2ac9d41ba" /><Relationship Type="http://schemas.openxmlformats.org/officeDocument/2006/relationships/slide" Target="/ppt/slides/slide48.xml" Id="Re3263571e5d548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eac121146d48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6a49c2b324c35" /><Relationship Type="http://schemas.openxmlformats.org/officeDocument/2006/relationships/notesMaster" Target="/ppt/notesMasters/notesMaster1.xml" Id="Ra15689762e1e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b35f5471e54856" /><Relationship Type="http://schemas.openxmlformats.org/officeDocument/2006/relationships/notesMaster" Target="/ppt/notesMasters/notesMaster1.xml" Id="Rcf8ea113720d4b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2e17ddc41a4cb5" /><Relationship Type="http://schemas.openxmlformats.org/officeDocument/2006/relationships/notesMaster" Target="/ppt/notesMasters/notesMaster1.xml" Id="Rc2b65e7868c841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48d9dd87c04233" /><Relationship Type="http://schemas.openxmlformats.org/officeDocument/2006/relationships/notesMaster" Target="/ppt/notesMasters/notesMaster1.xml" Id="R7e4dd8ec879348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9f3b855592473e" /><Relationship Type="http://schemas.openxmlformats.org/officeDocument/2006/relationships/notesMaster" Target="/ppt/notesMasters/notesMaster1.xml" Id="Rbdc87a0a0f3e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213d3207e94a34" /><Relationship Type="http://schemas.openxmlformats.org/officeDocument/2006/relationships/notesMaster" Target="/ppt/notesMasters/notesMaster1.xml" Id="Rafc1462d87d84b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84c79d48b0402d" /><Relationship Type="http://schemas.openxmlformats.org/officeDocument/2006/relationships/notesMaster" Target="/ppt/notesMasters/notesMaster1.xml" Id="Rd14f941f25d543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cbbc95265149df" /><Relationship Type="http://schemas.openxmlformats.org/officeDocument/2006/relationships/notesMaster" Target="/ppt/notesMasters/notesMaster1.xml" Id="Ra57f7097d7554d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79741398304eae" /><Relationship Type="http://schemas.openxmlformats.org/officeDocument/2006/relationships/notesMaster" Target="/ppt/notesMasters/notesMaster1.xml" Id="R5617341d8c104f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8346c2eec449bc" /><Relationship Type="http://schemas.openxmlformats.org/officeDocument/2006/relationships/notesMaster" Target="/ppt/notesMasters/notesMaster1.xml" Id="R6872de4e4c294b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30c06a82fe4935" /><Relationship Type="http://schemas.openxmlformats.org/officeDocument/2006/relationships/notesMaster" Target="/ppt/notesMasters/notesMaster1.xml" Id="R162a7973ce0f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f9b4a162d54f80" /><Relationship Type="http://schemas.openxmlformats.org/officeDocument/2006/relationships/notesMaster" Target="/ppt/notesMasters/notesMaster1.xml" Id="R3b9268d943c54e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52f92c97ed4475" /><Relationship Type="http://schemas.openxmlformats.org/officeDocument/2006/relationships/notesMaster" Target="/ppt/notesMasters/notesMaster1.xml" Id="R27ac6ab255094a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fbb0db8aab42d4" /><Relationship Type="http://schemas.openxmlformats.org/officeDocument/2006/relationships/notesMaster" Target="/ppt/notesMasters/notesMaster1.xml" Id="R18a7d0e629b546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3fa0279be7415e" /><Relationship Type="http://schemas.openxmlformats.org/officeDocument/2006/relationships/notesMaster" Target="/ppt/notesMasters/notesMaster1.xml" Id="R915d9f898c9e4b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f8ab7e44e040ed" /><Relationship Type="http://schemas.openxmlformats.org/officeDocument/2006/relationships/notesMaster" Target="/ppt/notesMasters/notesMaster1.xml" Id="R3c1c9d0c730445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2e83df542a4437" /><Relationship Type="http://schemas.openxmlformats.org/officeDocument/2006/relationships/notesMaster" Target="/ppt/notesMasters/notesMaster1.xml" Id="R1a9e01a75b5343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c8f64eb9584e71" /><Relationship Type="http://schemas.openxmlformats.org/officeDocument/2006/relationships/notesMaster" Target="/ppt/notesMasters/notesMaster1.xml" Id="R19aad93887a144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8c345d9aa34f5d" /><Relationship Type="http://schemas.openxmlformats.org/officeDocument/2006/relationships/notesMaster" Target="/ppt/notesMasters/notesMaster1.xml" Id="R1c8b7b4f2e954a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fe55bea10942cc" /><Relationship Type="http://schemas.openxmlformats.org/officeDocument/2006/relationships/notesMaster" Target="/ppt/notesMasters/notesMaster1.xml" Id="R79fb0d9592a548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410d30e2604f7f" /><Relationship Type="http://schemas.openxmlformats.org/officeDocument/2006/relationships/notesMaster" Target="/ppt/notesMasters/notesMaster1.xml" Id="R84c0ce4697e443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700b42bab04f3f" /><Relationship Type="http://schemas.openxmlformats.org/officeDocument/2006/relationships/notesMaster" Target="/ppt/notesMasters/notesMaster1.xml" Id="R3f1fd9ac9b4d4a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0e38188eea4f73" /><Relationship Type="http://schemas.openxmlformats.org/officeDocument/2006/relationships/notesMaster" Target="/ppt/notesMasters/notesMaster1.xml" Id="R64d1e5bb78dc43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3bf3d063a24f2d" /><Relationship Type="http://schemas.openxmlformats.org/officeDocument/2006/relationships/notesMaster" Target="/ppt/notesMasters/notesMaster1.xml" Id="Rdaf4cb53524543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605afadd214d47" /><Relationship Type="http://schemas.openxmlformats.org/officeDocument/2006/relationships/notesMaster" Target="/ppt/notesMasters/notesMaster1.xml" Id="Rfcbf5cf0a325480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b53dcad887467f" /><Relationship Type="http://schemas.openxmlformats.org/officeDocument/2006/relationships/notesMaster" Target="/ppt/notesMasters/notesMaster1.xml" Id="R1c8782c5266e4fe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2290782ee234a54" /><Relationship Type="http://schemas.openxmlformats.org/officeDocument/2006/relationships/notesMaster" Target="/ppt/notesMasters/notesMaster1.xml" Id="R397a5d553773411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b769e9a40fc4f42" /><Relationship Type="http://schemas.openxmlformats.org/officeDocument/2006/relationships/notesMaster" Target="/ppt/notesMasters/notesMaster1.xml" Id="R2a413e0777f9494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f0b9d9d5f1144af" /><Relationship Type="http://schemas.openxmlformats.org/officeDocument/2006/relationships/notesMaster" Target="/ppt/notesMasters/notesMaster1.xml" Id="R6ba05470e96946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f39a0d20af54d95" /><Relationship Type="http://schemas.openxmlformats.org/officeDocument/2006/relationships/notesMaster" Target="/ppt/notesMasters/notesMaster1.xml" Id="Re1adb1543d9846a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c2978414e8a42b4" /><Relationship Type="http://schemas.openxmlformats.org/officeDocument/2006/relationships/notesMaster" Target="/ppt/notesMasters/notesMaster1.xml" Id="Rc3096f9bf0a54f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a0626a933c943e2" /><Relationship Type="http://schemas.openxmlformats.org/officeDocument/2006/relationships/notesMaster" Target="/ppt/notesMasters/notesMaster1.xml" Id="R29fefdb388f144f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c6de8e4f4934b98" /><Relationship Type="http://schemas.openxmlformats.org/officeDocument/2006/relationships/notesMaster" Target="/ppt/notesMasters/notesMaster1.xml" Id="R2d8c155fb6394e1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a8fcf8c22864595" /><Relationship Type="http://schemas.openxmlformats.org/officeDocument/2006/relationships/notesMaster" Target="/ppt/notesMasters/notesMaster1.xml" Id="Rd41636ab28e2428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11d7d71215b4c95" /><Relationship Type="http://schemas.openxmlformats.org/officeDocument/2006/relationships/notesMaster" Target="/ppt/notesMasters/notesMaster1.xml" Id="R964d7abf9269444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54d2d0959854784" /><Relationship Type="http://schemas.openxmlformats.org/officeDocument/2006/relationships/notesMaster" Target="/ppt/notesMasters/notesMaster1.xml" Id="R24c8cadda92e48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56265d9b76844a7" /><Relationship Type="http://schemas.openxmlformats.org/officeDocument/2006/relationships/notesMaster" Target="/ppt/notesMasters/notesMaster1.xml" Id="R5d3fc11f3ac7413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e4769718afc4989" /><Relationship Type="http://schemas.openxmlformats.org/officeDocument/2006/relationships/notesMaster" Target="/ppt/notesMasters/notesMaster1.xml" Id="R88db24261ee34e2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cfd8236754c403b" /><Relationship Type="http://schemas.openxmlformats.org/officeDocument/2006/relationships/notesMaster" Target="/ppt/notesMasters/notesMaster1.xml" Id="R6e482603f9d9482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76be7504ccc490b" /><Relationship Type="http://schemas.openxmlformats.org/officeDocument/2006/relationships/notesMaster" Target="/ppt/notesMasters/notesMaster1.xml" Id="Rcc492a733415430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5039f04d92e4992" /><Relationship Type="http://schemas.openxmlformats.org/officeDocument/2006/relationships/notesMaster" Target="/ppt/notesMasters/notesMaster1.xml" Id="R77f2c3f23f304d7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535b961c04040fe" /><Relationship Type="http://schemas.openxmlformats.org/officeDocument/2006/relationships/notesMaster" Target="/ppt/notesMasters/notesMaster1.xml" Id="R653621f0b0da473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f0b256d941e4c86" /><Relationship Type="http://schemas.openxmlformats.org/officeDocument/2006/relationships/notesMaster" Target="/ppt/notesMasters/notesMaster1.xml" Id="R89896477b23941f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9ec1f7effbc4aef" /><Relationship Type="http://schemas.openxmlformats.org/officeDocument/2006/relationships/notesMaster" Target="/ppt/notesMasters/notesMaster1.xml" Id="R8b16c627c035475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eccb5a9225241b4" /><Relationship Type="http://schemas.openxmlformats.org/officeDocument/2006/relationships/notesMaster" Target="/ppt/notesMasters/notesMaster1.xml" Id="R6c50dc10dfa24ac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12e12aaa7dc44d3" /><Relationship Type="http://schemas.openxmlformats.org/officeDocument/2006/relationships/notesMaster" Target="/ppt/notesMasters/notesMaster1.xml" Id="Rf7049d622bfd487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d79130543df462c" /><Relationship Type="http://schemas.openxmlformats.org/officeDocument/2006/relationships/notesMaster" Target="/ppt/notesMasters/notesMaster1.xml" Id="R36d749bb846e424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11b3cbac7f54de9" /><Relationship Type="http://schemas.openxmlformats.org/officeDocument/2006/relationships/notesMaster" Target="/ppt/notesMasters/notesMaster1.xml" Id="R3704a1df4eed4e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{"CatBoost (tuned)": {"ROC_AUC": 0.8696363663087325, "Accuracy": 0.9365, "Precision": 0.5762195121951219, "Recall": 0.1885286783042394, "F1": 0.28410372040586246, "LogLoss": 0.1766425262758299}, "CatBoost": {"ROC_AUC": 0.8695257124201463, "Accuracy": 0.9363666666666667, "Precision": 0.5752351097178683, "Recall": 0.18304239401496258, "F1": 0.2777147181233447, "LogLoss": 0.17654621402754475}, "XGBoost (tuned)": {"ROC_AUC": 0.8689674545552531, "Accuracy": 0.9366666666666666, "Precision": 0.5806451612903226, "Recall": 0.1885286783042394, "F1": 0.28463855421686746, "LogLoss": 0.17679260671138763}, "RandomForest (tuned)": {"ROC_AUC": 0.8682972066173199, "Accuracy": 0.9362333333333334, "Precision": 0.5836363636363636, "Recall": 0.1600997506234414, "F1": 0.2512720156555773, "LogLoss": 0.1774147424463194}, "LightGBM (tuned)": {"ROC_AUC": 0.8681778764376789, "Accuracy": 0.9366666666666666, "Precision": 0.5808936825885979, "Recall": 0.18802992518703243, "F1": 0.28409947249434814, "LogLoss": 0.17700380871895993}, "XGBoost": {"ROC_AUC": 0.866489233248367, "Accuracy": 0.9360333333333334, "Precision": 0.5628654970760234, "Recall": 0.19201995012468828, "F1": 0.2863518036444775, "LogLoss": 0.17805200815200806}, "LightGBM": {"ROC_AUC": 0.8662377455183261, "Accuracy": 0.9359666666666666, "Precision": 0.562874251497006, "Recall": 0.18753117206982545, "F1": 0.28133183688739244, "LogLoss": 0.1781006852679014}, "Stacking": {"ROC_AUC": 0.8647012670146388, "Accuracy": 0.9360333333333334, "Precision": 0.5584239130434783, "Recall": 0.20498753117206983, "F1": 0.2998905508938344, "LogLoss": 0.18857205534705712}, "RandomForest": {"ROC_AUC": 0.8558033207746841, "Accuracy": 0.936, "Precision": 0.5677830940988836, "Recall": 0.17755610972568578, "F1": 0.270516717325228, "LogLoss": 0.1898006413742805}, "MLP": {"ROC_AUC": 0.8353242986479149, "Accuracy": 0.9355, "Precision": 0.553680981595092, "Recall": 0.1800498753117207, "F1": 0.2717350395182537, "LogLoss": 0.18876437408072258}, "MLP (tuned)": {"ROC_AUC": 0.8337623168369486, "Accuracy": 0.9344666666666667, "Precision": 0.5249679897567221, "Recall": 0.20448877805486285, "F1": 0.29432878679109836, "LogLoss": 0.18933674983812646}, "LogReg (L2)": {"ROC_AUC": 0.8168002925353164, "Accuracy": 0.9358, "Precision": 0.5920745920745921, "Recall": 0.12668329177057355, "F1": 0.20870994248151192, "LogLoss": 0.20209867836693093}, "LogReg (L1)": {"ROC_AUC": 0.8164336524290275, "Accuracy": 0.9358666666666666, "Precision": 0.5824847250509165, "Recall": 0.142643391521197, "F1": 0.22916666666666666, "LogLoss": 0.20037569643164985}, "LogReg (ElasticNet)": {"ROC_AUC": 0.8158014233927594, "Accuracy": 0.9358666666666666, "Precision": 0.5814889336016097, "Recall": 0.14413965087281796, "F1": 0.23101518784972022, "LogLoss": 0.20029194730927666}, "LogisticRegression": {"ROC_AUC": 0.8144810860863558, "Accuracy": 0.9360666666666667, "Precision": 0.5854616895874263, "Recall": 0.1486284289276808, "F1": 0.23707239459029436, "LogLoss": 0.20015314340915583}, "KNN": {"ROC_AUC": 0.7789980220016133, "Accuracy": 0.9316, "Precision": 0.46998722860791825, "Recall": 0.18354114713216957, "F1": 0.26398852223816355, "LogLoss": 0.639195029472109}, "KNN (tuned)": {"ROC_AUC": 0.7789980220016133, "Accuracy": 0.9316, "Precision": 0.46998722860791825, "Recall": 0.18354114713216957, "F1": 0.26398852223816355, "LogLoss": 0.639195029472109}}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figures/notebook/give_me_some_credit/cell_008_figure_1.png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a4c371ab.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LogisticRegression(C=1.0, max_iter=2000).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figures/give_me_some_credit/comparison.png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paired stratified row bootstrap. 1,000 paired resamples. Fitted models remain fixed.</a:t>
            </a:r>
          </a:p>
          <a:p xmlns:a="http://schemas.openxmlformats.org/drawingml/2006/main">
            <a:r>
              <a:t>[{"comparison": "CatBoost (tuned) versus XGBoost (tuned)", "other": "XGBoost (tuned)", "advantage": 0.0006689117534793843, "ci_low": -0.0005937522687297969, "ci_high": 0.0020104211252542107}, {"comparison": "CatBoost (tuned) versus Reference logistic", "other": "Reference logistic", "advantage": 0.0551552802223767, "ci_low": 0.04758234392586138, "ci_high": 0.06246994230800919}]</a:t>
            </a:r>
          </a:p>
          <a:p xmlns:a="http://schemas.openxmlformats.org/drawingml/2006/main">
            <a:r>
              <a:t>Figure: figures/give_me_some_credit/ranking_stability.png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figures/notebook/give_me_some_credit/cell_047_figure_1.png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d42356ca.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figures/give_me_some_credit/pr_calibration.png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Diagnostics use CatBoost (tuned)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figures/give_me_some_credit/review_capacity.png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Diagnostics use CatBoost (tuned)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{"CatBoost (tuned)": {"ROC_AUC": 0.8696363663087325, "Accuracy": 0.9365, "Precision": 0.5762195121951219, "Recall": 0.1885286783042394, "F1": 0.28410372040586246, "LogLoss": 0.1766425262758299}, "CatBoost": {"ROC_AUC": 0.8695257124201463, "Accuracy": 0.9363666666666667, "Precision": 0.5752351097178683, "Recall": 0.18304239401496258, "F1": 0.2777147181233447, "LogLoss": 0.17654621402754475}, "XGBoost (tuned)": {"ROC_AUC": 0.8689674545552531, "Accuracy": 0.9366666666666666, "Precision": 0.5806451612903226, "Recall": 0.1885286783042394, "F1": 0.28463855421686746, "LogLoss": 0.17679260671138763}, "RandomForest (tuned)": {"ROC_AUC": 0.8682972066173199, "Accuracy": 0.9362333333333334, "Precision": 0.5836363636363636, "Recall": 0.1600997506234414, "F1": 0.2512720156555773, "LogLoss": 0.1774147424463194}, "LightGBM (tuned)": {"ROC_AUC": 0.8681778764376789, "Accuracy": 0.9366666666666666, "Precision": 0.5808936825885979, "Recall": 0.18802992518703243, "F1": 0.28409947249434814, "LogLoss": 0.17700380871895993}, "XGBoost": {"ROC_AUC": 0.866489233248367, "Accuracy": 0.9360333333333334, "Precision": 0.5628654970760234, "Recall": 0.19201995012468828, "F1": 0.2863518036444775, "LogLoss": 0.17805200815200806}, "LightGBM": {"ROC_AUC": 0.8662377455183261, "Accuracy": 0.9359666666666666, "Precision": 0.562874251497006, "Recall": 0.18753117206982545, "F1": 0.28133183688739244, "LogLoss": 0.1781006852679014}, "Stacking": {"ROC_AUC": 0.8647012670146388, "Accuracy": 0.9360333333333334, "Precision": 0.5584239130434783, "Recall": 0.20498753117206983, "F1": 0.2998905508938344, "LogLoss": 0.18857205534705712}, "RandomForest": {"ROC_AUC": 0.8558033207746841, "Accuracy": 0.936, "Precision": 0.5677830940988836, "Recall": 0.17755610972568578, "F1": 0.270516717325228, "LogLoss": 0.1898006413742805}, "MLP": {"ROC_AUC": 0.8353242986479149, "Accuracy": 0.9355, "Precision": 0.553680981595092, "Recall": 0.1800498753117207, "F1": 0.2717350395182537, "LogLoss": 0.18876437408072258}, "MLP (tuned)": {"ROC_AUC": 0.8337623168369486, "Accuracy": 0.9344666666666667, "Precision": 0.5249679897567221, "Recall": 0.20448877805486285, "F1": 0.29432878679109836, "LogLoss": 0.18933674983812646}, "LogReg (L2)": {"ROC_AUC": 0.8168002925353164, "Accuracy": 0.9358, "Precision": 0.5920745920745921, "Recall": 0.12668329177057355, "F1": 0.20870994248151192, "LogLoss": 0.20209867836693093}, "LogReg (L1)": {"ROC_AUC": 0.8164336524290275, "Accuracy": 0.9358666666666666, "Precision": 0.5824847250509165, "Recall": 0.142643391521197, "F1": 0.22916666666666666, "LogLoss": 0.20037569643164985}, "LogReg (ElasticNet)": {"ROC_AUC": 0.8158014233927594, "Accuracy": 0.9358666666666666, "Precision": 0.5814889336016097, "Recall": 0.14413965087281796, "F1": 0.23101518784972022, "LogLoss": 0.20029194730927666}, "LogisticRegression": {"ROC_AUC": 0.8144810860863558, "Accuracy": 0.9360666666666667, "Precision": 0.5854616895874263, "Recall": 0.1486284289276808, "F1": 0.23707239459029436, "LogLoss": 0.20015314340915583}, "KNN": {"ROC_AUC": 0.7789980220016133, "Accuracy": 0.9316, "Precision": 0.46998722860791825, "Recall": 0.18354114713216957, "F1": 0.26398852223816355, "LogLoss": 0.639195029472109}, "KNN (tuned)": {"ROC_AUC": 0.7789980220016133, "Accuracy": 0.9316, "Precision": 0.46998722860791825, "Recall": 0.18354114713216957, "F1": 0.26398852223816355, "LogLoss": 0.639195029472109}}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{"CatBoost (tuned)": {"ROC_AUC": 0.8696363663087325, "Accuracy": 0.9365, "Precision": 0.5762195121951219, "Recall": 0.1885286783042394, "F1": 0.28410372040586246, "LogLoss": 0.1766425262758299}, "CatBoost": {"ROC_AUC": 0.8695257124201463, "Accuracy": 0.9363666666666667, "Precision": 0.5752351097178683, "Recall": 0.18304239401496258, "F1": 0.2777147181233447, "LogLoss": 0.17654621402754475}, "XGBoost (tuned)": {"ROC_AUC": 0.8689674545552531, "Accuracy": 0.9366666666666666, "Precision": 0.5806451612903226, "Recall": 0.1885286783042394, "F1": 0.28463855421686746, "LogLoss": 0.17679260671138763}, "RandomForest (tuned)": {"ROC_AUC": 0.8682972066173199, "Accuracy": 0.9362333333333334, "Precision": 0.5836363636363636, "Recall": 0.1600997506234414, "F1": 0.2512720156555773, "LogLoss": 0.1774147424463194}, "LightGBM (tuned)": {"ROC_AUC": 0.8681778764376789, "Accuracy": 0.9366666666666666, "Precision": 0.5808936825885979, "Recall": 0.18802992518703243, "F1": 0.28409947249434814, "LogLoss": 0.17700380871895993}, "XGBoost": {"ROC_AUC": 0.866489233248367, "Accuracy": 0.9360333333333334, "Precision": 0.5628654970760234, "Recall": 0.19201995012468828, "F1": 0.2863518036444775, "LogLoss": 0.17805200815200806}, "LightGBM": {"ROC_AUC": 0.8662377455183261, "Accuracy": 0.9359666666666666, "Precision": 0.562874251497006, "Recall": 0.18753117206982545, "F1": 0.28133183688739244, "LogLoss": 0.1781006852679014}, "Stacking": {"ROC_AUC": 0.8647012670146388, "Accuracy": 0.9360333333333334, "Precision": 0.5584239130434783, "Recall": 0.20498753117206983, "F1": 0.2998905508938344, "LogLoss": 0.18857205534705712}, "RandomForest": {"ROC_AUC": 0.8558033207746841, "Accuracy": 0.936, "Precision": 0.5677830940988836, "Recall": 0.17755610972568578, "F1": 0.270516717325228, "LogLoss": 0.1898006413742805}, "MLP": {"ROC_AUC": 0.8353242986479149, "Accuracy": 0.9355, "Precision": 0.553680981595092, "Recall": 0.1800498753117207, "F1": 0.2717350395182537, "LogLoss": 0.18876437408072258}, "MLP (tuned)": {"ROC_AUC": 0.8337623168369486, "Accuracy": 0.9344666666666667, "Precision": 0.5249679897567221, "Recall": 0.20448877805486285, "F1": 0.29432878679109836, "LogLoss": 0.18933674983812646}, "LogReg (L2)": {"ROC_AUC": 0.8168002925353164, "Accuracy": 0.9358, "Precision": 0.5920745920745921, "Recall": 0.12668329177057355, "F1": 0.20870994248151192, "LogLoss": 0.20209867836693093}, "LogReg (L1)": {"ROC_AUC": 0.8164336524290275, "Accuracy": 0.9358666666666666, "Precision": 0.5824847250509165, "Recall": 0.142643391521197, "F1": 0.22916666666666666, "LogLoss": 0.20037569643164985}, "LogReg (ElasticNet)": {"ROC_AUC": 0.8158014233927594, "Accuracy": 0.9358666666666666, "Precision": 0.5814889336016097, "Recall": 0.14413965087281796, "F1": 0.23101518784972022, "LogLoss": 0.20029194730927666}, "LogisticRegression": {"ROC_AUC": 0.8144810860863558, "Accuracy": 0.9360666666666667, "Precision": 0.5854616895874263, "Recall": 0.1486284289276808, "F1": 0.23707239459029436, "LogLoss": 0.20015314340915583}, "KNN": {"ROC_AUC": 0.7789980220016133, "Accuracy": 0.9316, "Precision": 0.46998722860791825, "Recall": 0.18354114713216957, "F1": 0.26398852223816355, "LogLoss": 0.639195029472109}, "KNN (tuned)": {"ROC_AUC": 0.7789980220016133, "Accuracy": 0.9316, "Precision": 0.46998722860791825, "Recall": 0.18354114713216957, "F1": 0.26398852223816355, "LogLoss": 0.639195029472109}}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{"CatBoost (tuned)": {"ROC_AUC": 0.8696363663087325, "Accuracy": 0.9365, "Precision": 0.5762195121951219, "Recall": 0.1885286783042394, "F1": 0.28410372040586246, "LogLoss": 0.1766425262758299}, "CatBoost": {"ROC_AUC": 0.8695257124201463, "Accuracy": 0.9363666666666667, "Precision": 0.5752351097178683, "Recall": 0.18304239401496258, "F1": 0.2777147181233447, "LogLoss": 0.17654621402754475}, "XGBoost (tuned)": {"ROC_AUC": 0.8689674545552531, "Accuracy": 0.9366666666666666, "Precision": 0.5806451612903226, "Recall": 0.1885286783042394, "F1": 0.28463855421686746, "LogLoss": 0.17679260671138763}, "RandomForest (tuned)": {"ROC_AUC": 0.8682972066173199, "Accuracy": 0.9362333333333334, "Precision": 0.5836363636363636, "Recall": 0.1600997506234414, "F1": 0.2512720156555773, "LogLoss": 0.1774147424463194}, "LightGBM (tuned)": {"ROC_AUC": 0.8681778764376789, "Accuracy": 0.9366666666666666, "Precision": 0.5808936825885979, "Recall": 0.18802992518703243, "F1": 0.28409947249434814, "LogLoss": 0.17700380871895993}, "XGBoost": {"ROC_AUC": 0.866489233248367, "Accuracy": 0.9360333333333334, "Precision": 0.5628654970760234, "Recall": 0.19201995012468828, "F1": 0.2863518036444775, "LogLoss": 0.17805200815200806}, "LightGBM": {"ROC_AUC": 0.8662377455183261, "Accuracy": 0.9359666666666666, "Precision": 0.562874251497006, "Recall": 0.18753117206982545, "F1": 0.28133183688739244, "LogLoss": 0.1781006852679014}, "Stacking": {"ROC_AUC": 0.8647012670146388, "Accuracy": 0.9360333333333334, "Precision": 0.5584239130434783, "Recall": 0.20498753117206983, "F1": 0.2998905508938344, "LogLoss": 0.18857205534705712}, "RandomForest": {"ROC_AUC": 0.8558033207746841, "Accuracy": 0.936, "Precision": 0.5677830940988836, "Recall": 0.17755610972568578, "F1": 0.270516717325228, "LogLoss": 0.1898006413742805}, "MLP": {"ROC_AUC": 0.8353242986479149, "Accuracy": 0.9355, "Precision": 0.553680981595092, "Recall": 0.1800498753117207, "F1": 0.2717350395182537, "LogLoss": 0.18876437408072258}, "MLP (tuned)": {"ROC_AUC": 0.8337623168369486, "Accuracy": 0.9344666666666667, "Precision": 0.5249679897567221, "Recall": 0.20448877805486285, "F1": 0.29432878679109836, "LogLoss": 0.18933674983812646}, "LogReg (L2)": {"ROC_AUC": 0.8168002925353164, "Accuracy": 0.9358, "Precision": 0.5920745920745921, "Recall": 0.12668329177057355, "F1": 0.20870994248151192, "LogLoss": 0.20209867836693093}, "LogReg (L1)": {"ROC_AUC": 0.8164336524290275, "Accuracy": 0.9358666666666666, "Precision": 0.5824847250509165, "Recall": 0.142643391521197, "F1": 0.22916666666666666, "LogLoss": 0.20037569643164985}, "LogReg (ElasticNet)": {"ROC_AUC": 0.8158014233927594, "Accuracy": 0.9358666666666666, "Precision": 0.5814889336016097, "Recall": 0.14413965087281796, "F1": 0.23101518784972022, "LogLoss": 0.20029194730927666}, "LogisticRegression": {"ROC_AUC": 0.8144810860863558, "Accuracy": 0.9360666666666667, "Precision": 0.5854616895874263, "Recall": 0.1486284289276808, "F1": 0.23707239459029436, "LogLoss": 0.20015314340915583}, "KNN": {"ROC_AUC": 0.7789980220016133, "Accuracy": 0.9316, "Precision": 0.46998722860791825, "Recall": 0.18354114713216957, "F1": 0.26398852223816355, "LogLoss": 0.639195029472109}, "KNN (tuned)": {"ROC_AUC": 0.7789980220016133, "Accuracy": 0.9316, "Precision": 0.46998722860791825, "Recall": 0.18354114713216957, "F1": 0.26398852223816355, "LogLoss": 0.639195029472109}}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figures/notebook/give_me_some_credit/cell_015_figure_1.png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b7246305.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figures/notebook/give_me_some_credit/cell_029_figure_1.png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104a6d9c.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figures/notebook/give_me_some_credit/cell_035_figure_1.png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3d7404df.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figures/notebook/give_me_some_credit/cell_041_figure_1.png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fb14f52c.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figures/notebook/give_me_some_credit/cell_053_figure_1.png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9dac3dda.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figures/notebook/give_me_some_credit/cell_060_figure_1.png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c2106393.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Figure: figures/notebook/give_me_some_credit/cell_059_figure_1.png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Notebook cell ID: f95c8d10.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{"CatBoost (tuned)": {"ROC_AUC": 0.8696363663087325, "Accuracy": 0.9365, "Precision": 0.5762195121951219, "Recall": 0.1885286783042394, "F1": 0.28410372040586246, "LogLoss": 0.1766425262758299}, "CatBoost": {"ROC_AUC": 0.8695257124201463, "Accuracy": 0.9363666666666667, "Precision": 0.5752351097178683, "Recall": 0.18304239401496258, "F1": 0.2777147181233447, "LogLoss": 0.17654621402754475}, "XGBoost (tuned)": {"ROC_AUC": 0.8689674545552531, "Accuracy": 0.9366666666666666, "Precision": 0.5806451612903226, "Recall": 0.1885286783042394, "F1": 0.28463855421686746, "LogLoss": 0.17679260671138763}, "RandomForest (tuned)": {"ROC_AUC": 0.8682972066173199, "Accuracy": 0.9362333333333334, "Precision": 0.5836363636363636, "Recall": 0.1600997506234414, "F1": 0.2512720156555773, "LogLoss": 0.1774147424463194}, "LightGBM (tuned)": {"ROC_AUC": 0.8681778764376789, "Accuracy": 0.9366666666666666, "Precision": 0.5808936825885979, "Recall": 0.18802992518703243, "F1": 0.28409947249434814, "LogLoss": 0.17700380871895993}, "XGBoost": {"ROC_AUC": 0.866489233248367, "Accuracy": 0.9360333333333334, "Precision": 0.5628654970760234, "Recall": 0.19201995012468828, "F1": 0.2863518036444775, "LogLoss": 0.17805200815200806}, "LightGBM": {"ROC_AUC": 0.8662377455183261, "Accuracy": 0.9359666666666666, "Precision": 0.562874251497006, "Recall": 0.18753117206982545, "F1": 0.28133183688739244, "LogLoss": 0.1781006852679014}, "Stacking": {"ROC_AUC": 0.8647012670146388, "Accuracy": 0.9360333333333334, "Precision": 0.5584239130434783, "Recall": 0.20498753117206983, "F1": 0.2998905508938344, "LogLoss": 0.18857205534705712}, "RandomForest": {"ROC_AUC": 0.8558033207746841, "Accuracy": 0.936, "Precision": 0.5677830940988836, "Recall": 0.17755610972568578, "F1": 0.270516717325228, "LogLoss": 0.1898006413742805}, "MLP": {"ROC_AUC": 0.8353242986479149, "Accuracy": 0.9355, "Precision": 0.553680981595092, "Recall": 0.1800498753117207, "F1": 0.2717350395182537, "LogLoss": 0.18876437408072258}, "MLP (tuned)": {"ROC_AUC": 0.8337623168369486, "Accuracy": 0.9344666666666667, "Precision": 0.5249679897567221, "Recall": 0.20448877805486285, "F1": 0.29432878679109836, "LogLoss": 0.18933674983812646}, "LogReg (L2)": {"ROC_AUC": 0.8168002925353164, "Accuracy": 0.9358, "Precision": 0.5920745920745921, "Recall": 0.12668329177057355, "F1": 0.20870994248151192, "LogLoss": 0.20209867836693093}, "LogReg (L1)": {"ROC_AUC": 0.8164336524290275, "Accuracy": 0.9358666666666666, "Precision": 0.5824847250509165, "Recall": 0.142643391521197, "F1": 0.22916666666666666, "LogLoss": 0.20037569643164985}, "LogReg (ElasticNet)": {"ROC_AUC": 0.8158014233927594, "Accuracy": 0.9358666666666666, "Precision": 0.5814889336016097, "Recall": 0.14413965087281796, "F1": 0.23101518784972022, "LogLoss": 0.20029194730927666}, "LogisticRegression": {"ROC_AUC": 0.8144810860863558, "Accuracy": 0.9360666666666667, "Precision": 0.5854616895874263, "Recall": 0.1486284289276808, "F1": 0.23707239459029436, "LogLoss": 0.20015314340915583}, "KNN": {"ROC_AUC": 0.7789980220016133, "Accuracy": 0.9316, "Precision": 0.46998722860791825, "Recall": 0.18354114713216957, "F1": 0.26398852223816355, "LogLoss": 0.639195029472109}, "KNN (tuned)": {"ROC_AUC": 0.7789980220016133, "Accuracy": 0.9316, "Precision": 0.46998722860791825, "Recall": 0.18354114713216957, "F1": 0.26398852223816355, "LogLoss": 0.639195029472109}}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  <a:p xmlns:a="http://schemas.openxmlformats.org/drawingml/2006/main">
            <a:r>
              <a:t>{"CatBoost (tuned)": {"ROC_AUC": 0.8696363663087325, "Accuracy": 0.9365, "Precision": 0.5762195121951219, "Recall": 0.1885286783042394, "F1": 0.28410372040586246, "LogLoss": 0.1766425262758299}, "CatBoost": {"ROC_AUC": 0.8695257124201463, "Accuracy": 0.9363666666666667, "Precision": 0.5752351097178683, "Recall": 0.18304239401496258, "F1": 0.2777147181233447, "LogLoss": 0.17654621402754475}, "XGBoost (tuned)": {"ROC_AUC": 0.8689674545552531, "Accuracy": 0.9366666666666666, "Precision": 0.5806451612903226, "Recall": 0.1885286783042394, "F1": 0.28463855421686746, "LogLoss": 0.17679260671138763}, "RandomForest (tuned)": {"ROC_AUC": 0.8682972066173199, "Accuracy": 0.9362333333333334, "Precision": 0.5836363636363636, "Recall": 0.1600997506234414, "F1": 0.2512720156555773, "LogLoss": 0.1774147424463194}, "LightGBM (tuned)": {"ROC_AUC": 0.8681778764376789, "Accuracy": 0.9366666666666666, "Precision": 0.5808936825885979, "Recall": 0.18802992518703243, "F1": 0.28409947249434814, "LogLoss": 0.17700380871895993}, "XGBoost": {"ROC_AUC": 0.866489233248367, "Accuracy": 0.9360333333333334, "Precision": 0.5628654970760234, "Recall": 0.19201995012468828, "F1": 0.2863518036444775, "LogLoss": 0.17805200815200806}, "LightGBM": {"ROC_AUC": 0.8662377455183261, "Accuracy": 0.9359666666666666, "Precision": 0.562874251497006, "Recall": 0.18753117206982545, "F1": 0.28133183688739244, "LogLoss": 0.1781006852679014}, "Stacking": {"ROC_AUC": 0.8647012670146388, "Accuracy": 0.9360333333333334, "Precision": 0.5584239130434783, "Recall": 0.20498753117206983, "F1": 0.2998905508938344, "LogLoss": 0.18857205534705712}, "RandomForest": {"ROC_AUC": 0.8558033207746841, "Accuracy": 0.936, "Precision": 0.5677830940988836, "Recall": 0.17755610972568578, "F1": 0.270516717325228, "LogLoss": 0.1898006413742805}, "MLP": {"ROC_AUC": 0.8353242986479149, "Accuracy": 0.9355, "Precision": 0.553680981595092, "Recall": 0.1800498753117207, "F1": 0.2717350395182537, "LogLoss": 0.18876437408072258}, "MLP (tuned)": {"ROC_AUC": 0.8337623168369486, "Accuracy": 0.9344666666666667, "Precision": 0.5249679897567221, "Recall": 0.20448877805486285, "F1": 0.29432878679109836, "LogLoss": 0.18933674983812646}, "LogReg (L2)": {"ROC_AUC": 0.8168002925353164, "Accuracy": 0.9358, "Precision": 0.5920745920745921, "Recall": 0.12668329177057355, "F1": 0.20870994248151192, "LogLoss": 0.20209867836693093}, "LogReg (L1)": {"ROC_AUC": 0.8164336524290275, "Accuracy": 0.9358666666666666, "Precision": 0.5824847250509165, "Recall": 0.142643391521197, "F1": 0.22916666666666666, "LogLoss": 0.20037569643164985}, "LogReg (ElasticNet)": {"ROC_AUC": 0.8158014233927594, "Accuracy": 0.9358666666666666, "Precision": 0.5814889336016097, "Recall": 0.14413965087281796, "F1": 0.23101518784972022, "LogLoss": 0.20029194730927666}, "LogisticRegression": {"ROC_AUC": 0.8144810860863558, "Accuracy": 0.9360666666666667, "Precision": 0.5854616895874263, "Recall": 0.1486284289276808, "F1": 0.23707239459029436, "LogLoss": 0.20015314340915583}, "KNN": {"ROC_AUC": 0.7789980220016133, "Accuracy": 0.9316, "Precision": 0.46998722860791825, "Recall": 0.18354114713216957, "F1": 0.26398852223816355, "LogLoss": 0.639195029472109}, "KNN (tuned)": {"ROC_AUC": 0.7789980220016133, "Accuracy": 0.9316, "Precision": 0.46998722860791825, "Recall": 0.18354114713216957, "F1": 0.26398852223816355, "LogLoss": 0.639195029472109}}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give_me_some_credit_tutorial.ipynb.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run_results/give_me_some_credit_tutorial/results.json.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28e78ab7947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28b1f9ac14d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d578670324a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9a84915c54d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4c4ae902848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1398fc7c744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A149E5-DFD3-450C-BF6A-9878450F21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1A428A-2551-4E33-8B10-66F9D193D4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E24195-3CC2-4DB4-B633-F1F115472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81BF16-E46A-4AB7-AE2C-B54B3689AF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9F1BBE-D467-40A0-8956-550A032342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7600A6-5242-4521-B950-5A337C07F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A37D08-12EF-4F21-8879-0BA660FE18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37433E-07AC-4B3A-86C5-1E7D8BDF75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37246A-5C57-43A7-AC2D-D265200D2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0D050D-7E71-497F-B388-14E806FF05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30bdd892f64f09" /><Relationship Type="http://schemas.openxmlformats.org/officeDocument/2006/relationships/slideLayout" Target="/ppt/slideLayouts/slideLayout1.xml" Id="R9488085a255b4ddc" /><Relationship Type="http://schemas.openxmlformats.org/officeDocument/2006/relationships/slideLayout" Target="/ppt/slideLayouts/slideLayout2.xml" Id="R7228a64883d74766" /><Relationship Type="http://schemas.openxmlformats.org/officeDocument/2006/relationships/slideLayout" Target="/ppt/slideLayouts/slideLayout3.xml" Id="Rf85303abc8d04d51" /><Relationship Type="http://schemas.openxmlformats.org/officeDocument/2006/relationships/slideLayout" Target="/ppt/slideLayouts/slideLayout4.xml" Id="Rcf016728df304369" /><Relationship Type="http://schemas.openxmlformats.org/officeDocument/2006/relationships/slideLayout" Target="/ppt/slideLayouts/slideLayout5.xml" Id="R467b53d1933d4c79" /><Relationship Type="http://schemas.openxmlformats.org/officeDocument/2006/relationships/slideLayout" Target="/ppt/slideLayouts/slideLayout6.xml" Id="R0a1a54343b8247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88085a255b4ddc"/>
    <p:sldLayoutId xmlns:r="http://schemas.openxmlformats.org/officeDocument/2006/relationships" id="2147483650" r:id="R7228a64883d74766"/>
    <p:sldLayoutId xmlns:r="http://schemas.openxmlformats.org/officeDocument/2006/relationships" id="2147483651" r:id="Rf85303abc8d04d51"/>
    <p:sldLayoutId xmlns:r="http://schemas.openxmlformats.org/officeDocument/2006/relationships" id="2147483652" r:id="Rcf016728df304369"/>
    <p:sldLayoutId xmlns:r="http://schemas.openxmlformats.org/officeDocument/2006/relationships" id="2147483653" r:id="R467b53d1933d4c79"/>
    <p:sldLayoutId xmlns:r="http://schemas.openxmlformats.org/officeDocument/2006/relationships" id="2147483654" r:id="R0a1a54343b8247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91ab19ce048f9" /><Relationship Type="http://schemas.openxmlformats.org/officeDocument/2006/relationships/notesSlide" Target="/ppt/notesSlides/notesSlide1.xml" Id="Ra8a7e32f3e174a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17bc1530f4e54" /><Relationship Type="http://schemas.openxmlformats.org/officeDocument/2006/relationships/notesSlide" Target="/ppt/notesSlides/notesSlide2.xml" Id="R9cb6aa4d57b845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29952312c4431" /><Relationship Type="http://schemas.openxmlformats.org/officeDocument/2006/relationships/notesSlide" Target="/ppt/notesSlides/notesSlide3.xml" Id="R6e4c46efb12440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5a43b022946e3" /><Relationship Type="http://schemas.openxmlformats.org/officeDocument/2006/relationships/notesSlide" Target="/ppt/notesSlides/notesSlide4.xml" Id="R9c2a40cbad074f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0953113494c0b" /><Relationship Type="http://schemas.openxmlformats.org/officeDocument/2006/relationships/notesSlide" Target="/ppt/notesSlides/notesSlide5.xml" Id="R39b6a66bc93147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cc9de7da04ca4" /><Relationship Type="http://schemas.openxmlformats.org/officeDocument/2006/relationships/image" Target="/ppt/media/image.png" Id="Raf9ba0f578f4468c" /><Relationship Type="http://schemas.openxmlformats.org/officeDocument/2006/relationships/notesSlide" Target="/ppt/notesSlides/notesSlide6.xml" Id="R14b59e01640943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0846a5cec4712" /><Relationship Type="http://schemas.openxmlformats.org/officeDocument/2006/relationships/notesSlide" Target="/ppt/notesSlides/notesSlide7.xml" Id="R2fefdd162f6d4b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bf8092b154f17" /><Relationship Type="http://schemas.openxmlformats.org/officeDocument/2006/relationships/notesSlide" Target="/ppt/notesSlides/notesSlide8.xml" Id="Rb90a489c5b7040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d13b5a58441a7" /><Relationship Type="http://schemas.openxmlformats.org/officeDocument/2006/relationships/notesSlide" Target="/ppt/notesSlides/notesSlide9.xml" Id="Rddcdefc9d9384a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140689d794c6b" /><Relationship Type="http://schemas.openxmlformats.org/officeDocument/2006/relationships/notesSlide" Target="/ppt/notesSlides/notesSlide10.xml" Id="Rf36238c0cf944a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6439fb65c4414" /><Relationship Type="http://schemas.openxmlformats.org/officeDocument/2006/relationships/notesSlide" Target="/ppt/notesSlides/notesSlide11.xml" Id="R1c682fd1bda141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560a3693e451e" /><Relationship Type="http://schemas.openxmlformats.org/officeDocument/2006/relationships/notesSlide" Target="/ppt/notesSlides/notesSlide12.xml" Id="Raca5b730bad746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2fe3aa2de4cdc" /><Relationship Type="http://schemas.openxmlformats.org/officeDocument/2006/relationships/notesSlide" Target="/ppt/notesSlides/notesSlide13.xml" Id="R88f8ad1a82544d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4d31f25044e1d" /><Relationship Type="http://schemas.openxmlformats.org/officeDocument/2006/relationships/notesSlide" Target="/ppt/notesSlides/notesSlide14.xml" Id="R9da7d7fded0942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88d732f30429d" /><Relationship Type="http://schemas.openxmlformats.org/officeDocument/2006/relationships/image" Target="/ppt/media/image2.png" Id="Rdb3208a1761b4109" /><Relationship Type="http://schemas.openxmlformats.org/officeDocument/2006/relationships/notesSlide" Target="/ppt/notesSlides/notesSlide15.xml" Id="Rb7969af6fe7e46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2be02e9674773" /><Relationship Type="http://schemas.openxmlformats.org/officeDocument/2006/relationships/image" Target="/ppt/media/image3.png" Id="R174fae8a6358468b" /><Relationship Type="http://schemas.openxmlformats.org/officeDocument/2006/relationships/notesSlide" Target="/ppt/notesSlides/notesSlide16.xml" Id="R72a0ae76af244a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34a82d6924a75" /><Relationship Type="http://schemas.openxmlformats.org/officeDocument/2006/relationships/image" Target="/ppt/media/image4.png" Id="Rb134deb84dbd4483" /><Relationship Type="http://schemas.openxmlformats.org/officeDocument/2006/relationships/notesSlide" Target="/ppt/notesSlides/notesSlide17.xml" Id="R28c3b1eb35fa47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a9bfb6fef4c95" /><Relationship Type="http://schemas.openxmlformats.org/officeDocument/2006/relationships/image" Target="/ppt/media/image5.png" Id="R1586c37570344e6c" /><Relationship Type="http://schemas.openxmlformats.org/officeDocument/2006/relationships/notesSlide" Target="/ppt/notesSlides/notesSlide18.xml" Id="R8866e1707f344a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51fbab78714976" /><Relationship Type="http://schemas.openxmlformats.org/officeDocument/2006/relationships/image" Target="/ppt/media/image6.png" Id="R54a18254a4fe46e2" /><Relationship Type="http://schemas.openxmlformats.org/officeDocument/2006/relationships/notesSlide" Target="/ppt/notesSlides/notesSlide19.xml" Id="Rd00eac350be644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a14f7b7834585" /><Relationship Type="http://schemas.openxmlformats.org/officeDocument/2006/relationships/notesSlide" Target="/ppt/notesSlides/notesSlide20.xml" Id="R7abfa796a4a04e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93cd7e5cc4ba0" /><Relationship Type="http://schemas.openxmlformats.org/officeDocument/2006/relationships/notesSlide" Target="/ppt/notesSlides/notesSlide21.xml" Id="R026eb6f6cd9c44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940b00c86444b" /><Relationship Type="http://schemas.openxmlformats.org/officeDocument/2006/relationships/notesSlide" Target="/ppt/notesSlides/notesSlide22.xml" Id="R2923f3d305ad4b4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e54d119824b66" /><Relationship Type="http://schemas.openxmlformats.org/officeDocument/2006/relationships/notesSlide" Target="/ppt/notesSlides/notesSlide23.xml" Id="R962b8c1d613b48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d4528d7054cec" /><Relationship Type="http://schemas.openxmlformats.org/officeDocument/2006/relationships/notesSlide" Target="/ppt/notesSlides/notesSlide24.xml" Id="R5ae5e31dcbbb4ad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b448011474e02" /><Relationship Type="http://schemas.openxmlformats.org/officeDocument/2006/relationships/notesSlide" Target="/ppt/notesSlides/notesSlide25.xml" Id="R52853ef382a644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ca6ca2e0242be" /><Relationship Type="http://schemas.openxmlformats.org/officeDocument/2006/relationships/notesSlide" Target="/ppt/notesSlides/notesSlide26.xml" Id="R16fd85cba1354e4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5e679766849b7" /><Relationship Type="http://schemas.openxmlformats.org/officeDocument/2006/relationships/notesSlide" Target="/ppt/notesSlides/notesSlide27.xml" Id="Rce6a57495ea0486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8be0806354461" /><Relationship Type="http://schemas.openxmlformats.org/officeDocument/2006/relationships/image" Target="/ppt/media/image7.png" Id="R21a411e3ee844bc0" /><Relationship Type="http://schemas.openxmlformats.org/officeDocument/2006/relationships/notesSlide" Target="/ppt/notesSlides/notesSlide28.xml" Id="R9a1f658ee200416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5e8cbeb68448f" /><Relationship Type="http://schemas.openxmlformats.org/officeDocument/2006/relationships/image" Target="/ppt/media/image8.png" Id="Rbbde202f91154b72" /><Relationship Type="http://schemas.openxmlformats.org/officeDocument/2006/relationships/notesSlide" Target="/ppt/notesSlides/notesSlide29.xml" Id="R85de1cfd55d448d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eb108d5fc4dbd" /><Relationship Type="http://schemas.openxmlformats.org/officeDocument/2006/relationships/image" Target="/ppt/media/image9.png" Id="R912ac580e09e4bbc" /><Relationship Type="http://schemas.openxmlformats.org/officeDocument/2006/relationships/notesSlide" Target="/ppt/notesSlides/notesSlide30.xml" Id="R4d6d350deff643c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1ee291cae41c1" /><Relationship Type="http://schemas.openxmlformats.org/officeDocument/2006/relationships/image" Target="/ppt/media/image10.png" Id="R6a41f17b22274ab7" /><Relationship Type="http://schemas.openxmlformats.org/officeDocument/2006/relationships/notesSlide" Target="/ppt/notesSlides/notesSlide31.xml" Id="Rac854575fa1641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79e9d16144fec" /><Relationship Type="http://schemas.openxmlformats.org/officeDocument/2006/relationships/image" Target="/ppt/media/image11.png" Id="R60a3731ef274455e" /><Relationship Type="http://schemas.openxmlformats.org/officeDocument/2006/relationships/notesSlide" Target="/ppt/notesSlides/notesSlide32.xml" Id="R907567140778486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587586a74d4810" /><Relationship Type="http://schemas.openxmlformats.org/officeDocument/2006/relationships/notesSlide" Target="/ppt/notesSlides/notesSlide33.xml" Id="R09082c55eb744f7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4aa7993404fd2" /><Relationship Type="http://schemas.openxmlformats.org/officeDocument/2006/relationships/image" Target="/ppt/media/image12.png" Id="R1e0563053c774bce" /><Relationship Type="http://schemas.openxmlformats.org/officeDocument/2006/relationships/notesSlide" Target="/ppt/notesSlides/notesSlide34.xml" Id="R9e22da372cdc404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418643d924147" /><Relationship Type="http://schemas.openxmlformats.org/officeDocument/2006/relationships/notesSlide" Target="/ppt/notesSlides/notesSlide35.xml" Id="R91476e998c2145c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f0969c6ae41c3" /><Relationship Type="http://schemas.openxmlformats.org/officeDocument/2006/relationships/notesSlide" Target="/ppt/notesSlides/notesSlide36.xml" Id="R99debe57bc4b491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af065b5e344df" /><Relationship Type="http://schemas.openxmlformats.org/officeDocument/2006/relationships/notesSlide" Target="/ppt/notesSlides/notesSlide37.xml" Id="R264465a448394fe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11234054c4fee" /><Relationship Type="http://schemas.openxmlformats.org/officeDocument/2006/relationships/notesSlide" Target="/ppt/notesSlides/notesSlide38.xml" Id="Rb164f8251fcc416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a08a43a314982" /><Relationship Type="http://schemas.openxmlformats.org/officeDocument/2006/relationships/notesSlide" Target="/ppt/notesSlides/notesSlide39.xml" Id="Rdaf5b31c97ec494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6fa287d1044ce" /><Relationship Type="http://schemas.openxmlformats.org/officeDocument/2006/relationships/notesSlide" Target="/ppt/notesSlides/notesSlide40.xml" Id="Rc03117787d86403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38be21cf042d1" /><Relationship Type="http://schemas.openxmlformats.org/officeDocument/2006/relationships/notesSlide" Target="/ppt/notesSlides/notesSlide41.xml" Id="R1eabe4ec18fd4d2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bd5d72b46498e" /><Relationship Type="http://schemas.openxmlformats.org/officeDocument/2006/relationships/image" Target="/ppt/media/image13.png" Id="R7ce7ba6e4f414738" /><Relationship Type="http://schemas.openxmlformats.org/officeDocument/2006/relationships/notesSlide" Target="/ppt/notesSlides/notesSlide42.xml" Id="Rff8117c32c6e40d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3970cc2f04218" /><Relationship Type="http://schemas.openxmlformats.org/officeDocument/2006/relationships/notesSlide" Target="/ppt/notesSlides/notesSlide43.xml" Id="R17fa3cc17ab34d8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25f039d2c4618" /><Relationship Type="http://schemas.openxmlformats.org/officeDocument/2006/relationships/notesSlide" Target="/ppt/notesSlides/notesSlide44.xml" Id="R8beef5bb9e384b1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5ecb967a34cec" /><Relationship Type="http://schemas.openxmlformats.org/officeDocument/2006/relationships/notesSlide" Target="/ppt/notesSlides/notesSlide45.xml" Id="R263db11b5c2f4ec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f25fe87f243c0" /><Relationship Type="http://schemas.openxmlformats.org/officeDocument/2006/relationships/notesSlide" Target="/ppt/notesSlides/notesSlide46.xml" Id="Rfe7746c2f42c459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4e2e8af264cc7" /><Relationship Type="http://schemas.openxmlformats.org/officeDocument/2006/relationships/notesSlide" Target="/ppt/notesSlides/notesSlide47.xml" Id="R60322f0ba6694f0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2bdca8a8441f9" /><Relationship Type="http://schemas.openxmlformats.org/officeDocument/2006/relationships/notesSlide" Target="/ppt/notesSlides/notesSlide48.xml" Id="R6496a8423411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FD4D989-6011-4370-8E69-4A6AEA3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2882DF5-F12B-4B4C-AA78-0A3F626C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6E991F-0835-40DD-832C-807A4FF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Predicting serious delinquency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0591B82-EC63-4045-8424-72B568E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177185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BDCB4C52-83F8-44C1-8A46-B0A0AD6F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3A212B-193B-4D2C-9FB5-BD3ABBC7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4A364A-BBFF-43BF-8E30-D45EB96A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91A54C8-D74F-48D2-800F-B62B872A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602BC6B-0F4E-4D4B-A193-D3A17A8C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0.8696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C3E272F-B5F2-4D70-ACD0-5039C052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ROC-AUC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E2A157D-E0D8-47CB-898F-11B823C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Best model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043C591-71DE-4172-ACEE-14A75CB4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Tuned CatBoost reaches ROC-AUC 0.8696, versus 0.8145 for logistic regression.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771F990-25E6-4F2F-B7C9-CD93469C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9712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Review capacity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23612EC-15FE-4E81-825C-A72691CB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3567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Reviewing the highest-scored 10% captures 55.7% of positive cases at 37.2% precision.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D2BB7C1-A6A0-4C00-B776-7A7E73D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2999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BD4C2EB-173B-452D-A853-8618C032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6854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Validate a review policy using workload and error costs. Check calibration before interpreting scores as absolute risk.</a:t>
            </a:r>
          </a:p>
        </p:txBody>
      </p:sp>
    </p:spTree>
    <p:extLst>
      <p:ext uri="{BB962C8B-B14F-4D97-AF65-F5344CB8AC3E}">
        <p14:creationId xmlns:p14="http://schemas.microsoft.com/office/powerpoint/2010/main" val="1299902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07D0AD4-B8F5-4093-A727-8FE6ABCB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4CCE9A4-2F7B-4043-9E34-A2DD95E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5AD4DC-DB02-4A5D-BF47-3B059A28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7108AB-FFF0-4E91-8F52-303E26E7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59CA582-A3AC-41C5-A74D-71ADD721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FA9E8DD-9939-440D-A35A-E3B0B244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 applicants by their risk of serious delinquency within two years and evaluate how the ranking supports a review process.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C37F810-6926-491F-8A80-A73EDE2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048987-01D9-400A-A482-EBEF92A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applicant. The positive outcome is 90 or more days of delinquency within two years.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4797EC9-957E-4562-8D7F-1882674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2EA58E8-DB60-4F56-BB56-7CFFE33D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ROC-AUC for ranking, log loss for probabilities, and precision–recall at a chosen cutoff.</a:t>
            </a:r>
          </a:p>
        </p:txBody>
      </p:sp>
    </p:spTree>
    <p:extLst>
      <p:ext uri="{BB962C8B-B14F-4D97-AF65-F5344CB8AC3E}">
        <p14:creationId xmlns:p14="http://schemas.microsoft.com/office/powerpoint/2010/main" val="2020564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C205C92-5EBA-4F55-8F29-E7033C96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53871A-9F6A-4D27-A299-8D7E0AD9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7FA821-1B16-4D9C-9B7C-C6A59034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5651DB-E2A4-484F-8078-36538AFD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D893E-6BA0-4A3C-8439-AE5655A8309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150,000 source applicants, 149,999 retained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original financial variables plus an income-missing indicator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Serious delinquency within two years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 balance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6.684% positive in the cleaned dataset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089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20D75FA-F03E-4FAA-9FD0-FB16FB01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05192C-AD4D-4A34-8655-766870C8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C878E7E-AB4F-44B0-BE87-EEC363B8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381F915-7E36-4ADA-B8DA-0909BD4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90199-EC85-4E73-A993-3AB6BE9DD19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Remove the single record with age zero.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Past-due counts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Replace sentinel values 96 and 98 with missing values.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 an indicator for missing income.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values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Fill numerical gaps with medians. Scaling uses the training partition.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167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C3285C4-4B7E-492F-BD93-EEA2994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C8F1B6-524C-4352-8D4B-9F38ACE6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Class balance and feature associations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20960A-021B-4C8F-9979-F650BEAA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DF6EEDB-DF8C-4C99-AC33-566096B1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B0E0A-3539-4656-B981-4D449D820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ba0f578f4468c"/>
          <a:stretch xmlns:a="http://schemas.openxmlformats.org/drawingml/2006/main"/>
        </p:blipFill>
        <p:spPr>
          <a:xfrm xmlns:a="http://schemas.openxmlformats.org/drawingml/2006/main">
            <a:off x="514350" y="1800886"/>
            <a:ext cx="11163300" cy="3903929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42CEF5A-D3B6-4B8F-ABD9-E4330486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About 6.68% of applicants have the positive outcome. Accuracy alone would favor the majority class.</a:t>
            </a:r>
          </a:p>
        </p:txBody>
      </p:sp>
    </p:spTree>
    <p:extLst>
      <p:ext uri="{BB962C8B-B14F-4D97-AF65-F5344CB8AC3E}">
        <p14:creationId xmlns:p14="http://schemas.microsoft.com/office/powerpoint/2010/main" val="497924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F9453BC-803E-43F3-AC22-9C8C43E3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684E58-3CE0-48F0-9FD7-5620D3FC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6B583F-0BC3-4E7C-A0C6-9E04FADD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3C910CB-AD00-45BA-9569-08B78D42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019589C-DD5A-44CC-BFC2-69903964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Outcome balance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FB06AC3-3552-4A62-B2BF-AD1E7D52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About 6.68% of applicants have the positive outcome. Accuracy alone would favor the majority class.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7B47DF5-10EF-4558-B0D3-3C912E52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Risk features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18753D2-B335-46BC-BF85-41C0DA27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Past delinquency and credit utilization are useful predictors.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48C0B68-D223-48A9-B90E-818CFAFB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quality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6AC8411-9CE0-40C6-870B-EB85ECDF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Past-due sentinels and missing income need explicit handling before modeling.</a:t>
            </a:r>
          </a:p>
        </p:txBody>
      </p:sp>
    </p:spTree>
    <p:extLst>
      <p:ext uri="{BB962C8B-B14F-4D97-AF65-F5344CB8AC3E}">
        <p14:creationId xmlns:p14="http://schemas.microsoft.com/office/powerpoint/2010/main" val="1114608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FFE6D2A-49CA-4EF8-8F48-54EACE1B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2A74E3B-2743-4B26-AD93-66D2AE78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EBBD18-82CD-4C47-8B40-E869A9C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E246C47-D63B-4A46-97E6-35B64AAD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FDB55-451E-4862-8B74-F6818215273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Repayment history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Counts of 30–59, 60–89 and 90+ days past due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Utilization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Revolving credit utilization and debt ratio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Applicant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Age, monthly income and number of dependents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Credit exposure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Number of open credit lines and real-estate loans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968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D853083-35FE-47AC-9E00-B56C36CB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4957D0-C1F1-44FB-B2EB-DDAFBA99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E563D8-9DEA-4CEF-A816-A695B62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DF8694-732E-4929-852A-FCF1350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42FCC4B-D477-4BC7-A6FE-48EFB40C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8142A9-0FD8-4EC1-A3C2-F969A264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Stratified random 80/20 split with seed 42. Training has 119,999 applicants and testing has 30,000 applicants. Each split preserves about 6.68% positives.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903D01E-7BAE-424E-A068-2C014CB4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E656AB9-6B20-408A-8AA5-AB1F0E27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Scaling uses training rows. The imputation and filtering scope is listed under Limitations.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55FDB03-BAC0-4B1F-87CF-731110CF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B103C63-1932-4124-B4E6-A7F0543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test partition is separate from the rows used to fit each model.</a:t>
            </a:r>
          </a:p>
        </p:txBody>
      </p:sp>
    </p:spTree>
    <p:extLst>
      <p:ext uri="{BB962C8B-B14F-4D97-AF65-F5344CB8AC3E}">
        <p14:creationId xmlns:p14="http://schemas.microsoft.com/office/powerpoint/2010/main" val="14593265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7B638C1-A64D-4F58-88C3-91346666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BF1D089-2897-49F3-BC8F-9656273E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1CB42D-CC28-4961-8171-6FD81306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3D0E3A-E630-4E7E-A9E1-F6876388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76F3C-15B4-42B5-BF0C-E7D55CEEF26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 with L2, L1 and Elastic Net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387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20D921A-3001-4345-B08B-A5937949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FF5320-45F6-42E6-AE86-8994C6F4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regression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D20740-03A5-4EFB-AD99-D9D3586F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F879C3-9F98-48DE-BA90-8179716D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1E060-D95C-4D04-9C17-D0AE52822DB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411175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Reference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9790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B7AEF54-9D49-4F5A-922F-9C0DE8C3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F8DC3D3-D14C-4C23-8232-A28E7635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BC18AF-6EDF-4A4F-BF40-29800472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CCB388-7FB3-44C1-968D-34DCF726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A6FE4-ACE8-4C21-8421-13A9D81C022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4570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DA20D88-8BD6-4FC2-8E62-31D201A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9462158-8C82-41F3-AB18-E514699F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4FBF40A-8C87-4B53-8F26-36FEB450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871AA8-EA82-4D38-B443-E10BD872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DD20F-9B50-4C31-91AD-EB66B320CA9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470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05FBA11A-652C-4730-977E-EBC5165B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AEAE989-0E06-4FE3-9CF2-726A8157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84D8FB-FA25-4AEB-BFF4-1B0E2C3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985807C-6E2B-422F-811D-ABF928F2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672E732-34CB-45FC-8190-6A83BF70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logistic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318E65C-FA68-461D-BF9E-62055622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5603FF3-5791-49D3-ADA5-19E5D9C9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EBEC9F-AD8B-4B65-825E-F65B5882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08292BA-B99F-4093-A041-7E85C45B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E23C998-BB19-405F-9115-7BADEAD8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EA8C462-A3CB-41BB-92F3-A7739C0C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ROC-AUC 0.8647 and log loss 0.1886. It does not exceed the best individual model on the primary metric.</a:t>
            </a:r>
          </a:p>
        </p:txBody>
      </p:sp>
    </p:spTree>
    <p:extLst>
      <p:ext uri="{BB962C8B-B14F-4D97-AF65-F5344CB8AC3E}">
        <p14:creationId xmlns:p14="http://schemas.microsoft.com/office/powerpoint/2010/main" val="1919160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5597D03-F319-4959-B978-54C0735A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C032074-AB69-4120-9B26-9CBF7D0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CAF477D-A489-4DA6-89E4-A5B8CB4A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7B6804-4E09-4333-A55F-8DA6C439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C1CCB-AE91-4446-B2FF-B20F97B33C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208a1761b4109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4DC696F-D4B7-4C76-AF55-CF065F08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679099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8C9B1D9-5C9F-441E-AAC9-C7534C52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3600DD3-3B6B-43E7-B0A8-D3D52692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F6E0AA-1618-44D5-8D62-13D43A01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ED58F77-1C96-43DB-9C53-F69643E6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A98C0-7499-4038-BFC2-F4A4C21D3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fae8a6358468b"/>
          <a:stretch xmlns:a="http://schemas.openxmlformats.org/drawingml/2006/main"/>
        </p:blipFill>
        <p:spPr>
          <a:xfrm xmlns:a="http://schemas.openxmlformats.org/drawingml/2006/main">
            <a:off x="514350" y="1958655"/>
            <a:ext cx="11163300" cy="3588391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4B4969B-7134-4C97-97C0-BDC44FA0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95% interval includes zero for CatBoost (tuned) versus XGBoost (tuned). Their ordering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3151086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E5532AB-5F1E-4823-87EF-45A2516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9377CC-1A44-4F2D-9DCD-27F326B7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C0427-F5AA-4D4F-A10D-F06290FF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57BF36-7A7B-4B95-8899-F127B504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39898-4AC1-4733-8128-CAC5F7289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4deb84dbd4483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E3DE7AF-5676-4122-8499-D1184F9B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Delinquency history and utilization provide useful risk information. Check their contribution with feature-group tests.</a:t>
            </a:r>
          </a:p>
        </p:txBody>
      </p:sp>
    </p:spTree>
    <p:extLst>
      <p:ext uri="{BB962C8B-B14F-4D97-AF65-F5344CB8AC3E}">
        <p14:creationId xmlns:p14="http://schemas.microsoft.com/office/powerpoint/2010/main" val="13631592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CF09004-2274-48C7-A1B5-44B176B7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344D20E-E260-4BE4-99CC-45AB918F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Precision–recall and calibration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B05558B-F731-49EB-9FF2-BBF0555D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A60AD2-AD38-43E4-8768-6EA1E58F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E0A9E-1E4C-41D6-8849-7B435F02C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6c37570344e6c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F882DA9-58D2-441A-9792-9B725D4C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CatBoost (tuned): average precision 0.397, positive prevalence 0.067, Brier score 0.0491.</a:t>
            </a:r>
          </a:p>
        </p:txBody>
      </p:sp>
    </p:spTree>
    <p:extLst>
      <p:ext uri="{BB962C8B-B14F-4D97-AF65-F5344CB8AC3E}">
        <p14:creationId xmlns:p14="http://schemas.microsoft.com/office/powerpoint/2010/main" val="6798770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48D0631-C8CB-41BF-B042-59A9FBCF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67757F-8C10-435E-B2D4-FAB8CF37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Review capacity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19A304-2774-41B5-8D58-6959284B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46D8FF-D02E-4244-9390-F70F0D41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2612E-AC6F-45DA-BF08-166E19989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18254a4fe46e2"/>
          <a:stretch xmlns:a="http://schemas.openxmlformats.org/drawingml/2006/main"/>
        </p:blipFill>
        <p:spPr>
          <a:xfrm xmlns:a="http://schemas.openxmlformats.org/drawingml/2006/main">
            <a:off x="629854" y="1762125"/>
            <a:ext cx="10932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4D3F627-DFA6-4F95-82D0-F430C22E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CatBoost (tuned), top 10% reviewed: 55.7% recall and 37.2% precision.</a:t>
            </a:r>
          </a:p>
        </p:txBody>
      </p:sp>
    </p:spTree>
    <p:extLst>
      <p:ext uri="{BB962C8B-B14F-4D97-AF65-F5344CB8AC3E}">
        <p14:creationId xmlns:p14="http://schemas.microsoft.com/office/powerpoint/2010/main" val="2440921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3728E23-2987-4122-A951-79F1EB95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229A0A2-517B-433A-89F7-204798BE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5A3A32-3FC2-4EF2-A414-D0B44A06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C83D80-5E41-43B4-97BE-5300DB07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3A7704-3EDA-4810-A8DF-619862A0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Risk ranking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57F8C25-9693-4974-B5A6-E8F7FAFA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Tuned CatBoost improves AUC by 0.0552 over logistic regression. Its lead over tuned XGBoost is uncertain.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B10C572-5709-4EC2-A118-36DC1FF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Review workload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0881251-7BB9-45CD-BDFE-E4A656E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 10% review share captures 55.7% of positives. Cutoff 0.5 captures only 18.9%.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99629D-2477-48DC-92F2-EB025AA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Probability quality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AF851E0-FAA4-48E5-842B-E4BF06CC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Average precision is 0.397, against prevalence 6.7%. Brier score is 0.0491. Validate the chosen cutoff separately.</a:t>
            </a:r>
          </a:p>
        </p:txBody>
      </p:sp>
    </p:spTree>
    <p:extLst>
      <p:ext uri="{BB962C8B-B14F-4D97-AF65-F5344CB8AC3E}">
        <p14:creationId xmlns:p14="http://schemas.microsoft.com/office/powerpoint/2010/main" val="11157188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517C3A7-8F45-4155-B361-7FACABB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F27327-C238-45FD-B886-A21DA8E8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31ADFA-3895-4D93-9E1F-7820D118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76E381-2CE6-42C0-B8C8-AE5EEB53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BE24E-3669-4567-A313-F759CDA2C44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Preprocessing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Imputation statistics were calculated before the train–test split.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 imbalance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fixed 0.5 cutoff misses many positive cases.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 weighting can affect the interpretation of predicted probabilities.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final model and review policy need a separate evaluation sample.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3159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489CB80-5CED-4818-87CC-1F6F82EB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001512F-BBEB-4972-918C-93C38DFD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71C4DD7-9C5B-47F9-95B2-EA5A0BC2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2513A41-5B42-488C-B02F-7613F49A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4BBCB-9F0A-411B-9207-2494917F7ED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Fold-safe pipeline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imputers and transformations separately within every training fold.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preprocessing leakage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 and calibration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 average precision, calibration and recall at a fixed review rate.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Useful minority-class detection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study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Choose the operating cutoff on validation data under stated costs.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reviewable policy trade-off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validation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Refit the selected model on all training data and test once.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credible final generalization estimate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445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7474FE4-818F-4BB7-8DB0-DF383008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30C0DD0-A7F4-4A92-B0DB-9CC9A888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A37019-1057-48FD-8F2D-297908D8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75C2DD4-16A2-4C39-B856-3AD1DF5F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E64683D-7B96-45A1-BC8D-ABC756D8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leads the risk ranking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A3BE462-DF80-4D27-9C9F-93A020D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ROC-AUC 0.8696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38300CC-40E3-4CE0-8DD6-7062D74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Its lead over XGBoost is uncertain. Review capacity and calibrated probabilities should guide the operating policy.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FDCD01B-8A44-434E-B8C1-88914704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23867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B17435B-6164-48C9-A9CE-1649EF8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BD06A69-9A95-44D5-9BDE-2C6ECE3B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66F9FE-5728-43C3-93BD-C0F5698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CEDBDB-1D6A-4379-ADD8-BAD0F777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F3B10-56D8-41F1-BD14-D5A04ACD992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ROC-AUC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Ranking across thresholds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model comparison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Quality of predicted probabilities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Probability assessment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 and recall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Detection and false-positive trade-off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analysis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Agreement of predicted and observed risk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Probability interpretation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7498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3C613D4-B5AB-410E-973E-727B640B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A234CE-2986-4CBA-B422-63F381FD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97B1C4-7B33-47BE-9AAB-1C168577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F46A74-715D-4630-A633-89324F10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4E6DA-7DF9-4A19-9929-EDE1FFE9AD6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4328160"/>
                <a:gridCol w="378714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Variant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Reference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with reference settings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log-odds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Ridge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Lasso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mixed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Balances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054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1C8EB7E-FBEA-477E-9E78-0BC11952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0FCB3AD-75A8-482F-A9C1-AA181B95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3FEE1A-EF63-4EA1-ADE9-6B4253F8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337579-1107-4932-A049-7D494BB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E7EBB-612C-4C1C-B591-53498A3A823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5344"/>
                <a:gridCol w="2272284"/>
                <a:gridCol w="2272284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ROC-AUC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at 0.5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0.1486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0.8164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7865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A96B9F8-40BF-4563-93E1-7D0DE57D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77B7A6-5A2B-43E6-88AC-2BDE0C89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E922DF-D734-49F8-BFC2-378A49A3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14772AA-CADD-40CE-86B7-F97BBA87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40D71D9-5919-4D7C-86D4-0D9E2B3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E3F7FBC-AE64-4048-8BD9-E0944FEB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L2 logistic reaches AUC 0.8168, slightly above the reference logistic model.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6FDDE66-D3DF-4865-97AB-84ABF153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C0AC62C-679F-49C4-A0AB-B633266A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Delinquency counts and utilization have positive fitted associations with risk. Penalties help stabilize overlapping inputs.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3E8A316-A067-4E67-8F30-CCDD3422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BE2844-6BED-4510-8FD7-4FCB04B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Check nonlinear transformations and compare calibration across applicant groups and separate validation folds.</a:t>
            </a:r>
          </a:p>
        </p:txBody>
      </p:sp>
    </p:spTree>
    <p:extLst>
      <p:ext uri="{BB962C8B-B14F-4D97-AF65-F5344CB8AC3E}">
        <p14:creationId xmlns:p14="http://schemas.microsoft.com/office/powerpoint/2010/main" val="21284977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951B186-F010-461F-9148-6655F714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A255C7-EEF2-49BA-A5E6-48A47818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regression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50655F-8114-41DC-825B-1D90C61B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B38601-92D8-4793-935C-5554C27A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A30EE-3A0E-4DDB-8559-C29C3605C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411e3ee844bc0"/>
          <a:stretch xmlns:a="http://schemas.openxmlformats.org/drawingml/2006/main"/>
        </p:blipFill>
        <p:spPr>
          <a:xfrm xmlns:a="http://schemas.openxmlformats.org/drawingml/2006/main">
            <a:off x="2752076" y="1762125"/>
            <a:ext cx="6687849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8882F89-4C2C-415D-8270-14B4B393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11911382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46D4FE1-FFD7-4409-A3F6-796DB18E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694FA6-E900-44AB-96E1-A64A54C3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6270E15-F342-4493-B5B5-1CF15357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FE0B7A9-41ED-46ED-9033-06F72745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9EB34-3611-4D6C-B92E-BD7DEB0F73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202f91154b72"/>
          <a:stretch xmlns:a="http://schemas.openxmlformats.org/drawingml/2006/main"/>
        </p:blipFill>
        <p:spPr>
          <a:xfrm xmlns:a="http://schemas.openxmlformats.org/drawingml/2006/main">
            <a:off x="3114112" y="1762125"/>
            <a:ext cx="596377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9F67F9E-2FAA-4C61-B699-CC3A321F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4155480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F7AE321-2045-4D77-835D-04FA9C52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8020646-E943-4ECA-84DC-7D7051C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5BFB6D-9099-4ED4-A396-14832093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D02A04-17BC-4B9A-8D54-78DE270C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7A51F-F67D-4E0E-A075-A681633E8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ac580e09e4bbc"/>
          <a:stretch xmlns:a="http://schemas.openxmlformats.org/drawingml/2006/main"/>
        </p:blipFill>
        <p:spPr>
          <a:xfrm xmlns:a="http://schemas.openxmlformats.org/drawingml/2006/main">
            <a:off x="2854902" y="1762125"/>
            <a:ext cx="648219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9BB6532-6599-41F6-B62C-B17597CA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Delinquency history and utilization provide useful risk information. Check their contribution with feature-group tests.</a:t>
            </a:r>
          </a:p>
        </p:txBody>
      </p:sp>
    </p:spTree>
    <p:extLst>
      <p:ext uri="{BB962C8B-B14F-4D97-AF65-F5344CB8AC3E}">
        <p14:creationId xmlns:p14="http://schemas.microsoft.com/office/powerpoint/2010/main" val="6118570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85476C5-4122-4B2A-A313-F770B5C4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9C3A53-68BC-4509-8474-F1ECF5B1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B07709-318A-49D8-8AAA-F7063E80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2A00118-A7AA-4B72-9425-A40385AB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DE27B-D39A-4622-852B-A4C624870F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1f17b22274ab7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99A9908-34AE-4376-9940-74ABB4EC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Delinquency history and utilization provide useful risk information. Check their contribution with feature-group tests.</a:t>
            </a:r>
          </a:p>
        </p:txBody>
      </p:sp>
    </p:spTree>
    <p:extLst>
      <p:ext uri="{BB962C8B-B14F-4D97-AF65-F5344CB8AC3E}">
        <p14:creationId xmlns:p14="http://schemas.microsoft.com/office/powerpoint/2010/main" val="7282183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4E447AF-4B48-4415-95B2-73D44940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B2DF27D-43DC-43A8-A08C-34BA40C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C6CBBF7-74D3-4C83-8DAE-D8A30182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CF66F4-96A9-4E8E-8F1C-782ECE64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C67A1-B0C0-4F33-B995-4C32ACA9A0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3731ef274455e"/>
          <a:stretch xmlns:a="http://schemas.openxmlformats.org/drawingml/2006/main"/>
        </p:blipFill>
        <p:spPr>
          <a:xfrm xmlns:a="http://schemas.openxmlformats.org/drawingml/2006/main">
            <a:off x="2867241" y="1762125"/>
            <a:ext cx="6457517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7F99F50-CB1B-4EE2-A3D5-145CAD4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Delinquency history and utilization provide useful risk information. Check their contribution with feature-group tests.</a:t>
            </a:r>
          </a:p>
        </p:txBody>
      </p:sp>
    </p:spTree>
    <p:extLst>
      <p:ext uri="{BB962C8B-B14F-4D97-AF65-F5344CB8AC3E}">
        <p14:creationId xmlns:p14="http://schemas.microsoft.com/office/powerpoint/2010/main" val="5613300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098C299-C7E0-484C-9879-41CC4890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ED3364-FB02-446F-A11C-005DAA34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Review capacity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EC482D-065B-42CB-A462-A196CE17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97E3950-B19D-4836-AE3B-C092A435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D102C-7A7E-41DC-9C4A-245CBD3FF8F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2055876"/>
                <a:gridCol w="2272284"/>
                <a:gridCol w="2272284"/>
                <a:gridCol w="227228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Lift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65.0%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9.73×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7.13×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37.2%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5.57×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24.6%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73.5%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3.67×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5348A6B-7EB0-49C0-AB93-F891F10C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CatBoost (tuned). Highest scores selected first. Capacity is the share reviewed.</a:t>
            </a:r>
          </a:p>
        </p:txBody>
      </p:sp>
    </p:spTree>
    <p:extLst>
      <p:ext uri="{BB962C8B-B14F-4D97-AF65-F5344CB8AC3E}">
        <p14:creationId xmlns:p14="http://schemas.microsoft.com/office/powerpoint/2010/main" val="18465788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067CB92-6DD9-4EC8-8713-EC209580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5A87796-CBC4-48E6-842B-F1DA5AAD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Confusion matrix at 0.5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4D26AA-10B6-4683-97EB-15C9C644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5616E8-7A94-4F8D-906E-788B6435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65B19-65F4-4826-A140-D228C78E0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563053c774bce"/>
          <a:stretch xmlns:a="http://schemas.openxmlformats.org/drawingml/2006/main"/>
        </p:blipFill>
        <p:spPr>
          <a:xfrm xmlns:a="http://schemas.openxmlformats.org/drawingml/2006/main">
            <a:off x="3617962" y="1762125"/>
            <a:ext cx="4956076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B923FA0-8A5E-4C42-9075-399070D3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Rows show actual classes. Columns show predicted classes.</a:t>
            </a:r>
          </a:p>
        </p:txBody>
      </p:sp>
    </p:spTree>
    <p:extLst>
      <p:ext uri="{BB962C8B-B14F-4D97-AF65-F5344CB8AC3E}">
        <p14:creationId xmlns:p14="http://schemas.microsoft.com/office/powerpoint/2010/main" val="12181990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2CC34AD-6A67-4A23-B2CA-6F9B8ACB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3FB01E9-23D5-4D60-A805-55237040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Threshold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6F0A994-5D52-421D-B96A-81E2A27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D14737-E1AC-4AF7-A095-74C48DF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0ADE9-F671-4549-9C7D-D0157DACC1C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2921508"/>
                <a:gridCol w="2921508"/>
                <a:gridCol w="28133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Cutoff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Flagged share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16.6%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68.5%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38.5%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2.2%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57.6%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932ED45-5365-4FB8-99D7-F62F90E8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CatBoost (tuned). Cutoffs are descriptive test results. Select the operating rule using validation data.</a:t>
            </a:r>
          </a:p>
        </p:txBody>
      </p:sp>
    </p:spTree>
    <p:extLst>
      <p:ext uri="{BB962C8B-B14F-4D97-AF65-F5344CB8AC3E}">
        <p14:creationId xmlns:p14="http://schemas.microsoft.com/office/powerpoint/2010/main" val="5572626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440BDB0-CCA2-4525-80DE-27DA945C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848EC8-6867-4E8E-96E5-C9253260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Calibration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DD9DB4-5EA0-4798-939F-1A400B04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2373887-56C5-4E67-8A33-5D807C9A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202BA-0FA1-4FCE-B37C-888360D78C4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3304"/>
                <a:gridCol w="2164080"/>
                <a:gridCol w="2921508"/>
                <a:gridCol w="292150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cases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positive rate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 lowest risk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1.16%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2.14%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1.93%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5.14%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5.48%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Q5 highest risk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24.32%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24.55%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B5438A4-276F-4B06-A086-5606B2DE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CatBoost (tuned). Equal-count score groups compare average risk with observed outcomes.</a:t>
            </a:r>
          </a:p>
        </p:txBody>
      </p:sp>
    </p:spTree>
    <p:extLst>
      <p:ext uri="{BB962C8B-B14F-4D97-AF65-F5344CB8AC3E}">
        <p14:creationId xmlns:p14="http://schemas.microsoft.com/office/powerpoint/2010/main" val="1899219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5D7C3EC-0AEE-4D30-8EAF-2E8AFEAF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2ED069-F873-45A6-AF37-8C82C23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3691173-605B-4B35-811D-C9ECC73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8FBEDC1-AAFF-4C5E-9BC5-4CF82D3B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B86DA-E2D5-4DED-9109-18EC1AA1015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the score to order applicants for further review.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policy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fixed workload creates a measurable precision–recall trade-off.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Probability use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calibration before interpreting the score as an absolute risk.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15383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8F962B5-C8B3-4660-B34E-01DB3E6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BDA692D-8A37-4991-9B08-F92C5530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B1819C-B6DF-4256-9B47-53842D9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DA80BE-62DF-40DB-B846-A131F9C1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4CC5DB0-CF6B-4470-888F-EA0F3A24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55B12E4-FDC2-4683-A1BE-4519162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FDC684F-201E-40A1-B285-A75236EF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CC6432D-1D04-4451-A354-EB822702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0E5487E-2ED5-4AC0-90EE-C6104658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05E33B0-1FE3-4C58-8F44-375E867B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does not improve the leading individual model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14422095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2CD6FA0-46B2-4726-B0C0-85F175B1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A6D941-3AA2-49CA-90E8-2266D4B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680E90-3440-4F76-A69D-2B4A0417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5E3E3F-EFF0-4D72-90F9-C8B58E13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7B52F9F-9A38-4BA1-B9CF-6715B8D0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1BD2992-5C26-4AF5-8D07-8242F05E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314AC38-4519-432D-813A-C82A2043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EBFBAE1-A1DB-4FDA-92A4-F6BD1A12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2DB9666-BBE1-41CB-AC18-CB1FE39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D837EB-D394-48E0-99C4-69EEB339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17043350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BAE1B8E-554A-4587-AE1D-C2C8EAB4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C660A3-7BD8-49ED-BDEA-878D66E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C49F862-410C-4931-AF5A-73B13C73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941366-23E8-4D52-9F34-80772FF1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F5080AC-A8DA-4D8C-91FE-AB94BA71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use ROC-AUC?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62E2F9D-3C49-4605-9DA5-D2963272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measures risk ranking across score cutoffs. Precision and recall describe the workload and detection at a chosen cutoff.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E1AC1F-E6BB-4BA7-AAF6-164A1530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is recall low at 0.5?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8B936A4-5765-4464-AEEB-E93FC90F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model assigns scores above 0.5 to relatively few applicants. A lower cutoff captures more positive cases and increases review workload.</a:t>
            </a:r>
          </a:p>
        </p:txBody>
      </p:sp>
    </p:spTree>
    <p:extLst>
      <p:ext uri="{BB962C8B-B14F-4D97-AF65-F5344CB8AC3E}">
        <p14:creationId xmlns:p14="http://schemas.microsoft.com/office/powerpoint/2010/main" val="4413556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9B9BFF5-568A-4F96-871A-DC99CDA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EEFA7D1-A3FE-49FE-9BA0-D81C5F7E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1879549-785F-41BB-A394-7295C2EE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DBF99B-5AE4-4A8B-9032-60522F4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EE70A49-7D54-499C-9A75-BAE2CDF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Does class weighting calibrate probabilities?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F3295C9-DC65-48FE-85C6-8F07587D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Weighting changes the training loss. Check calibration on representative held-out applicants before using scores as absolute probabilities.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876DBCE-1BAD-4B6B-9ACF-90D853D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should the cutoff be selected?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075B8B8-5F77-4769-A2B9-DEB2178E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Choose a review capacity or error-cost rule using validation data. Lock the rule and measure it on separate evaluation data.</a:t>
            </a:r>
          </a:p>
        </p:txBody>
      </p:sp>
    </p:spTree>
    <p:extLst>
      <p:ext uri="{BB962C8B-B14F-4D97-AF65-F5344CB8AC3E}">
        <p14:creationId xmlns:p14="http://schemas.microsoft.com/office/powerpoint/2010/main" val="184363600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28EE051-049E-4050-B7AD-3C4C07C2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C4A1E18-01FC-4343-8454-C0EF6AA8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 curves and model ranking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934C4C-FC7A-4C78-9C20-D1315FA3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2BB77D-2702-4087-BEF7-C63D7833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839FD-2A66-40B2-A401-45CC90795A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7ba6e4f414738"/>
          <a:stretch xmlns:a="http://schemas.openxmlformats.org/drawingml/2006/main"/>
        </p:blipFill>
        <p:spPr>
          <a:xfrm xmlns:a="http://schemas.openxmlformats.org/drawingml/2006/main">
            <a:off x="1378254" y="1762125"/>
            <a:ext cx="94354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49A3C06-15DE-4CBB-89CC-077EC9F1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ROC curves and test results for the individual models. Stacking appears in the full results tables.</a:t>
            </a:r>
          </a:p>
        </p:txBody>
      </p:sp>
    </p:spTree>
    <p:extLst>
      <p:ext uri="{BB962C8B-B14F-4D97-AF65-F5344CB8AC3E}">
        <p14:creationId xmlns:p14="http://schemas.microsoft.com/office/powerpoint/2010/main" val="31812551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FAD0440-1453-4136-B0DB-B0863D0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AD65CE1-0B51-4BDC-BDAD-41A4A66F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1A54F4-AF97-4F16-8207-34E35FDA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E15136-FE1F-47A7-B8E9-4848454E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5CE1F-F284-4D61-BB3C-3B6D0A59FC7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0.1885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0.1766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0.2777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0.5806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0.1885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0.1601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0.1774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0.5809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0.1880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0.5629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0.1920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0.2864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0.5629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0.2999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0.1886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0.8558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0.1776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0466706-F87E-4996-89D0-F409C65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Precision, recall and F1 use cutoff 0.5. All configurations use the same test applicants.</a:t>
            </a:r>
          </a:p>
        </p:txBody>
      </p:sp>
    </p:spTree>
    <p:extLst>
      <p:ext uri="{BB962C8B-B14F-4D97-AF65-F5344CB8AC3E}">
        <p14:creationId xmlns:p14="http://schemas.microsoft.com/office/powerpoint/2010/main" val="5366632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F897E6A-F726-4085-B21D-850B0FF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9114D5-AAE5-483C-AAE3-DD38409B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D2B297-CBE4-4F31-BE91-9FEDF027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0C6EBE5-9431-47AF-8095-1F3BC2F2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5AE74-E1BB-4064-8AFA-FD19FDC36F0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0.2717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0.2943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0.5921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0.8164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0.9359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0.5825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0.9359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0.5815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0.2310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0.9361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0.1486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0.2371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0.7790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0.4700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0.1835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0.2640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0.7790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0.4700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0.1835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0.2640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8AF57C6-05EC-4EC4-9922-8A41BB16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Precision, recall and F1 use cutoff 0.5. All configurations use the same test applicants.</a:t>
            </a:r>
          </a:p>
        </p:txBody>
      </p:sp>
    </p:spTree>
    <p:extLst>
      <p:ext uri="{BB962C8B-B14F-4D97-AF65-F5344CB8AC3E}">
        <p14:creationId xmlns:p14="http://schemas.microsoft.com/office/powerpoint/2010/main" val="140722246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C15DE87-F1A4-4FCE-84F0-11ACFB9F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C887AB8-0FEC-42EE-96CD-19FC9FEB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D235839-63B5-4B56-A5D6-C3EDD0F5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F58F6EC-49AC-4EF6-9731-FDDB586F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D249B-ACBB-488D-A1F5-BEA7D0D504D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alpha=0.0001, max_iter=500,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4FADCED-AB42-49E4-9073-8AE38A1D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118737435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D7F3810-EE65-49A4-934C-DFE8E662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18963F3-3F35-40F5-B29E-676F48E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1ADCA23-1F92-4080-AD43-0B343B8B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6AA6793-33D1-43A0-B4F8-912EF213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0C0C3-500A-4803-8EE2-7CC2F8EE07E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33167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4956EF5-4692-400D-951D-884C1A68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13784E-8735-4BA0-8456-0776B197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7F0399-15AA-4D68-AB8D-4CE986C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CD10ACB-8778-44EE-B629-968A040A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D4AAF-B51A-47D4-B279-6F26A91E188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76116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05E5CD51-4A94-447F-B04F-D6C3FBF8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F4A704-44B1-4CCC-AB19-EF90753F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53F382-F659-4A43-BD4D-B1CE6417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Give Me Some Credit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1CBD216-44F0-466B-96FE-E456EB90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48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771E40F-3937-466E-B74B-0D0BE098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726E7B-16D6-4A77-BE69-675B4718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Kaggle Give Me Some Credit training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898FAF4-66CC-4A89-8656-6E3E8054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9779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AC02909-CDB8-4C05-9133-817D00B5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6016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give_me_some_credit_tutorial.ipynb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CED3698-2E9B-424E-B8B9-6F5A6C3B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AE37F1A-AFD7-4175-A008-C0154E21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94037F2-D396-4BF0-A682-1A706D68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21CC125-0039-4630-8C9C-B33D3563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5482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1300279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2026-10-19T13:17:40.5600000Z</dcterms:created>
  <dcterms:modified xsi:type="dcterms:W3CDTF">2026-10-19T13:17:40.5600000Z</dcterms:modified>
</coreProperties>
</file>