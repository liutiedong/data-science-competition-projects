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70e0744b5b4813" /><Relationship Type="http://schemas.openxmlformats.org/officeDocument/2006/relationships/extended-properties" Target="/docProps/app.xml" Id="R6c9bb45658bc401b" /><Relationship Type="http://schemas.openxmlformats.org/officeDocument/2006/relationships/officeDocument" Target="/ppt/presentation.xml" Id="R21ace3c7167b4e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aa8eb56e284ea4"/>
  </p:sldMasterIdLst>
  <p:notesMasterIdLst>
    <p:notesMasterId xmlns:r="http://schemas.openxmlformats.org/officeDocument/2006/relationships" r:id="Ra40d07c32f9e46b3"/>
  </p:notesMasterIdLst>
  <p:sldIdLst>
    <p:sldId xmlns:r="http://schemas.openxmlformats.org/officeDocument/2006/relationships" id="256" r:id="R49aabfe06c874fc2"/>
    <p:sldId xmlns:r="http://schemas.openxmlformats.org/officeDocument/2006/relationships" id="257" r:id="R791f8f45875348d4"/>
    <p:sldId xmlns:r="http://schemas.openxmlformats.org/officeDocument/2006/relationships" id="258" r:id="Rabdc0a84611c4bc0"/>
    <p:sldId xmlns:r="http://schemas.openxmlformats.org/officeDocument/2006/relationships" id="259" r:id="R9ef4eee7ce35410c"/>
    <p:sldId xmlns:r="http://schemas.openxmlformats.org/officeDocument/2006/relationships" id="260" r:id="R1e82584717704b65"/>
    <p:sldId xmlns:r="http://schemas.openxmlformats.org/officeDocument/2006/relationships" id="261" r:id="Rac09963b144d4c6b"/>
    <p:sldId xmlns:r="http://schemas.openxmlformats.org/officeDocument/2006/relationships" id="262" r:id="R67e943a6f7eb47c4"/>
    <p:sldId xmlns:r="http://schemas.openxmlformats.org/officeDocument/2006/relationships" id="263" r:id="R3ea97d87e04d402c"/>
    <p:sldId xmlns:r="http://schemas.openxmlformats.org/officeDocument/2006/relationships" id="264" r:id="Rd2e479ed59e443ff"/>
    <p:sldId xmlns:r="http://schemas.openxmlformats.org/officeDocument/2006/relationships" id="265" r:id="R21c6cd66e2374ce8"/>
    <p:sldId xmlns:r="http://schemas.openxmlformats.org/officeDocument/2006/relationships" id="266" r:id="R81f56f4da0e74e8d"/>
    <p:sldId xmlns:r="http://schemas.openxmlformats.org/officeDocument/2006/relationships" id="267" r:id="Re92178316f3d417d"/>
    <p:sldId xmlns:r="http://schemas.openxmlformats.org/officeDocument/2006/relationships" id="268" r:id="R71f28ac985ca4f72"/>
    <p:sldId xmlns:r="http://schemas.openxmlformats.org/officeDocument/2006/relationships" id="269" r:id="R5ba134844d81434a"/>
    <p:sldId xmlns:r="http://schemas.openxmlformats.org/officeDocument/2006/relationships" id="270" r:id="Rb335c09c9ae04afb"/>
    <p:sldId xmlns:r="http://schemas.openxmlformats.org/officeDocument/2006/relationships" id="271" r:id="R8412d4cdda5f4083"/>
    <p:sldId xmlns:r="http://schemas.openxmlformats.org/officeDocument/2006/relationships" id="272" r:id="R91c3d9030bc34fdc"/>
    <p:sldId xmlns:r="http://schemas.openxmlformats.org/officeDocument/2006/relationships" id="273" r:id="R7d9c90398d044b3d"/>
    <p:sldId xmlns:r="http://schemas.openxmlformats.org/officeDocument/2006/relationships" id="274" r:id="Rdd9bfa7de0b64d14"/>
    <p:sldId xmlns:r="http://schemas.openxmlformats.org/officeDocument/2006/relationships" id="275" r:id="R94bdf89a4e3045c2"/>
    <p:sldId xmlns:r="http://schemas.openxmlformats.org/officeDocument/2006/relationships" id="276" r:id="R6e44c89c970544ad"/>
    <p:sldId xmlns:r="http://schemas.openxmlformats.org/officeDocument/2006/relationships" id="277" r:id="Rd25167f49abe49e5"/>
    <p:sldId xmlns:r="http://schemas.openxmlformats.org/officeDocument/2006/relationships" id="278" r:id="R2c2ccca240434f86"/>
    <p:sldId xmlns:r="http://schemas.openxmlformats.org/officeDocument/2006/relationships" id="279" r:id="R5ac2825b054640ac"/>
    <p:sldId xmlns:r="http://schemas.openxmlformats.org/officeDocument/2006/relationships" id="280" r:id="R577b8a20dd524e46"/>
    <p:sldId xmlns:r="http://schemas.openxmlformats.org/officeDocument/2006/relationships" id="281" r:id="Rce4b9d3de8d24241"/>
    <p:sldId xmlns:r="http://schemas.openxmlformats.org/officeDocument/2006/relationships" id="282" r:id="R43abc07b348a4c1e"/>
    <p:sldId xmlns:r="http://schemas.openxmlformats.org/officeDocument/2006/relationships" id="283" r:id="R6aa3f28fc081421f"/>
    <p:sldId xmlns:r="http://schemas.openxmlformats.org/officeDocument/2006/relationships" id="284" r:id="Rcb6c2a3c47aa4b3a"/>
    <p:sldId xmlns:r="http://schemas.openxmlformats.org/officeDocument/2006/relationships" id="285" r:id="R763100d7437444fd"/>
    <p:sldId xmlns:r="http://schemas.openxmlformats.org/officeDocument/2006/relationships" id="286" r:id="R05b4bc5f23074f5f"/>
    <p:sldId xmlns:r="http://schemas.openxmlformats.org/officeDocument/2006/relationships" id="287" r:id="Ra1d7e1af722e4d8e"/>
    <p:sldId xmlns:r="http://schemas.openxmlformats.org/officeDocument/2006/relationships" id="288" r:id="Rb4101be5e2334ef8"/>
    <p:sldId xmlns:r="http://schemas.openxmlformats.org/officeDocument/2006/relationships" id="289" r:id="Re60f60328958423d"/>
    <p:sldId xmlns:r="http://schemas.openxmlformats.org/officeDocument/2006/relationships" id="290" r:id="R886c09a4c85e4d98"/>
    <p:sldId xmlns:r="http://schemas.openxmlformats.org/officeDocument/2006/relationships" id="291" r:id="R03dc72ed1e234d4d"/>
    <p:sldId xmlns:r="http://schemas.openxmlformats.org/officeDocument/2006/relationships" id="292" r:id="R9d59276c873448cf"/>
    <p:sldId xmlns:r="http://schemas.openxmlformats.org/officeDocument/2006/relationships" id="293" r:id="Rc1c2b1214b384057"/>
    <p:sldId xmlns:r="http://schemas.openxmlformats.org/officeDocument/2006/relationships" id="294" r:id="R710a0fde7f474b3b"/>
    <p:sldId xmlns:r="http://schemas.openxmlformats.org/officeDocument/2006/relationships" id="295" r:id="R1c9d537490814f28"/>
    <p:sldId xmlns:r="http://schemas.openxmlformats.org/officeDocument/2006/relationships" id="296" r:id="R4b158d4c6e2a4fda"/>
    <p:sldId xmlns:r="http://schemas.openxmlformats.org/officeDocument/2006/relationships" id="297" r:id="R27a4aa2e556b4fa5"/>
    <p:sldId xmlns:r="http://schemas.openxmlformats.org/officeDocument/2006/relationships" id="298" r:id="R2e48bbe975114ec9"/>
    <p:sldId xmlns:r="http://schemas.openxmlformats.org/officeDocument/2006/relationships" id="299" r:id="R3853f244009b4e8f"/>
    <p:sldId xmlns:r="http://schemas.openxmlformats.org/officeDocument/2006/relationships" id="300" r:id="Rf0b928edc3a040cb"/>
    <p:sldId xmlns:r="http://schemas.openxmlformats.org/officeDocument/2006/relationships" id="301" r:id="R61d0511e2d44480a"/>
    <p:sldId xmlns:r="http://schemas.openxmlformats.org/officeDocument/2006/relationships" id="302" r:id="Ra6c98fd5a28f4294"/>
    <p:sldId xmlns:r="http://schemas.openxmlformats.org/officeDocument/2006/relationships" id="303" r:id="Rb214930ec6754adf"/>
    <p:sldId xmlns:r="http://schemas.openxmlformats.org/officeDocument/2006/relationships" id="304" r:id="Rd17a23c2a76f4ad9"/>
    <p:sldId xmlns:r="http://schemas.openxmlformats.org/officeDocument/2006/relationships" id="305" r:id="R4b95701b1b944e2e"/>
    <p:sldId xmlns:r="http://schemas.openxmlformats.org/officeDocument/2006/relationships" id="306" r:id="R691c5e6e061b44ab"/>
    <p:sldId xmlns:r="http://schemas.openxmlformats.org/officeDocument/2006/relationships" id="307" r:id="R2f65f4417e5b4ac3"/>
    <p:sldId xmlns:r="http://schemas.openxmlformats.org/officeDocument/2006/relationships" id="308" r:id="Rf32a6ace5d6a44ce"/>
    <p:sldId xmlns:r="http://schemas.openxmlformats.org/officeDocument/2006/relationships" id="309" r:id="R32b0440bb74749f7"/>
    <p:sldId xmlns:r="http://schemas.openxmlformats.org/officeDocument/2006/relationships" id="310" r:id="Rd152575c4a344b99"/>
    <p:sldId xmlns:r="http://schemas.openxmlformats.org/officeDocument/2006/relationships" id="311" r:id="R3aa012843f7945c2"/>
    <p:sldId xmlns:r="http://schemas.openxmlformats.org/officeDocument/2006/relationships" id="312" r:id="Ra1f45387cfe4467c"/>
    <p:sldId xmlns:r="http://schemas.openxmlformats.org/officeDocument/2006/relationships" id="313" r:id="R2df6b07610e94d82"/>
    <p:sldId xmlns:r="http://schemas.openxmlformats.org/officeDocument/2006/relationships" id="314" r:id="R0bb9cc3d2a2e4cf2"/>
    <p:sldId xmlns:r="http://schemas.openxmlformats.org/officeDocument/2006/relationships" id="315" r:id="R3ec9b399d0b64732"/>
    <p:sldId xmlns:r="http://schemas.openxmlformats.org/officeDocument/2006/relationships" id="316" r:id="Rbf7d991f18004836"/>
    <p:sldId xmlns:r="http://schemas.openxmlformats.org/officeDocument/2006/relationships" id="317" r:id="R64a5bd7258874e1c"/>
    <p:sldId xmlns:r="http://schemas.openxmlformats.org/officeDocument/2006/relationships" id="318" r:id="R99010b30064e47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d2459a80ba45dd" /><Relationship Type="http://schemas.openxmlformats.org/officeDocument/2006/relationships/slideMaster" Target="/ppt/slideMasters/slideMaster1.xml" Id="R5caa8eb56e284ea4" /><Relationship Type="http://schemas.openxmlformats.org/officeDocument/2006/relationships/notesMaster" Target="/ppt/notesMasters/notesMaster1.xml" Id="Ra40d07c32f9e46b3" /><Relationship Type="http://schemas.openxmlformats.org/officeDocument/2006/relationships/presProps" Target="/ppt/presProps.xml" Id="R711e99316cb442da" /><Relationship Type="http://schemas.openxmlformats.org/officeDocument/2006/relationships/tableStyles" Target="/ppt/tableStyles.xml" Id="R3df3f1994e9c4093" /><Relationship Type="http://schemas.openxmlformats.org/officeDocument/2006/relationships/slide" Target="/ppt/slides/slide1.xml" Id="R49aabfe06c874fc2" /><Relationship Type="http://schemas.openxmlformats.org/officeDocument/2006/relationships/slide" Target="/ppt/slides/slide2.xml" Id="R791f8f45875348d4" /><Relationship Type="http://schemas.openxmlformats.org/officeDocument/2006/relationships/slide" Target="/ppt/slides/slide3.xml" Id="Rabdc0a84611c4bc0" /><Relationship Type="http://schemas.openxmlformats.org/officeDocument/2006/relationships/slide" Target="/ppt/slides/slide4.xml" Id="R9ef4eee7ce35410c" /><Relationship Type="http://schemas.openxmlformats.org/officeDocument/2006/relationships/slide" Target="/ppt/slides/slide5.xml" Id="R1e82584717704b65" /><Relationship Type="http://schemas.openxmlformats.org/officeDocument/2006/relationships/slide" Target="/ppt/slides/slide6.xml" Id="Rac09963b144d4c6b" /><Relationship Type="http://schemas.openxmlformats.org/officeDocument/2006/relationships/slide" Target="/ppt/slides/slide7.xml" Id="R67e943a6f7eb47c4" /><Relationship Type="http://schemas.openxmlformats.org/officeDocument/2006/relationships/slide" Target="/ppt/slides/slide8.xml" Id="R3ea97d87e04d402c" /><Relationship Type="http://schemas.openxmlformats.org/officeDocument/2006/relationships/slide" Target="/ppt/slides/slide9.xml" Id="Rd2e479ed59e443ff" /><Relationship Type="http://schemas.openxmlformats.org/officeDocument/2006/relationships/slide" Target="/ppt/slides/slide10.xml" Id="R21c6cd66e2374ce8" /><Relationship Type="http://schemas.openxmlformats.org/officeDocument/2006/relationships/slide" Target="/ppt/slides/slide11.xml" Id="R81f56f4da0e74e8d" /><Relationship Type="http://schemas.openxmlformats.org/officeDocument/2006/relationships/slide" Target="/ppt/slides/slide12.xml" Id="Re92178316f3d417d" /><Relationship Type="http://schemas.openxmlformats.org/officeDocument/2006/relationships/slide" Target="/ppt/slides/slide13.xml" Id="R71f28ac985ca4f72" /><Relationship Type="http://schemas.openxmlformats.org/officeDocument/2006/relationships/slide" Target="/ppt/slides/slide14.xml" Id="R5ba134844d81434a" /><Relationship Type="http://schemas.openxmlformats.org/officeDocument/2006/relationships/slide" Target="/ppt/slides/slide15.xml" Id="Rb335c09c9ae04afb" /><Relationship Type="http://schemas.openxmlformats.org/officeDocument/2006/relationships/slide" Target="/ppt/slides/slide16.xml" Id="R8412d4cdda5f4083" /><Relationship Type="http://schemas.openxmlformats.org/officeDocument/2006/relationships/slide" Target="/ppt/slides/slide17.xml" Id="R91c3d9030bc34fdc" /><Relationship Type="http://schemas.openxmlformats.org/officeDocument/2006/relationships/slide" Target="/ppt/slides/slide18.xml" Id="R7d9c90398d044b3d" /><Relationship Type="http://schemas.openxmlformats.org/officeDocument/2006/relationships/slide" Target="/ppt/slides/slide19.xml" Id="Rdd9bfa7de0b64d14" /><Relationship Type="http://schemas.openxmlformats.org/officeDocument/2006/relationships/slide" Target="/ppt/slides/slide20.xml" Id="R94bdf89a4e3045c2" /><Relationship Type="http://schemas.openxmlformats.org/officeDocument/2006/relationships/slide" Target="/ppt/slides/slide21.xml" Id="R6e44c89c970544ad" /><Relationship Type="http://schemas.openxmlformats.org/officeDocument/2006/relationships/slide" Target="/ppt/slides/slide22.xml" Id="Rd25167f49abe49e5" /><Relationship Type="http://schemas.openxmlformats.org/officeDocument/2006/relationships/slide" Target="/ppt/slides/slide23.xml" Id="R2c2ccca240434f86" /><Relationship Type="http://schemas.openxmlformats.org/officeDocument/2006/relationships/slide" Target="/ppt/slides/slide24.xml" Id="R5ac2825b054640ac" /><Relationship Type="http://schemas.openxmlformats.org/officeDocument/2006/relationships/slide" Target="/ppt/slides/slide25.xml" Id="R577b8a20dd524e46" /><Relationship Type="http://schemas.openxmlformats.org/officeDocument/2006/relationships/slide" Target="/ppt/slides/slide26.xml" Id="Rce4b9d3de8d24241" /><Relationship Type="http://schemas.openxmlformats.org/officeDocument/2006/relationships/slide" Target="/ppt/slides/slide27.xml" Id="R43abc07b348a4c1e" /><Relationship Type="http://schemas.openxmlformats.org/officeDocument/2006/relationships/slide" Target="/ppt/slides/slide28.xml" Id="R6aa3f28fc081421f" /><Relationship Type="http://schemas.openxmlformats.org/officeDocument/2006/relationships/slide" Target="/ppt/slides/slide29.xml" Id="Rcb6c2a3c47aa4b3a" /><Relationship Type="http://schemas.openxmlformats.org/officeDocument/2006/relationships/slide" Target="/ppt/slides/slide30.xml" Id="R763100d7437444fd" /><Relationship Type="http://schemas.openxmlformats.org/officeDocument/2006/relationships/slide" Target="/ppt/slides/slide31.xml" Id="R05b4bc5f23074f5f" /><Relationship Type="http://schemas.openxmlformats.org/officeDocument/2006/relationships/slide" Target="/ppt/slides/slide32.xml" Id="Ra1d7e1af722e4d8e" /><Relationship Type="http://schemas.openxmlformats.org/officeDocument/2006/relationships/slide" Target="/ppt/slides/slide33.xml" Id="Rb4101be5e2334ef8" /><Relationship Type="http://schemas.openxmlformats.org/officeDocument/2006/relationships/slide" Target="/ppt/slides/slide34.xml" Id="Re60f60328958423d" /><Relationship Type="http://schemas.openxmlformats.org/officeDocument/2006/relationships/slide" Target="/ppt/slides/slide35.xml" Id="R886c09a4c85e4d98" /><Relationship Type="http://schemas.openxmlformats.org/officeDocument/2006/relationships/slide" Target="/ppt/slides/slide36.xml" Id="R03dc72ed1e234d4d" /><Relationship Type="http://schemas.openxmlformats.org/officeDocument/2006/relationships/slide" Target="/ppt/slides/slide37.xml" Id="R9d59276c873448cf" /><Relationship Type="http://schemas.openxmlformats.org/officeDocument/2006/relationships/slide" Target="/ppt/slides/slide38.xml" Id="Rc1c2b1214b384057" /><Relationship Type="http://schemas.openxmlformats.org/officeDocument/2006/relationships/slide" Target="/ppt/slides/slide39.xml" Id="R710a0fde7f474b3b" /><Relationship Type="http://schemas.openxmlformats.org/officeDocument/2006/relationships/slide" Target="/ppt/slides/slide40.xml" Id="R1c9d537490814f28" /><Relationship Type="http://schemas.openxmlformats.org/officeDocument/2006/relationships/slide" Target="/ppt/slides/slide41.xml" Id="R4b158d4c6e2a4fda" /><Relationship Type="http://schemas.openxmlformats.org/officeDocument/2006/relationships/slide" Target="/ppt/slides/slide42.xml" Id="R27a4aa2e556b4fa5" /><Relationship Type="http://schemas.openxmlformats.org/officeDocument/2006/relationships/slide" Target="/ppt/slides/slide43.xml" Id="R2e48bbe975114ec9" /><Relationship Type="http://schemas.openxmlformats.org/officeDocument/2006/relationships/slide" Target="/ppt/slides/slide44.xml" Id="R3853f244009b4e8f" /><Relationship Type="http://schemas.openxmlformats.org/officeDocument/2006/relationships/slide" Target="/ppt/slides/slide45.xml" Id="Rf0b928edc3a040cb" /><Relationship Type="http://schemas.openxmlformats.org/officeDocument/2006/relationships/slide" Target="/ppt/slides/slide46.xml" Id="R61d0511e2d44480a" /><Relationship Type="http://schemas.openxmlformats.org/officeDocument/2006/relationships/slide" Target="/ppt/slides/slide47.xml" Id="Ra6c98fd5a28f4294" /><Relationship Type="http://schemas.openxmlformats.org/officeDocument/2006/relationships/slide" Target="/ppt/slides/slide48.xml" Id="Rb214930ec6754adf" /><Relationship Type="http://schemas.openxmlformats.org/officeDocument/2006/relationships/slide" Target="/ppt/slides/slide49.xml" Id="Rd17a23c2a76f4ad9" /><Relationship Type="http://schemas.openxmlformats.org/officeDocument/2006/relationships/slide" Target="/ppt/slides/slide50.xml" Id="R4b95701b1b944e2e" /><Relationship Type="http://schemas.openxmlformats.org/officeDocument/2006/relationships/slide" Target="/ppt/slides/slide51.xml" Id="R691c5e6e061b44ab" /><Relationship Type="http://schemas.openxmlformats.org/officeDocument/2006/relationships/slide" Target="/ppt/slides/slide52.xml" Id="R2f65f4417e5b4ac3" /><Relationship Type="http://schemas.openxmlformats.org/officeDocument/2006/relationships/slide" Target="/ppt/slides/slide53.xml" Id="Rf32a6ace5d6a44ce" /><Relationship Type="http://schemas.openxmlformats.org/officeDocument/2006/relationships/slide" Target="/ppt/slides/slide54.xml" Id="R32b0440bb74749f7" /><Relationship Type="http://schemas.openxmlformats.org/officeDocument/2006/relationships/slide" Target="/ppt/slides/slide55.xml" Id="Rd152575c4a344b99" /><Relationship Type="http://schemas.openxmlformats.org/officeDocument/2006/relationships/slide" Target="/ppt/slides/slide56.xml" Id="R3aa012843f7945c2" /><Relationship Type="http://schemas.openxmlformats.org/officeDocument/2006/relationships/slide" Target="/ppt/slides/slide57.xml" Id="Ra1f45387cfe4467c" /><Relationship Type="http://schemas.openxmlformats.org/officeDocument/2006/relationships/slide" Target="/ppt/slides/slide58.xml" Id="R2df6b07610e94d82" /><Relationship Type="http://schemas.openxmlformats.org/officeDocument/2006/relationships/slide" Target="/ppt/slides/slide59.xml" Id="R0bb9cc3d2a2e4cf2" /><Relationship Type="http://schemas.openxmlformats.org/officeDocument/2006/relationships/slide" Target="/ppt/slides/slide60.xml" Id="R3ec9b399d0b64732" /><Relationship Type="http://schemas.openxmlformats.org/officeDocument/2006/relationships/slide" Target="/ppt/slides/slide61.xml" Id="Rbf7d991f18004836" /><Relationship Type="http://schemas.openxmlformats.org/officeDocument/2006/relationships/slide" Target="/ppt/slides/slide62.xml" Id="R64a5bd7258874e1c" /><Relationship Type="http://schemas.openxmlformats.org/officeDocument/2006/relationships/slide" Target="/ppt/slides/slide63.xml" Id="R99010b30064e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14a6bffb68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8a0bec785423f" /><Relationship Type="http://schemas.openxmlformats.org/officeDocument/2006/relationships/notesMaster" Target="/ppt/notesMasters/notesMaster1.xml" Id="R980641f98d4043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5bee1d0f314202" /><Relationship Type="http://schemas.openxmlformats.org/officeDocument/2006/relationships/notesMaster" Target="/ppt/notesMasters/notesMaster1.xml" Id="R97fbc55ba24c49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8f732c1e6c44f0" /><Relationship Type="http://schemas.openxmlformats.org/officeDocument/2006/relationships/notesMaster" Target="/ppt/notesMasters/notesMaster1.xml" Id="R024d3b4fd8f940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9d0bb8f18457f" /><Relationship Type="http://schemas.openxmlformats.org/officeDocument/2006/relationships/notesMaster" Target="/ppt/notesMasters/notesMaster1.xml" Id="R336dede6b48d4e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a5485f23843d5" /><Relationship Type="http://schemas.openxmlformats.org/officeDocument/2006/relationships/notesMaster" Target="/ppt/notesMasters/notesMaster1.xml" Id="R5798bdda64414e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6c3dea36a440d1" /><Relationship Type="http://schemas.openxmlformats.org/officeDocument/2006/relationships/notesMaster" Target="/ppt/notesMasters/notesMaster1.xml" Id="R449ba5133c6c42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f3e490521a45c6" /><Relationship Type="http://schemas.openxmlformats.org/officeDocument/2006/relationships/notesMaster" Target="/ppt/notesMasters/notesMaster1.xml" Id="R3d0da9361d8142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ff33fecae9484a" /><Relationship Type="http://schemas.openxmlformats.org/officeDocument/2006/relationships/notesMaster" Target="/ppt/notesMasters/notesMaster1.xml" Id="R1c735fa86ff84e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2fa83082f4002" /><Relationship Type="http://schemas.openxmlformats.org/officeDocument/2006/relationships/notesMaster" Target="/ppt/notesMasters/notesMaster1.xml" Id="Rcd2cf50842b048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b3b4d5a80a46ff" /><Relationship Type="http://schemas.openxmlformats.org/officeDocument/2006/relationships/notesMaster" Target="/ppt/notesMasters/notesMaster1.xml" Id="Rf24ac2de413942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193a83d69a452e" /><Relationship Type="http://schemas.openxmlformats.org/officeDocument/2006/relationships/notesMaster" Target="/ppt/notesMasters/notesMaster1.xml" Id="R3737f0c1acb248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0b98138fe6465b" /><Relationship Type="http://schemas.openxmlformats.org/officeDocument/2006/relationships/notesMaster" Target="/ppt/notesMasters/notesMaster1.xml" Id="Reb7f2857d6784e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0fd223b4684f30" /><Relationship Type="http://schemas.openxmlformats.org/officeDocument/2006/relationships/notesMaster" Target="/ppt/notesMasters/notesMaster1.xml" Id="Rc03a9fb2233b4d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8329344da64267" /><Relationship Type="http://schemas.openxmlformats.org/officeDocument/2006/relationships/notesMaster" Target="/ppt/notesMasters/notesMaster1.xml" Id="Rcd4317d1074547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58e60092b64cf8" /><Relationship Type="http://schemas.openxmlformats.org/officeDocument/2006/relationships/notesMaster" Target="/ppt/notesMasters/notesMaster1.xml" Id="R4de831f39531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753e76c1484250" /><Relationship Type="http://schemas.openxmlformats.org/officeDocument/2006/relationships/notesMaster" Target="/ppt/notesMasters/notesMaster1.xml" Id="R3f3c7a2ede8845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7bb63caee34de6" /><Relationship Type="http://schemas.openxmlformats.org/officeDocument/2006/relationships/notesMaster" Target="/ppt/notesMasters/notesMaster1.xml" Id="R4870956ed0ad43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b83f02b0c14f23" /><Relationship Type="http://schemas.openxmlformats.org/officeDocument/2006/relationships/notesMaster" Target="/ppt/notesMasters/notesMaster1.xml" Id="Rc18c115a0bee4c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f66621418f4f85" /><Relationship Type="http://schemas.openxmlformats.org/officeDocument/2006/relationships/notesMaster" Target="/ppt/notesMasters/notesMaster1.xml" Id="R779d23a2db444f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981a472d7e479f" /><Relationship Type="http://schemas.openxmlformats.org/officeDocument/2006/relationships/notesMaster" Target="/ppt/notesMasters/notesMaster1.xml" Id="R695df6e8385149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86a24da54d4c29" /><Relationship Type="http://schemas.openxmlformats.org/officeDocument/2006/relationships/notesMaster" Target="/ppt/notesMasters/notesMaster1.xml" Id="Rece37c3aaef948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3f79222243475f" /><Relationship Type="http://schemas.openxmlformats.org/officeDocument/2006/relationships/notesMaster" Target="/ppt/notesMasters/notesMaster1.xml" Id="Rb9470fe83c6740d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7497302b7845d7" /><Relationship Type="http://schemas.openxmlformats.org/officeDocument/2006/relationships/notesMaster" Target="/ppt/notesMasters/notesMaster1.xml" Id="R00548b95f16b465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7a5224c9252465b" /><Relationship Type="http://schemas.openxmlformats.org/officeDocument/2006/relationships/notesMaster" Target="/ppt/notesMasters/notesMaster1.xml" Id="R99df89672dc94a1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c68eec81bf4198" /><Relationship Type="http://schemas.openxmlformats.org/officeDocument/2006/relationships/notesMaster" Target="/ppt/notesMasters/notesMaster1.xml" Id="R85902056048844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bbd8cfbecb42ae" /><Relationship Type="http://schemas.openxmlformats.org/officeDocument/2006/relationships/notesMaster" Target="/ppt/notesMasters/notesMaster1.xml" Id="R15e0945e159e4c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15faf3df204acd" /><Relationship Type="http://schemas.openxmlformats.org/officeDocument/2006/relationships/notesMaster" Target="/ppt/notesMasters/notesMaster1.xml" Id="R6006201ce5a346a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31fcc1393a4913" /><Relationship Type="http://schemas.openxmlformats.org/officeDocument/2006/relationships/notesMaster" Target="/ppt/notesMasters/notesMaster1.xml" Id="R98e6b3bb9852457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dd6d5abd0c4f84" /><Relationship Type="http://schemas.openxmlformats.org/officeDocument/2006/relationships/notesMaster" Target="/ppt/notesMasters/notesMaster1.xml" Id="R0e746b94af7c44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64df86388743a5" /><Relationship Type="http://schemas.openxmlformats.org/officeDocument/2006/relationships/notesMaster" Target="/ppt/notesMasters/notesMaster1.xml" Id="R19e70288482c451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26bdfdf0de40aa" /><Relationship Type="http://schemas.openxmlformats.org/officeDocument/2006/relationships/notesMaster" Target="/ppt/notesMasters/notesMaster1.xml" Id="R5a4c1ea0f80b4d4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afe8ee225f4b90" /><Relationship Type="http://schemas.openxmlformats.org/officeDocument/2006/relationships/notesMaster" Target="/ppt/notesMasters/notesMaster1.xml" Id="Rd0b609c305f3432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6c1b5445122404b" /><Relationship Type="http://schemas.openxmlformats.org/officeDocument/2006/relationships/notesMaster" Target="/ppt/notesMasters/notesMaster1.xml" Id="R44547b1597424b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3ac31fa5e284121" /><Relationship Type="http://schemas.openxmlformats.org/officeDocument/2006/relationships/notesMaster" Target="/ppt/notesMasters/notesMaster1.xml" Id="Rda297d05ba654ca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5f3310557c435b" /><Relationship Type="http://schemas.openxmlformats.org/officeDocument/2006/relationships/notesMaster" Target="/ppt/notesMasters/notesMaster1.xml" Id="R0bb631ac325444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b0c51a6878b41e8" /><Relationship Type="http://schemas.openxmlformats.org/officeDocument/2006/relationships/notesMaster" Target="/ppt/notesMasters/notesMaster1.xml" Id="Rff6118acd73248f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61652f5ae684b8c" /><Relationship Type="http://schemas.openxmlformats.org/officeDocument/2006/relationships/notesMaster" Target="/ppt/notesMasters/notesMaster1.xml" Id="R8b8f71724fda4b7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ff9fd11ae7d4fb8" /><Relationship Type="http://schemas.openxmlformats.org/officeDocument/2006/relationships/notesMaster" Target="/ppt/notesMasters/notesMaster1.xml" Id="Rae67ffebe84242a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4484040f92b487a" /><Relationship Type="http://schemas.openxmlformats.org/officeDocument/2006/relationships/notesMaster" Target="/ppt/notesMasters/notesMaster1.xml" Id="R20ce9f41e93043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5a09b43fa6148fc" /><Relationship Type="http://schemas.openxmlformats.org/officeDocument/2006/relationships/notesMaster" Target="/ppt/notesMasters/notesMaster1.xml" Id="R688107baa9a9446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be8677eb1454492" /><Relationship Type="http://schemas.openxmlformats.org/officeDocument/2006/relationships/notesMaster" Target="/ppt/notesMasters/notesMaster1.xml" Id="Rd8153b31104a454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1d30e2fe64a4a60" /><Relationship Type="http://schemas.openxmlformats.org/officeDocument/2006/relationships/notesMaster" Target="/ppt/notesMasters/notesMaster1.xml" Id="Rca79337e8d4842d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b5354326c8f4cad" /><Relationship Type="http://schemas.openxmlformats.org/officeDocument/2006/relationships/notesMaster" Target="/ppt/notesMasters/notesMaster1.xml" Id="Rd4560bb11dfb4a2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54b62249a844b94" /><Relationship Type="http://schemas.openxmlformats.org/officeDocument/2006/relationships/notesMaster" Target="/ppt/notesMasters/notesMaster1.xml" Id="Ra709ec6035ae4ab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e1bdc7345c542a3" /><Relationship Type="http://schemas.openxmlformats.org/officeDocument/2006/relationships/notesMaster" Target="/ppt/notesMasters/notesMaster1.xml" Id="Ra42ed9c0dd8c488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65a6e8e1f5747ab" /><Relationship Type="http://schemas.openxmlformats.org/officeDocument/2006/relationships/notesMaster" Target="/ppt/notesMasters/notesMaster1.xml" Id="Ra236b8f5ae7d4f3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ab29808679c494b" /><Relationship Type="http://schemas.openxmlformats.org/officeDocument/2006/relationships/notesMaster" Target="/ppt/notesMasters/notesMaster1.xml" Id="R3c577ad46531401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c5449c58ad34384" /><Relationship Type="http://schemas.openxmlformats.org/officeDocument/2006/relationships/notesMaster" Target="/ppt/notesMasters/notesMaster1.xml" Id="R4b0d25c99ef5407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9a05e11449a4516" /><Relationship Type="http://schemas.openxmlformats.org/officeDocument/2006/relationships/notesMaster" Target="/ppt/notesMasters/notesMaster1.xml" Id="Rdd570fd869bb477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97f77f16dff44ba" /><Relationship Type="http://schemas.openxmlformats.org/officeDocument/2006/relationships/notesMaster" Target="/ppt/notesMasters/notesMaster1.xml" Id="Ra0c58c730998426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9f40784de784725" /><Relationship Type="http://schemas.openxmlformats.org/officeDocument/2006/relationships/notesMaster" Target="/ppt/notesMasters/notesMaster1.xml" Id="Rbd6ea3d21c85450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47ceac3ef5c4149" /><Relationship Type="http://schemas.openxmlformats.org/officeDocument/2006/relationships/notesMaster" Target="/ppt/notesMasters/notesMaster1.xml" Id="R89594798f077429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222f58a633941af" /><Relationship Type="http://schemas.openxmlformats.org/officeDocument/2006/relationships/notesMaster" Target="/ppt/notesMasters/notesMaster1.xml" Id="R117c314e88b4449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8bfe21cd7ca4077" /><Relationship Type="http://schemas.openxmlformats.org/officeDocument/2006/relationships/notesMaster" Target="/ppt/notesMasters/notesMaster1.xml" Id="R10fef4e0332941d3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018b4c0ec3a4703" /><Relationship Type="http://schemas.openxmlformats.org/officeDocument/2006/relationships/notesMaster" Target="/ppt/notesMasters/notesMaster1.xml" Id="Re9fcd6a283734e2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39905e74e2d44b8" /><Relationship Type="http://schemas.openxmlformats.org/officeDocument/2006/relationships/notesMaster" Target="/ppt/notesMasters/notesMaster1.xml" Id="R0eed920f6ca44ce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2150673aa5a4669" /><Relationship Type="http://schemas.openxmlformats.org/officeDocument/2006/relationships/notesMaster" Target="/ppt/notesMasters/notesMaster1.xml" Id="R2246b65031ae41c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3e181d03c754d31" /><Relationship Type="http://schemas.openxmlformats.org/officeDocument/2006/relationships/notesMaster" Target="/ppt/notesMasters/notesMaster1.xml" Id="R8537fbac757c456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1c388d9c03449fa" /><Relationship Type="http://schemas.openxmlformats.org/officeDocument/2006/relationships/notesMaster" Target="/ppt/notesMasters/notesMaster1.xml" Id="R16d88a949746496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2aff7742767499e" /><Relationship Type="http://schemas.openxmlformats.org/officeDocument/2006/relationships/notesMaster" Target="/ppt/notesMasters/notesMaster1.xml" Id="R20a8bb8ea2e8496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bdcd747a10a435d" /><Relationship Type="http://schemas.openxmlformats.org/officeDocument/2006/relationships/notesMaster" Target="/ppt/notesMasters/notesMaster1.xml" Id="Rb80391f5ce7146c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00c88e7a0ec4ff0" /><Relationship Type="http://schemas.openxmlformats.org/officeDocument/2006/relationships/notesMaster" Target="/ppt/notesMasters/notesMaster1.xml" Id="R08a6755e27604f8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7dd9bdaee154f3e" /><Relationship Type="http://schemas.openxmlformats.org/officeDocument/2006/relationships/notesMaster" Target="/ppt/notesMasters/notesMaster1.xml" Id="Rc8ecd46503c2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figures/notebook/wine_quality/cell_008_figure_1.png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058413dc.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Ridge(alpha=1.0).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figures/wine_quality/comparison.png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paired row bootstrap. 1,000 paired resamples. Fitted models remain fixed.</a:t>
            </a:r>
          </a:p>
          <a:p xmlns:a="http://schemas.openxmlformats.org/drawingml/2006/main">
            <a:r>
              <a:t>[{"comparison": "Stacking versus RandomForest", "other": "RandomForest", "advantage": 0.0025747180588177043, "ci_low": -0.006052673595425295, "ci_high": 0.0117741256557128}, {"comparison": "Stacking versus OLS", "other": "OLS", "advantage": 0.06952853416013749, "ci_low": 0.034273156825030474, "ci_high": 0.1081055561664954}]</a:t>
            </a:r>
          </a:p>
          <a:p xmlns:a="http://schemas.openxmlformats.org/drawingml/2006/main">
            <a:r>
              <a:t>Figure: figures/wine_quality/ranking_stability.png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figures/notebook/wine_quality/cell_037_figure_1.png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ad8d6757.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figures/wine_quality/winner_diagnostics.png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Diagnostics use Stacking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figures/notebook/wine_quality/cell_074_figure_1.png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e20d52f4.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figures/wine_quality/class_confusion.png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figures/notebook/wine_quality/cell_015_figure_1.png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e3594128.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figures/notebook/wine_quality/cell_022_figure_1.png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3d9bb664.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figures/notebook/wine_quality/cell_031_figure_1.png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12f6e4cf.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figures/notebook/wine_quality/cell_043_figure_1.png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664a6845.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figures/notebook/wine_quality/cell_049_figure_1.png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adb31f0d.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figures/notebook/wine_quality/cell_055_figure_1.png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0d4d7a94.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figures/notebook/wine_quality/cell_073_figure_1.png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e74127a8.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figures/notebook/wine_quality/cell_062_figure_1.png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2d26e3e2.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figures/notebook/wine_quality/cell_061_figure_1.png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8a197887.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figures/notebook/wine_quality/cell_063_figure_1.png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7d76e260.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Figure: figures/notebook/wine_quality/cell_075_figure_1.png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Notebook cell ID: 57faadd1.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figures/panels/wine_quality/regression_01.png, figures/panels/wine_quality/regression_02.png, figures/panels/wine_quality/regression_03.png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figures/panels/wine_quality/regression_04.png, figures/panels/wine_quality/regression_05.png, figures/panels/wine_quality/regression_06.png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figures/panels/wine_quality/regression_07.png, figures/panels/wine_quality/regression_08.png, figures/panels/wine_quality/regression_09.png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figures/panels/wine_quality/regression_10.png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figures/panels/wine_quality/classification_01.png, figures/panels/wine_quality/classification_02.png, figures/panels/wine_quality/classification_03.png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figures/panels/wine_quality/classification_04.png, figures/panels/wine_quality/classification_05.png, figures/panels/wine_quality/classification_06.png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Panels: figures/panels/wine_quality/classification_07.png, figures/panels/wine_quality/classification_08.png, figures/panels/wine_quality/classification_09.png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  <a:p xmlns:a="http://schemas.openxmlformats.org/drawingml/2006/main">
            <a:r>
              <a:t>{"Stacking": {"RMSE": 0.5549913966378784, "MAE": 0.4283674207987781, "R2": 0.5286722438316884}, "RandomForest": {"RMSE": 0.5575661146966961, "MAE": 0.4295514580327081, "R2": 0.5242889290154358}, "LightGBM (tuned)": {"RMSE": 0.5578866490737082, "MAE": 0.41807865651687093, "R2": 0.5237418169251732}, "LightGBM": {"RMSE": 0.5636639431482275, "MAE": 0.41176460501695616, "R2": 0.5138267909192634}, "CatBoost": {"RMSE": 0.5652341051949006, "MAE": 0.441229298138325, "R2": 0.5111144160497147}, "CatBoost (tuned)": {"RMSE": 0.5652341051949006, "MAE": 0.441229298138325, "R2": 0.5111144160497147}, "KNN": {"RMSE": 0.5668600516770959, "MAE": 0.4030822272564838, "R2": 0.5082977243774467}, "KNN (tuned)": {"RMSE": 0.5668600516770959, "MAE": 0.4030822272564838, "R2": 0.5082977243774467}, "RandomForest (tuned)": {"RMSE": 0.5687423417739416, "MAE": 0.449496815165997, "R2": 0.5050268537211506}, "XGBoost": {"RMSE": 0.5722901791457304, "MAE": 0.4241098463535309, "R2": 0.49883222579956055}, "XGBoost (tuned)": {"RMSE": 0.5722901791457304, "MAE": 0.4241098463535309, "R2": 0.49883222579956055}, "LinearRegression": {"RMSE": 0.6245199307980159, "MAE": 0.5035304415524378, "R2": 0.4031803412796163}, "ElasticNet": {"RMSE": 0.6262903097990697, "MAE": 0.5059836252337779, "R2": 0.3997918358018322}, "Ridge": {"RMSE": 0.6266550478538917, "MAE": 0.506976912684755, "R2": 0.3990925354880056}, "Lasso": {"RMSE": 0.6269090970078809, "MAE": 0.5077443121373391, "R2": 0.39860521482223843}, "MLP (tuned)": {"RMSE": 0.627826711292709, "MAE": 0.49413862782420787, "R2": 0.3968433889948725}, "MLP": {"RMSE": 0.6309825451975835, "MAE": 0.49573295627367153, "R2": 0.390764494866515}}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wine_quality_tutorial.ipynb.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run_results/wine_quality_tutorial/results.json.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e9f86d9334e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d16b2fd4b4a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4fb0c7b734c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50b338c034d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88c5645574a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26a1e36674f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079E4D-1F5A-4866-B101-F6466360B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A0BED4-D27C-44D3-A1F2-45FB7568C6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2CCC6B-704E-42B1-AB7A-BCEF921C1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A4C0C-25D5-4CFB-84C7-B445A7A8E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225DD3-65D0-4E9A-82F1-87FA96D71B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373DFB-E6A1-4E61-9B66-BE32978DC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499409-D685-4A0A-9B25-DC59A534B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BEE378-9D00-4869-B353-3BCF079841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7D3080-1AA6-4CBC-9B6E-0F3B0DDA8F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A81277-F895-46CA-84DF-7C2C940972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92a9f375c41c1" /><Relationship Type="http://schemas.openxmlformats.org/officeDocument/2006/relationships/slideLayout" Target="/ppt/slideLayouts/slideLayout1.xml" Id="R35a80727205347a4" /><Relationship Type="http://schemas.openxmlformats.org/officeDocument/2006/relationships/slideLayout" Target="/ppt/slideLayouts/slideLayout2.xml" Id="Rfc0a494092b94d49" /><Relationship Type="http://schemas.openxmlformats.org/officeDocument/2006/relationships/slideLayout" Target="/ppt/slideLayouts/slideLayout3.xml" Id="R83c569a7b30041b6" /><Relationship Type="http://schemas.openxmlformats.org/officeDocument/2006/relationships/slideLayout" Target="/ppt/slideLayouts/slideLayout4.xml" Id="R7606964b22fd4ba9" /><Relationship Type="http://schemas.openxmlformats.org/officeDocument/2006/relationships/slideLayout" Target="/ppt/slideLayouts/slideLayout5.xml" Id="Rbd8f42958b0549aa" /><Relationship Type="http://schemas.openxmlformats.org/officeDocument/2006/relationships/slideLayout" Target="/ppt/slideLayouts/slideLayout6.xml" Id="R57482684cdff48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a80727205347a4"/>
    <p:sldLayoutId xmlns:r="http://schemas.openxmlformats.org/officeDocument/2006/relationships" id="2147483650" r:id="Rfc0a494092b94d49"/>
    <p:sldLayoutId xmlns:r="http://schemas.openxmlformats.org/officeDocument/2006/relationships" id="2147483651" r:id="R83c569a7b30041b6"/>
    <p:sldLayoutId xmlns:r="http://schemas.openxmlformats.org/officeDocument/2006/relationships" id="2147483652" r:id="R7606964b22fd4ba9"/>
    <p:sldLayoutId xmlns:r="http://schemas.openxmlformats.org/officeDocument/2006/relationships" id="2147483653" r:id="Rbd8f42958b0549aa"/>
    <p:sldLayoutId xmlns:r="http://schemas.openxmlformats.org/officeDocument/2006/relationships" id="2147483654" r:id="R57482684cdff48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b882cfbdf4a41" /><Relationship Type="http://schemas.openxmlformats.org/officeDocument/2006/relationships/notesSlide" Target="/ppt/notesSlides/notesSlide1.xml" Id="Rbe66d85f223242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7335f73594e52" /><Relationship Type="http://schemas.openxmlformats.org/officeDocument/2006/relationships/notesSlide" Target="/ppt/notesSlides/notesSlide2.xml" Id="R6558edd37d5a4e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131479a174859" /><Relationship Type="http://schemas.openxmlformats.org/officeDocument/2006/relationships/notesSlide" Target="/ppt/notesSlides/notesSlide3.xml" Id="R84a4cccfea85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7fe8990214518" /><Relationship Type="http://schemas.openxmlformats.org/officeDocument/2006/relationships/notesSlide" Target="/ppt/notesSlides/notesSlide4.xml" Id="R2af337e28f87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ae47e18b846c2" /><Relationship Type="http://schemas.openxmlformats.org/officeDocument/2006/relationships/notesSlide" Target="/ppt/notesSlides/notesSlide5.xml" Id="R779f9527ffd246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62eb7f73b4fb4" /><Relationship Type="http://schemas.openxmlformats.org/officeDocument/2006/relationships/image" Target="/ppt/media/image.png" Id="Re1209cf20b394d11" /><Relationship Type="http://schemas.openxmlformats.org/officeDocument/2006/relationships/notesSlide" Target="/ppt/notesSlides/notesSlide6.xml" Id="R647b799c066e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6c35c7556426a" /><Relationship Type="http://schemas.openxmlformats.org/officeDocument/2006/relationships/notesSlide" Target="/ppt/notesSlides/notesSlide7.xml" Id="R8de50ebe53664c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5d69cbafc4093" /><Relationship Type="http://schemas.openxmlformats.org/officeDocument/2006/relationships/notesSlide" Target="/ppt/notesSlides/notesSlide8.xml" Id="Rfbfa473323e943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baabfc7f3d4fdb" /><Relationship Type="http://schemas.openxmlformats.org/officeDocument/2006/relationships/notesSlide" Target="/ppt/notesSlides/notesSlide9.xml" Id="R9917f127edaa42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c55319ec0459b" /><Relationship Type="http://schemas.openxmlformats.org/officeDocument/2006/relationships/notesSlide" Target="/ppt/notesSlides/notesSlide10.xml" Id="Rf58c0ea0349348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728d1c754447dd" /><Relationship Type="http://schemas.openxmlformats.org/officeDocument/2006/relationships/notesSlide" Target="/ppt/notesSlides/notesSlide11.xml" Id="Rb632bd855a6f4f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8297cb6ef433f" /><Relationship Type="http://schemas.openxmlformats.org/officeDocument/2006/relationships/notesSlide" Target="/ppt/notesSlides/notesSlide12.xml" Id="R022e27c915e845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cfb2d260fc4d71" /><Relationship Type="http://schemas.openxmlformats.org/officeDocument/2006/relationships/notesSlide" Target="/ppt/notesSlides/notesSlide13.xml" Id="Re36705c7d46b48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6b8ca0729442b2" /><Relationship Type="http://schemas.openxmlformats.org/officeDocument/2006/relationships/notesSlide" Target="/ppt/notesSlides/notesSlide14.xml" Id="Rcfb88a2dfd264c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1036af9bd47f9" /><Relationship Type="http://schemas.openxmlformats.org/officeDocument/2006/relationships/image" Target="/ppt/media/image2.png" Id="Radf1f7ee9e5045f4" /><Relationship Type="http://schemas.openxmlformats.org/officeDocument/2006/relationships/notesSlide" Target="/ppt/notesSlides/notesSlide15.xml" Id="R752253519b1642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04e462eff4b04" /><Relationship Type="http://schemas.openxmlformats.org/officeDocument/2006/relationships/image" Target="/ppt/media/image3.png" Id="Rf12849d21b574721" /><Relationship Type="http://schemas.openxmlformats.org/officeDocument/2006/relationships/notesSlide" Target="/ppt/notesSlides/notesSlide16.xml" Id="R7211041cc69d49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3fd857ce040d2" /><Relationship Type="http://schemas.openxmlformats.org/officeDocument/2006/relationships/image" Target="/ppt/media/image4.png" Id="Rc866ba90ea704a2a" /><Relationship Type="http://schemas.openxmlformats.org/officeDocument/2006/relationships/notesSlide" Target="/ppt/notesSlides/notesSlide17.xml" Id="Rfca4b9869c8b4d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d5e3b33d44c0f" /><Relationship Type="http://schemas.openxmlformats.org/officeDocument/2006/relationships/image" Target="/ppt/media/image5.png" Id="R71418fd4bc7d4ff7" /><Relationship Type="http://schemas.openxmlformats.org/officeDocument/2006/relationships/notesSlide" Target="/ppt/notesSlides/notesSlide18.xml" Id="R821fadfc813944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4650b00384dff" /><Relationship Type="http://schemas.openxmlformats.org/officeDocument/2006/relationships/notesSlide" Target="/ppt/notesSlides/notesSlide19.xml" Id="Raca67680ed8e43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534dec1d34803" /><Relationship Type="http://schemas.openxmlformats.org/officeDocument/2006/relationships/notesSlide" Target="/ppt/notesSlides/notesSlide20.xml" Id="R4f03e848bd8d41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fbc143a75495f" /><Relationship Type="http://schemas.openxmlformats.org/officeDocument/2006/relationships/image" Target="/ppt/media/image6.png" Id="R1f66af8f46cf4c55" /><Relationship Type="http://schemas.openxmlformats.org/officeDocument/2006/relationships/notesSlide" Target="/ppt/notesSlides/notesSlide21.xml" Id="Ra5f0ae0a57e04c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fc267011240ed" /><Relationship Type="http://schemas.openxmlformats.org/officeDocument/2006/relationships/image" Target="/ppt/media/image7.png" Id="R594dd59aa9194a2a" /><Relationship Type="http://schemas.openxmlformats.org/officeDocument/2006/relationships/notesSlide" Target="/ppt/notesSlides/notesSlide22.xml" Id="R078863e12c2c456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29c78c1a244a5" /><Relationship Type="http://schemas.openxmlformats.org/officeDocument/2006/relationships/notesSlide" Target="/ppt/notesSlides/notesSlide23.xml" Id="R879c45ec83e441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c82e00b594b6d" /><Relationship Type="http://schemas.openxmlformats.org/officeDocument/2006/relationships/notesSlide" Target="/ppt/notesSlides/notesSlide24.xml" Id="Rfec5b51149894a6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4318b9f834dac" /><Relationship Type="http://schemas.openxmlformats.org/officeDocument/2006/relationships/notesSlide" Target="/ppt/notesSlides/notesSlide25.xml" Id="R23dc528cfb5a498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11e9257894ae4" /><Relationship Type="http://schemas.openxmlformats.org/officeDocument/2006/relationships/notesSlide" Target="/ppt/notesSlides/notesSlide26.xml" Id="R5f9fef95f0c142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fa16ffc4f47b5" /><Relationship Type="http://schemas.openxmlformats.org/officeDocument/2006/relationships/notesSlide" Target="/ppt/notesSlides/notesSlide27.xml" Id="R53534b0236284b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70be254d54373" /><Relationship Type="http://schemas.openxmlformats.org/officeDocument/2006/relationships/notesSlide" Target="/ppt/notesSlides/notesSlide28.xml" Id="R634cac77395f45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1699aafe44617" /><Relationship Type="http://schemas.openxmlformats.org/officeDocument/2006/relationships/notesSlide" Target="/ppt/notesSlides/notesSlide29.xml" Id="Rb8c30ba51e8543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87fb4eb1b4323" /><Relationship Type="http://schemas.openxmlformats.org/officeDocument/2006/relationships/notesSlide" Target="/ppt/notesSlides/notesSlide30.xml" Id="R5dad9c2d390048b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3aef9952e4050" /><Relationship Type="http://schemas.openxmlformats.org/officeDocument/2006/relationships/image" Target="/ppt/media/image8.png" Id="R301e5c7b252a4965" /><Relationship Type="http://schemas.openxmlformats.org/officeDocument/2006/relationships/notesSlide" Target="/ppt/notesSlides/notesSlide31.xml" Id="Raeb66c88743141a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5b92ba96945e0" /><Relationship Type="http://schemas.openxmlformats.org/officeDocument/2006/relationships/image" Target="/ppt/media/image9.png" Id="Reaaf51674cd641e9" /><Relationship Type="http://schemas.openxmlformats.org/officeDocument/2006/relationships/notesSlide" Target="/ppt/notesSlides/notesSlide32.xml" Id="R6bab4f3f335d4e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aa9ae04e5b4397" /><Relationship Type="http://schemas.openxmlformats.org/officeDocument/2006/relationships/image" Target="/ppt/media/image10.png" Id="Rcff444283b52407f" /><Relationship Type="http://schemas.openxmlformats.org/officeDocument/2006/relationships/notesSlide" Target="/ppt/notesSlides/notesSlide33.xml" Id="Rda44a73473bb45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328c618924963" /><Relationship Type="http://schemas.openxmlformats.org/officeDocument/2006/relationships/image" Target="/ppt/media/image11.png" Id="R3d4d4eac05c04d79" /><Relationship Type="http://schemas.openxmlformats.org/officeDocument/2006/relationships/notesSlide" Target="/ppt/notesSlides/notesSlide34.xml" Id="R9452b7c3f18f48a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ae16653774306" /><Relationship Type="http://schemas.openxmlformats.org/officeDocument/2006/relationships/image" Target="/ppt/media/image12.png" Id="R2e89d42d923c4c73" /><Relationship Type="http://schemas.openxmlformats.org/officeDocument/2006/relationships/notesSlide" Target="/ppt/notesSlides/notesSlide35.xml" Id="R3f31b96da04c4e9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64cd1127f48e8" /><Relationship Type="http://schemas.openxmlformats.org/officeDocument/2006/relationships/image" Target="/ppt/media/image13.png" Id="Rce2629ee67954034" /><Relationship Type="http://schemas.openxmlformats.org/officeDocument/2006/relationships/notesSlide" Target="/ppt/notesSlides/notesSlide36.xml" Id="R0613f772f2e449b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4b76a0b114073" /><Relationship Type="http://schemas.openxmlformats.org/officeDocument/2006/relationships/notesSlide" Target="/ppt/notesSlides/notesSlide37.xml" Id="R23ca68927ea64ae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e2c9ce7804065" /><Relationship Type="http://schemas.openxmlformats.org/officeDocument/2006/relationships/notesSlide" Target="/ppt/notesSlides/notesSlide38.xml" Id="R13e8b8306d3f40e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335ad99fa14dd8" /><Relationship Type="http://schemas.openxmlformats.org/officeDocument/2006/relationships/image" Target="/ppt/media/image14.png" Id="R7194b3ac6f454af6" /><Relationship Type="http://schemas.openxmlformats.org/officeDocument/2006/relationships/notesSlide" Target="/ppt/notesSlides/notesSlide39.xml" Id="Ra24f98cdb8314d2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72df93d684a29" /><Relationship Type="http://schemas.openxmlformats.org/officeDocument/2006/relationships/notesSlide" Target="/ppt/notesSlides/notesSlide40.xml" Id="R7e4b02812b434f7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8267931934bbe" /><Relationship Type="http://schemas.openxmlformats.org/officeDocument/2006/relationships/notesSlide" Target="/ppt/notesSlides/notesSlide41.xml" Id="Rc2ff6fbcff574f5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3896c61f04c9c" /><Relationship Type="http://schemas.openxmlformats.org/officeDocument/2006/relationships/notesSlide" Target="/ppt/notesSlides/notesSlide42.xml" Id="Re1da51546af348f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c0ec1d1b241e0" /><Relationship Type="http://schemas.openxmlformats.org/officeDocument/2006/relationships/notesSlide" Target="/ppt/notesSlides/notesSlide43.xml" Id="R76a1c3f3e661467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5def0026644d1" /><Relationship Type="http://schemas.openxmlformats.org/officeDocument/2006/relationships/notesSlide" Target="/ppt/notesSlides/notesSlide44.xml" Id="R7b2ef61698704d5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b42d5988aa4f32" /><Relationship Type="http://schemas.openxmlformats.org/officeDocument/2006/relationships/notesSlide" Target="/ppt/notesSlides/notesSlide45.xml" Id="R6c9b3a1020da410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c520f27d04cae" /><Relationship Type="http://schemas.openxmlformats.org/officeDocument/2006/relationships/image" Target="/ppt/media/image15.png" Id="R42d6ab70faea488a" /><Relationship Type="http://schemas.openxmlformats.org/officeDocument/2006/relationships/notesSlide" Target="/ppt/notesSlides/notesSlide46.xml" Id="Rb6a3641cf8f94aa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ecd2bc5d554cc3" /><Relationship Type="http://schemas.openxmlformats.org/officeDocument/2006/relationships/image" Target="/ppt/media/image16.png" Id="R78a620782bbc4667" /><Relationship Type="http://schemas.openxmlformats.org/officeDocument/2006/relationships/notesSlide" Target="/ppt/notesSlides/notesSlide47.xml" Id="R96b99b1e2e5041b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545e41e024e37" /><Relationship Type="http://schemas.openxmlformats.org/officeDocument/2006/relationships/image" Target="/ppt/media/image17.png" Id="Ra9a5b90e1b304d9f" /><Relationship Type="http://schemas.openxmlformats.org/officeDocument/2006/relationships/notesSlide" Target="/ppt/notesSlides/notesSlide48.xml" Id="Ra6a8a777c3b1434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bbebfec11466b" /><Relationship Type="http://schemas.openxmlformats.org/officeDocument/2006/relationships/image" Target="/ppt/media/image18.png" Id="R81c8d6d1421f4873" /><Relationship Type="http://schemas.openxmlformats.org/officeDocument/2006/relationships/notesSlide" Target="/ppt/notesSlides/notesSlide49.xml" Id="Ra351f6f7f3c64d1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6e4fe798f4ad1" /><Relationship Type="http://schemas.openxmlformats.org/officeDocument/2006/relationships/image" Target="/ppt/media/image19.png" Id="R6160f2be11124ae3" /><Relationship Type="http://schemas.openxmlformats.org/officeDocument/2006/relationships/image" Target="/ppt/media/image20.png" Id="R019eb94a1cc34afb" /><Relationship Type="http://schemas.openxmlformats.org/officeDocument/2006/relationships/image" Target="/ppt/media/image21.png" Id="Rb657d38be9764b26" /><Relationship Type="http://schemas.openxmlformats.org/officeDocument/2006/relationships/notesSlide" Target="/ppt/notesSlides/notesSlide50.xml" Id="Rbaf4811fd50a425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4b7974f4c47c0" /><Relationship Type="http://schemas.openxmlformats.org/officeDocument/2006/relationships/image" Target="/ppt/media/image22.png" Id="R05458656ebeb421f" /><Relationship Type="http://schemas.openxmlformats.org/officeDocument/2006/relationships/image" Target="/ppt/media/image23.png" Id="R04a886122a32430f" /><Relationship Type="http://schemas.openxmlformats.org/officeDocument/2006/relationships/image" Target="/ppt/media/image24.png" Id="Re2592cec3ce548ff" /><Relationship Type="http://schemas.openxmlformats.org/officeDocument/2006/relationships/notesSlide" Target="/ppt/notesSlides/notesSlide51.xml" Id="Rfa004ff0ff5f4cc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68b9d7cb649c6" /><Relationship Type="http://schemas.openxmlformats.org/officeDocument/2006/relationships/image" Target="/ppt/media/image25.png" Id="R1639df1b7f524fa7" /><Relationship Type="http://schemas.openxmlformats.org/officeDocument/2006/relationships/image" Target="/ppt/media/image26.png" Id="R18c9012cda984d8b" /><Relationship Type="http://schemas.openxmlformats.org/officeDocument/2006/relationships/image" Target="/ppt/media/image27.png" Id="Rb1d3917f70e14b59" /><Relationship Type="http://schemas.openxmlformats.org/officeDocument/2006/relationships/notesSlide" Target="/ppt/notesSlides/notesSlide52.xml" Id="Rc291991ae26f421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7676b429d4dbb" /><Relationship Type="http://schemas.openxmlformats.org/officeDocument/2006/relationships/image" Target="/ppt/media/image28.png" Id="R7dce2af344ee4bc0" /><Relationship Type="http://schemas.openxmlformats.org/officeDocument/2006/relationships/notesSlide" Target="/ppt/notesSlides/notesSlide53.xml" Id="R4b48d55fd3ff4d1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b45796dd0414e" /><Relationship Type="http://schemas.openxmlformats.org/officeDocument/2006/relationships/image" Target="/ppt/media/image29.png" Id="R2df0c485e0a14cfc" /><Relationship Type="http://schemas.openxmlformats.org/officeDocument/2006/relationships/image" Target="/ppt/media/image30.png" Id="R0db4789f93284c37" /><Relationship Type="http://schemas.openxmlformats.org/officeDocument/2006/relationships/image" Target="/ppt/media/image31.png" Id="R784ca05b113c4903" /><Relationship Type="http://schemas.openxmlformats.org/officeDocument/2006/relationships/notesSlide" Target="/ppt/notesSlides/notesSlide54.xml" Id="R7d397ea5a0554f2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bd4d88f5445ef" /><Relationship Type="http://schemas.openxmlformats.org/officeDocument/2006/relationships/image" Target="/ppt/media/image32.png" Id="R7b18c383a60f4175" /><Relationship Type="http://schemas.openxmlformats.org/officeDocument/2006/relationships/image" Target="/ppt/media/image33.png" Id="R7b63e1e892a54283" /><Relationship Type="http://schemas.openxmlformats.org/officeDocument/2006/relationships/image" Target="/ppt/media/image34.png" Id="R32dcb15dc2e64227" /><Relationship Type="http://schemas.openxmlformats.org/officeDocument/2006/relationships/notesSlide" Target="/ppt/notesSlides/notesSlide55.xml" Id="R9d4db092a2d1491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603d05b4b4044" /><Relationship Type="http://schemas.openxmlformats.org/officeDocument/2006/relationships/image" Target="/ppt/media/image35.png" Id="R99f1eab7f9b7440c" /><Relationship Type="http://schemas.openxmlformats.org/officeDocument/2006/relationships/image" Target="/ppt/media/image36.png" Id="R73e5bb5710bd49cc" /><Relationship Type="http://schemas.openxmlformats.org/officeDocument/2006/relationships/image" Target="/ppt/media/image37.png" Id="Ra3152b1a9df04a14" /><Relationship Type="http://schemas.openxmlformats.org/officeDocument/2006/relationships/notesSlide" Target="/ppt/notesSlides/notesSlide56.xml" Id="Ra2e51f22f86e4d6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49bb7966e4f19" /><Relationship Type="http://schemas.openxmlformats.org/officeDocument/2006/relationships/notesSlide" Target="/ppt/notesSlides/notesSlide57.xml" Id="R50d576018fcc4fb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a768c7327499f" /><Relationship Type="http://schemas.openxmlformats.org/officeDocument/2006/relationships/notesSlide" Target="/ppt/notesSlides/notesSlide58.xml" Id="R1a55dbc054cf4da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662e93cf64c9f" /><Relationship Type="http://schemas.openxmlformats.org/officeDocument/2006/relationships/notesSlide" Target="/ppt/notesSlides/notesSlide59.xml" Id="Rd1af5127d89c4c9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7ebc95a6f49ca" /><Relationship Type="http://schemas.openxmlformats.org/officeDocument/2006/relationships/notesSlide" Target="/ppt/notesSlides/notesSlide60.xml" Id="R92c91e4cf5bc4ab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0e0fb2e0f4c6d" /><Relationship Type="http://schemas.openxmlformats.org/officeDocument/2006/relationships/notesSlide" Target="/ppt/notesSlides/notesSlide61.xml" Id="Ra8ac6d49e346463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b9f96096549bd" /><Relationship Type="http://schemas.openxmlformats.org/officeDocument/2006/relationships/notesSlide" Target="/ppt/notesSlides/notesSlide62.xml" Id="Rf22b8ea36a0c4a8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680156a4e40a2" /><Relationship Type="http://schemas.openxmlformats.org/officeDocument/2006/relationships/notesSlide" Target="/ppt/notesSlides/notesSlide63.xml" Id="R7fc9a5d2c0c14a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F1D4165-9330-4774-96A7-DB1A570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6A8723-EDC0-4F4B-BAFB-002FD46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870BCD-DF39-4007-A608-836D52E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quality scores from wine chemistry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A75ABB-7463-4D47-B7F4-A996197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1867552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2342F44-011D-4ABA-B926-50E362E8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974CB4-DA45-4873-A985-824F4A56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2F0B2D-4DAC-4E9C-8690-DF2B1E9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A2C2F0-5337-4984-822C-D042FEF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018A4B-7CC0-4EAD-903B-9C970831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0.5550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04B0602-DB4F-481E-BA0A-B3403A7C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RMSE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CBF20F-4E78-439C-970D-0051884D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Regression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100CC97-D29B-4292-90FA-436C0BB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has the lowest RMSE, 0.5550 quality points. Its lead over Random Forest is uncertain.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29191E-402E-4F82-9A76-56D812C9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9712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17C5D38-FEDD-461E-AE11-BCB789A3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3567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leads macro F1 at 0.3780. LightGBM has the highest accuracy at 68.1%.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AC82C92-2D60-48AA-A135-C390411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2999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Main finding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00F4609-C32A-4211-A149-436EEEC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6854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Common scores are easier to predict than rare extremes. The intended grading task determines which metric matters.</a:t>
            </a:r>
          </a:p>
        </p:txBody>
      </p:sp>
    </p:spTree>
    <p:extLst>
      <p:ext uri="{BB962C8B-B14F-4D97-AF65-F5344CB8AC3E}">
        <p14:creationId xmlns:p14="http://schemas.microsoft.com/office/powerpoint/2010/main" val="1506804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DDA9CF6E-FD6E-49C6-B1D7-52ABCE2F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ABF265-94B0-4B6F-90DD-7031389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B25F4E-890D-482F-B5B2-FD66BC05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FC7F41-93A4-4CA0-8913-6B3FF1C9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2F26E24-7C6E-44ED-A148-D646D1DF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4FDE07A-EDFB-4C2C-9AFF-659575F7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red-wine quality from laboratory measurements, both as a numerical score and as one of six observed quality classes.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7B217BF-A05F-4ECE-AAFB-F674A941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961C775-787F-41F9-827B-C33ADC8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wine sample. The observed scores run from 3 to 8.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A8AAA01-6CFD-4842-9CF3-3BF7E56B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3A9770E-0117-4E13-AAF6-CE6C388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and MAE for regression. Macro F1 and per-class recall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596213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B2225B1-B04D-4E5B-AD5F-CF2E91B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F41DCF3-61DA-49F3-AB13-35AD79D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FE4EA5-8701-4B78-B5F8-78E71B27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B68857-255C-4DFC-960B-05F937D5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EBF63-5F4D-4025-9680-8913E2216E5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1,599 red Vinho Verde wine samples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 physicochemical measurements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integer scores 3, 4, 5, 6, 7 and 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Scope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Red-wine benchmark. Generalization to other regions or white wines remains untested.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469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5D0B563-822C-45EF-9B75-59D212B6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615807-7375-4DE1-B9CC-F39469D0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696ECC5-36B5-40C5-A3BB-E630A3FD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8977A6-0F7F-4FEF-8AC3-C3BD6836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EC72E-FB46-4870-B58D-C408216B25C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 data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Load OpenML wine-quality-red, version 1. Rename the target to quality.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Convert quality to integer scores from 3 to 8.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chemistry measurements are complete.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Scaling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Standardize the predictors using the training partition for linear models, KNN and MLP.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82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48C76F2-F9A0-4E85-AA74-E521105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780606-50BA-4520-9A0B-0A592003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Quality distribution and chemistry correlations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28CEA3-232A-49AA-897F-A30EB510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732170-4FFF-4A8F-9FE3-089E2CF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F72F6-0356-4209-AFDC-2989A6E45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09cf20b394d11"/>
          <a:stretch xmlns:a="http://schemas.openxmlformats.org/drawingml/2006/main"/>
        </p:blipFill>
        <p:spPr>
          <a:xfrm xmlns:a="http://schemas.openxmlformats.org/drawingml/2006/main">
            <a:off x="522793" y="1762125"/>
            <a:ext cx="111464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AE870B6-2EE9-48D8-BB61-BA80C856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Most samples have scores of 5 or 6. Scores of 3 and 8 have little support.</a:t>
            </a:r>
          </a:p>
        </p:txBody>
      </p:sp>
    </p:spTree>
    <p:extLst>
      <p:ext uri="{BB962C8B-B14F-4D97-AF65-F5344CB8AC3E}">
        <p14:creationId xmlns:p14="http://schemas.microsoft.com/office/powerpoint/2010/main" val="16313822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24FC4AB-F42C-4487-AA4F-4E84199B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DED016-E529-4D6C-BC8E-0D2C5352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4D0A78E-4503-470D-94E7-A40DDAA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C1BDC9-7816-4369-8B42-C20137F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4EEB35-EB72-4160-A1C8-B5A5EAED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Quality scores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F2A5E6-204B-421C-9F3F-60B15D69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Most samples have scores of 5 or 6. Scores of 3 and 8 have little support.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29BA718-EB7C-4D80-A79F-6B71C576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Chemistry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43D5FB9-89ED-4C9C-BC00-B0580ACB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Alcohol has a positive fitted association with quality, while volatile acidity has a negative association.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C4981C1-D4C5-4457-8DE9-FA7DD4CF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4DA5545-DAC0-4E77-8F36-0274DF07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Repeated chemistry profiles should stay in the same fold. Rare classes need repeated stratified evaluation.</a:t>
            </a:r>
          </a:p>
        </p:txBody>
      </p:sp>
    </p:spTree>
    <p:extLst>
      <p:ext uri="{BB962C8B-B14F-4D97-AF65-F5344CB8AC3E}">
        <p14:creationId xmlns:p14="http://schemas.microsoft.com/office/powerpoint/2010/main" val="131270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7649E43-25B2-4335-98E3-0FBA92E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2551F9-A8E9-4740-A628-342C2983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9ED487-6EE6-4CF6-A7C1-18ACBA1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66D60B-0A5F-4917-A1FF-874CB3E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D37C7-8586-4EF9-984A-984BC00CEF4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Acidity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 acidity, volatile acidity, citric acid and pH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Composition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Residual sugar, chlorides, density and sulphates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and total sulfur dioxide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Alcohol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Alcohol percentage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318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771614EE-9216-4C4C-8F97-6FF92B2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DD2D58-3D77-4841-8324-1B548F6E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6789EB-A4AE-49CB-82DB-525E97D7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5ED8BF-C559-4E6B-9910-6C261D7F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0DCF69-2CF9-49B4-9315-D37A8520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8BD101-28DC-4FCF-BE73-B710806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random 80/20 split with seed 42. Both tasks reuse the same 1,279 training samples and 320 test samples. The split does not stratify quality.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3F01717-407A-4759-B6F9-39F72F2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B8E2E2-02EF-4E2B-A1F6-D53F06C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Fit feature scaling on training rows, then apply the same transformation to the test partition.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3804374-41D4-4D0A-AB87-715D96C3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B2F581B-2C26-4EBD-986E-6C3EC12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partition is separate from the rows used to fit each model.</a:t>
            </a:r>
          </a:p>
        </p:txBody>
      </p:sp>
    </p:spTree>
    <p:extLst>
      <p:ext uri="{BB962C8B-B14F-4D97-AF65-F5344CB8AC3E}">
        <p14:creationId xmlns:p14="http://schemas.microsoft.com/office/powerpoint/2010/main" val="720814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F40A6F5-CE95-4D71-B65F-4672A15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E958C1E-9743-49EE-B59E-9C0610A8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296A28-33E6-4360-ACA7-B8179FF2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2B4011-FF3C-4572-A38B-D9ACFB02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4D0EB-99CE-4594-8F4C-27C49D34C35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OLS, Ridge, Lasso and Elastic Net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45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7E80856-A1CD-4355-99A8-FCE35AE0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6CFA6A-B4D8-4E2F-8B5E-D3EDCEC7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E138E6-18D8-4893-8050-06DD6D0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31D219-DF91-46AB-A9F4-EE83532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A37B9-FF06-43A5-A187-6F00A97C75A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3756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84A4961-596F-46BD-AF96-4C0B5C59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7944212-6FB1-4D68-9E3A-3B939E0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5EFE8A6-76EB-4DC6-B70B-5937408C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27F2F1-46AC-45AC-9E64-BFF36CEB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5B8B6-9F1D-488E-BDE8-1893242C524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8930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62667FA-40E3-4FD3-8626-14A14500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E2B557-EB6E-4E2E-A33F-0ED0044D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D3D4C2B-B147-4C07-B813-B9C07BF9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A15F42-DC66-4D11-B48B-B793F66F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425C1-6DDF-4C26-A92D-E440E41D5D8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211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11F4A959-BB6B-4439-8D45-74A63524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79935D-A840-472D-BAD3-E6E4131D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671E33-594C-4A4C-91D4-C433E5F9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5309664-E92E-4F14-A883-60DFB968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4B90BD-D513-4DAA-AD2F-3B56A5D6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Ridge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0A70264-2781-4695-84B9-EC11C36F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6D05E01-19DA-4B4C-916E-6BE9632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496B588-6BEA-4FC7-B2B1-715B4485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4FEC039-BA6E-4CA1-A1BC-78E58CC5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5C8B67B-9395-42C7-B154-D26CE936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90847D5-12AD-41D3-810A-AA86CCFB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RMSE 0.5550 and MAE 0.4284. It has the best observed test score.</a:t>
            </a:r>
          </a:p>
        </p:txBody>
      </p:sp>
    </p:spTree>
    <p:extLst>
      <p:ext uri="{BB962C8B-B14F-4D97-AF65-F5344CB8AC3E}">
        <p14:creationId xmlns:p14="http://schemas.microsoft.com/office/powerpoint/2010/main" val="575637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982B879-F1A1-4163-9883-BE1831E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8A5D45C-182F-4ADC-A1E0-49AD269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861FE57-5BB3-4C42-BBA0-D70A0DBE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7BC1BB7-045E-4764-A5A5-702223F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8F6A-DD33-49E1-88A3-CEAB7FBCC1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1f7ee9e5045f4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8C9B3EA-4B7D-4173-BF05-299F1CE9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7864463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A1D7F61-1AF0-4818-8C38-CEB12664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ACECB7-76CB-429E-8E51-7B5E129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9035B6-EDF9-43A7-BFB2-A54A9D4C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0151DE9-DF53-44EE-A151-587B49BF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9B00D-9F1F-4956-B9EF-C43A470E38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849d21b574721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51BB098-606D-4450-82E0-245F1F7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Stacking versus Random Forest.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9705695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A40DD31-8533-4082-BB46-D3E41AF3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BCF7D7-7FE5-4B7B-9A0B-3B9D0826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38711D-6132-4A5A-902A-C1AF349F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35A27EF-1CB2-4464-BDDA-7DF2A4B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6029E-8FD9-4431-A751-0CE9C7D26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6ba90ea704a2a"/>
          <a:stretch xmlns:a="http://schemas.openxmlformats.org/drawingml/2006/main"/>
        </p:blipFill>
        <p:spPr>
          <a:xfrm xmlns:a="http://schemas.openxmlformats.org/drawingml/2006/main">
            <a:off x="2875468" y="1762125"/>
            <a:ext cx="644106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CEA66DF-2D18-4B27-9BC9-4E75B568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chemistry measurements overlap. Compare alcohol, acidity and preservation variables as groups as well as individual features.</a:t>
            </a:r>
          </a:p>
        </p:txBody>
      </p:sp>
    </p:spTree>
    <p:extLst>
      <p:ext uri="{BB962C8B-B14F-4D97-AF65-F5344CB8AC3E}">
        <p14:creationId xmlns:p14="http://schemas.microsoft.com/office/powerpoint/2010/main" val="16225087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1BF2576-EE7E-44EA-94EB-5C8A8BB6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0146AE-79BA-43FA-8495-2B8F7B1D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Prediction errors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1F2BDB-4BC0-43FA-8720-74AF468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7B3F3BB-AA12-4041-8995-1F411A9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47491-2ED7-4EDD-A399-83061C1F6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18fd4bc7d4ff7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98FD2D6-7F2C-4D6B-881A-8744543C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Residual = prediction − actual. Positive residuals indicate overprediction.</a:t>
            </a:r>
          </a:p>
        </p:txBody>
      </p:sp>
    </p:spTree>
    <p:extLst>
      <p:ext uri="{BB962C8B-B14F-4D97-AF65-F5344CB8AC3E}">
        <p14:creationId xmlns:p14="http://schemas.microsoft.com/office/powerpoint/2010/main" val="6046527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2E12027-28D5-48EC-A225-2E64617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AC83E0-AE00-440A-A80A-27202F8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Simple baselines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63012A2-1ED6-4B69-95DD-D138CE6C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680071-B32F-4306-B54A-9942F9C1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01E3C-A575-4DDF-B493-EEE61B374D7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52772"/>
                <a:gridCol w="2055876"/>
                <a:gridCol w="2055876"/>
                <a:gridCol w="2055876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mean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-0.005592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DA50B2-C324-44E5-B2E9-D1BF992E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Same test targets for every row. Error units: quality points.</a:t>
            </a:r>
          </a:p>
        </p:txBody>
      </p:sp>
    </p:spTree>
    <p:extLst>
      <p:ext uri="{BB962C8B-B14F-4D97-AF65-F5344CB8AC3E}">
        <p14:creationId xmlns:p14="http://schemas.microsoft.com/office/powerpoint/2010/main" val="6718018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15D8701C-80CF-483E-BEB0-A3C5CE0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45F604-B275-4F89-BB8C-2D7D5A3E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Six-class classification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FC9F920-C93E-4578-8821-D1712EF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414B8F6-3C72-4E68-A526-28A4C4F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42A780-A8AE-4A87-B131-796448E4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Classes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7FB1830-580B-4CAE-BA59-5B39D705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one quality score from 3 to 8, using the same partition as regression.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8D5031C-D672-470F-B161-5B2ADAB6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Training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A26B092-307C-4852-B3FC-61E90925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Use balanced class or sample weights where supported. KNN is unweighted. Reuse the reference model settings.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285D303-D1DE-4D54-BC8E-366FF88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349CF57-E8E3-47A5-86EA-8390E4C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has macro F1 of 0.3780, accuracy of 67.2% and weighted F1 of 0.6675.</a:t>
            </a:r>
          </a:p>
        </p:txBody>
      </p:sp>
    </p:spTree>
    <p:extLst>
      <p:ext uri="{BB962C8B-B14F-4D97-AF65-F5344CB8AC3E}">
        <p14:creationId xmlns:p14="http://schemas.microsoft.com/office/powerpoint/2010/main" val="5109793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83062FC-B2E6-47F6-AD81-E486319D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002E43-F8EF-4BB9-B1D7-12116165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F1 by quality score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5119AA-C75D-4B8D-863E-D4EDE27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150020-9C2C-41AD-85B7-3EC60EAD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5DCDC-52A7-4108-9AB1-66794E711B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6af8f46cf4c55"/>
          <a:stretch xmlns:a="http://schemas.openxmlformats.org/drawingml/2006/main"/>
        </p:blipFill>
        <p:spPr>
          <a:xfrm xmlns:a="http://schemas.openxmlformats.org/drawingml/2006/main">
            <a:off x="2806037" y="1762125"/>
            <a:ext cx="6579925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26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1B60183-DB7B-4C69-A1FE-E35036DE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4F40AB-68A8-40D9-BDB9-46E09933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confusion matrix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ECA0BD-F359-4482-A058-4724BE3C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17CF18-065A-48AA-A654-AC055F2D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37109-7D13-4813-A78D-6D3B7ECF3A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dd59aa9194a2a"/>
          <a:stretch xmlns:a="http://schemas.openxmlformats.org/drawingml/2006/main"/>
        </p:blipFill>
        <p:spPr>
          <a:xfrm xmlns:a="http://schemas.openxmlformats.org/drawingml/2006/main">
            <a:off x="4044616" y="1762125"/>
            <a:ext cx="410276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568574B-EF61-476A-83F2-3F8399BA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Rows show actual classes. Columns show predicted classes.</a:t>
            </a:r>
          </a:p>
        </p:txBody>
      </p:sp>
    </p:spTree>
    <p:extLst>
      <p:ext uri="{BB962C8B-B14F-4D97-AF65-F5344CB8AC3E}">
        <p14:creationId xmlns:p14="http://schemas.microsoft.com/office/powerpoint/2010/main" val="16117954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E95F974-B1EC-4B77-8A10-9BFF294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84278C8-EC09-4E9A-BD65-F8E9FB6F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5160B5-AAD3-4FE7-899D-3CF2E766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073E8D-7526-4CFD-8B3C-C2D4601F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C01FF3-3513-4269-9A42-25543D12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Regression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3269CA-6C1F-4F2A-80D4-75E70914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reaches RMSE 0.5550 and MAE 0.4284. Random Forest is a close, simpler alternative.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5C649C4-02AD-438B-9A0F-7B91C59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Classification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F4B6962-08EC-49D7-9DF3-55B9A66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reaches macro F1 0.3780 and accuracy 67.2%. LightGBM improves overall accuracy but has lower macro F1.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2238E51-1491-4B8A-87DC-34A21475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Model choice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9DB219E-FF63-4916-A032-511267C6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Use regression for score estimation. Test ordinal classification and grouped stratified folds for exact grades.</a:t>
            </a:r>
          </a:p>
        </p:txBody>
      </p:sp>
    </p:spTree>
    <p:extLst>
      <p:ext uri="{BB962C8B-B14F-4D97-AF65-F5344CB8AC3E}">
        <p14:creationId xmlns:p14="http://schemas.microsoft.com/office/powerpoint/2010/main" val="1973174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E8C75E0-E370-46E7-B773-1E66DB77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596689-716E-46A8-BEF4-FFF109A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82DD7BD-4113-4DDC-AFC3-FA5D45C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C29E02-2AF1-46A7-8A6A-7C59FD85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223E7-E3F3-4423-9F17-30E9B63B9D6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size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Only 320 samples are in the test partition.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Rare classes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test set contains only one sample with quality 3.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Repeated profiles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Identical chemistry profiles may appear in both partitions.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Ordered target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multiclass loss does not distinguish small and large grading errors.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Optimization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and Elastic Net logistic classifiers reached 8,000 iterations without convergence. Their scores remain provisional.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4777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7BDC6CC-55D5-47CF-B9D8-FB788024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5CED00-7951-47E7-9E83-91AE39F9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A4D060-9FEC-451A-A485-9F0BABA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402D09-F97E-47D0-941F-99D2DA2E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38A4E-10E9-4AEB-A5B2-F1E22C0DB37B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Grouped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identical chemistry profiles within the same fold.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Performance without duplicate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Ordinal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ordinal classification with regression and multiclass models.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large-score error with useful macro 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Balanced evaluation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repeated stratified folds with enough support for each score.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Per-class uncertainty estimates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 using folds, refit all training rows and reserve an independent test.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final unbiased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14324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990F678-9C34-4A08-A781-24C3CEF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0A8BDA-89CC-4A0B-8DE9-467AB90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297EF9-9661-4BC5-BB73-8CDB3D5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DDFF35-3E05-4DDD-8416-31DA528C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8C01B4D-8F79-4EB5-BC06-865D959F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 leads score estimation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AAB0E9-F3F9-48CB-8878-502C961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RMSE 0.5550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3D6F1F-1FFA-4918-B402-485984D3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remains a close alternative. XGBoost leads macro F1 for exact grades, while rare-score detection needs further work.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3BF1537-EF3D-48D9-9933-E076E722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38017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D81D78D-F055-41E3-861B-BC617687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7B71D1-F0F7-46AF-B1B9-787E436D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C3CD99-2E7C-4C3E-9517-192AE9E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180F928-8880-4C29-9089-C6960F30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988AE-F2BD-499F-BF3A-1428D9F1868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 / MAE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score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Regression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Equal weight for each quality class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Classification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Per-class recall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 of each class detected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Rare-score assessment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 of exact grades predicted correctly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Overall grading 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6368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55A1272-0B26-43C7-A9C6-7B2615F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0FE727-7ABA-47C0-BB8E-68862A0B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808102-694A-4ED8-A638-70E91AE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EEE0D7E-FA9D-42F0-BAF0-B7CFC726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E2CAC-0064-4C3E-9CB4-B8ABC936844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Fits an additive linear relationship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L2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set coefficients to zero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Squared error + L1 and L2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0506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3EEC231-10D8-49C6-BDE1-92A1E09C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5AF34F-0156-4907-A7AF-B84D2D1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2B1D62-080B-4551-8B22-08783C82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82DD7D8-034A-43B1-A4C8-0CB97F4F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6C140-A803-43C1-8008-82EF5392899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2380488"/>
                <a:gridCol w="2380488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3791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304CF74-53D4-4D51-880B-386ED53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46D971-BECC-4339-8C5E-4DA769B4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869948-CF77-4171-9D49-54314090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C8B653-3371-44CE-9C9A-9D698F21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983EBFF-8D4E-4793-9DEF-BB7D131A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553B3F1-04ED-4B3E-9E55-B1BDB53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OLS has RMSE 0.6245. Ridge, Lasso and Elastic Net are all close to this error level.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57FC486-B642-4C60-8210-80A338C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D1EECEB-4BCE-4A7D-9F81-AB78A243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Alcohol and acidity relate to quality, while correlated chemistry measurements make individual coefficients less stable.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D1FA721-8854-49C5-9DC2-B4E4BE18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A6D8604-3219-4E4F-BED2-4F9846C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penalties with chemistry-profile groups kept together. Check whether the small score differences persist.</a:t>
            </a:r>
          </a:p>
        </p:txBody>
      </p:sp>
    </p:spTree>
    <p:extLst>
      <p:ext uri="{BB962C8B-B14F-4D97-AF65-F5344CB8AC3E}">
        <p14:creationId xmlns:p14="http://schemas.microsoft.com/office/powerpoint/2010/main" val="12345847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A5B9F35-ED87-4824-9B83-4422EAD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5531FF-8AE6-464E-BB68-2EE266A1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66A289-7E2F-48AC-A451-8A7C62D5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8AA8882-1CF6-4CB6-82BE-B50403CA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14A5C-2E1D-457D-A576-DB5A3A60EB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e5c7b252a4965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D8EB8C9-2B95-46FC-BF49-C1157052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14894842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E2C0095-E5D5-4648-A9E4-21129F50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A3D930B-E765-4DF7-8C8B-4E8F3CB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Regularized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F63E31-CA2B-4DAF-A17D-74C4CEEC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F09C93-7147-4133-BF27-200B1526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B5247-9D00-41CB-BB78-29240C832F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f51674cd641e9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D3AFA26-5AC4-4AEF-8773-39EA9239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79546431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135D970-3905-463A-95F3-ABC4AA92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4F4828-40A1-4E1F-8CEB-1BE9EDC1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15836CE-8E78-40B7-993A-710D0097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B44EAB-DFC9-4961-AC5F-E3BFC496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6D21E-06C6-4E35-9D5F-328E818A5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444283b52407f"/>
          <a:stretch xmlns:a="http://schemas.openxmlformats.org/drawingml/2006/main"/>
        </p:blipFill>
        <p:spPr>
          <a:xfrm xmlns:a="http://schemas.openxmlformats.org/drawingml/2006/main">
            <a:off x="3147711" y="1762125"/>
            <a:ext cx="589657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852F0E1-7990-4EE3-8770-DAECEAE8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291150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7FD2FDE-21A0-468B-90FC-A7D4CFDB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F25449-4735-4E63-9D80-BCA2D3A5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20215E2-20A3-42FE-86E9-20A1BD23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E32C46-BE91-41F8-81E7-AB579212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8D150-9190-44FC-8CA7-891AC123C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d4eac05c04d79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7CAC9BE-7517-428A-899E-1A8C8B29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chemistry measurements overlap. Compare alcohol, acidity and preservation variables as groups as well as individual features.</a:t>
            </a:r>
          </a:p>
        </p:txBody>
      </p:sp>
    </p:spTree>
    <p:extLst>
      <p:ext uri="{BB962C8B-B14F-4D97-AF65-F5344CB8AC3E}">
        <p14:creationId xmlns:p14="http://schemas.microsoft.com/office/powerpoint/2010/main" val="7032806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17E9920-EAA4-45F3-AB0F-F1C8AED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F283B7-2795-482E-AFA2-38DAD432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68419D2-61E0-43FE-B7FB-0356C9DD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463A228-214F-4337-B75C-CC7F4EC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E005E-EF67-43A0-95F3-B03BA5517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9d42d923c4c73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74A650B-393C-4AE5-A661-4DCCBA6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chemistry measurements overlap. Compare alcohol, acidity and preservation variables as groups as well as individual features.</a:t>
            </a:r>
          </a:p>
        </p:txBody>
      </p:sp>
    </p:spTree>
    <p:extLst>
      <p:ext uri="{BB962C8B-B14F-4D97-AF65-F5344CB8AC3E}">
        <p14:creationId xmlns:p14="http://schemas.microsoft.com/office/powerpoint/2010/main" val="11469872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68DAC84-BF21-43A6-9B0A-3BD91A36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A3E23A-B1FB-46B1-8636-FBF5344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D29FED-4920-43E2-B570-DFE371C2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993CEE-A1BE-4CED-9F35-B6A2A008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D4A6-83C0-4256-A4FC-D9095C225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629ee67954034"/>
          <a:stretch xmlns:a="http://schemas.openxmlformats.org/drawingml/2006/main"/>
        </p:blipFill>
        <p:spPr>
          <a:xfrm xmlns:a="http://schemas.openxmlformats.org/drawingml/2006/main">
            <a:off x="2871355" y="1762125"/>
            <a:ext cx="6449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50C8526-D95D-4C04-997A-D56E0FC7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chemistry measurements overlap. Compare alcohol, acidity and preservation variables as groups as well as individual features.</a:t>
            </a:r>
          </a:p>
        </p:txBody>
      </p:sp>
    </p:spTree>
    <p:extLst>
      <p:ext uri="{BB962C8B-B14F-4D97-AF65-F5344CB8AC3E}">
        <p14:creationId xmlns:p14="http://schemas.microsoft.com/office/powerpoint/2010/main" val="75113101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9168970-9CDA-42D3-B791-5E14244C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5207E8-2BF3-4DC0-81AC-F6F4135F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Error by target range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E18F98-C548-451B-A1AA-16D3053D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E54BE8-2E1A-45F2-8D5C-ADF8467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D6F04-184B-44B2-A124-C42B7E3534B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3548"/>
                <a:gridCol w="1406652"/>
                <a:gridCol w="2488692"/>
                <a:gridCol w="2921508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target band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 error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Q1: (2.999, 5.0]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Q2: (5.0, 6.0]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0.3567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-0.2017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Q3: (6.0, 8.0]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-0.6578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FFF571E-A705-4C3C-8C86-B2BB71D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Errors for Stacking. Mean error = prediction − actual. Units: quality points.</a:t>
            </a:r>
          </a:p>
        </p:txBody>
      </p:sp>
    </p:spTree>
    <p:extLst>
      <p:ext uri="{BB962C8B-B14F-4D97-AF65-F5344CB8AC3E}">
        <p14:creationId xmlns:p14="http://schemas.microsoft.com/office/powerpoint/2010/main" val="52989822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7E0BCE9-2794-4429-8389-220572A5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CE1A71-37D6-4033-A259-36801A24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E2BD9D-6BA9-4431-A1F4-E044658C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D44734D-E91A-4C60-969E-90134843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5CA5A-A259-4D28-A8C9-46135FE856D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Score estimation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Continuous predictions support screening and prioritizing expert review.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grading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classifier must choose an observed score. Adjacent-score errors still count as classification errors.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Rare scores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Extreme grades need more validation data before automated decisions.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1360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F4FFF3E-CC47-4E62-BB38-15EA3B9B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C3A83A3-7D05-4C83-9F0F-F02DE8E7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Six-class 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8D7F52-0744-4A69-9BA4-7F94F92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0FAC22-D8BC-4AD3-9E1F-D9E67A48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DC789-D220-42CE-B5EF-01B1160852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b3ac6f454af6"/>
          <a:stretch xmlns:a="http://schemas.openxmlformats.org/drawingml/2006/main"/>
        </p:blipFill>
        <p:spPr>
          <a:xfrm xmlns:a="http://schemas.openxmlformats.org/drawingml/2006/main">
            <a:off x="514350" y="2199746"/>
            <a:ext cx="11163300" cy="34110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1923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EAB2DB0-BBDE-4086-830A-049BF8ED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E4CC78B-0F3E-484D-8CE8-4EC7B8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Per-class quality performance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668BBD-F242-4910-B5A1-2F197A14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CC98BE-D58D-417A-98C4-AE272495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E63EF-D7DA-49BF-A3DF-D517A0A057A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78936"/>
                <a:gridCol w="1190244"/>
                <a:gridCol w="1190244"/>
                <a:gridCol w="1190244"/>
                <a:gridCol w="1190244"/>
                <a:gridCol w="1190244"/>
                <a:gridCol w="1190244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Classifier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7103FA0-6AE3-40B9-870A-3DB8C12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Per-class F1. L1 and Elastic Net logistic results remain provisional because the solver did not converge.</a:t>
            </a:r>
          </a:p>
        </p:txBody>
      </p:sp>
    </p:spTree>
    <p:extLst>
      <p:ext uri="{BB962C8B-B14F-4D97-AF65-F5344CB8AC3E}">
        <p14:creationId xmlns:p14="http://schemas.microsoft.com/office/powerpoint/2010/main" val="177467188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8536D44-6FF4-4DD9-B4D4-14F8F713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B7E4AC-8B3E-4837-9D17-1DEACAFE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 distribution by partition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244A299-41CE-4CFF-AF2A-5C0EA386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B57409-6AA5-4598-8EED-F1A6DDA8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EF82D-E6C3-4596-9CE7-C5F7972FA7C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4057650"/>
                <a:gridCol w="405765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bottles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bottles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72092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AC16520-F1BE-4293-9FCF-C3A14DEA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ECB3D53-3AF8-4BA8-8A53-82CBE54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EB88B9F-4178-45E6-B4B1-A2323ABF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AEE3D1C-3B52-480B-9E9A-E092053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FFAE18-626A-401F-8711-0484B43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D1FDC2-F814-47B5-85DF-362A8F7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C6249F5-D297-45F6-B52A-CC0687BF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E1F170D-3E89-4989-B50B-7F1201A2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0BE4D7B-FFC7-47C2-A6BE-D29647B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4D11BF4-8C92-4B31-80F9-D1AE3571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has the best observed score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13868321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FCD7FDD-BB5D-476D-8234-9A71C70D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4B885D-9576-4C85-B48E-2806756C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77116F-3216-4EC9-B138-45743684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656F071-F026-4D8A-9B73-F4A8D0E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B41588E-229B-4A88-B96C-0FE24FD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68668BF-2FED-43DC-8EE4-5072D73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BE2FDDF-C0A9-4788-B6FC-E6D0C3CC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C0A8228-EE65-4725-A9CB-6BD9998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02F7BCB-76F1-4988-8619-D940C078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2982188-8E16-4032-BA07-5E26D0EB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97147691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E7D36C1-B58C-4304-8F0F-C9AC45C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ECA7C7-B0A4-46E2-9906-1904F742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908AD9-C49E-40F8-8DA4-033385F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B8FE95-AFFE-4D60-B09B-CE47A637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62D4A07-C80B-4E8D-A79B-D7E52C16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use regression and classification?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E45499-039B-4066-A25D-F572188B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estimates a numerical score. Classification predicts an exact observed grade and shows which grades the model misses.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2AEAF8E-AEBB-40FC-AEA5-575C0D7F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report macro F1?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2E44A0C-6FA5-4234-A3FA-7301D9EB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Macro F1 gives every quality class equal weight. Accuracy is more influenced by the common scores of 5 and 6.</a:t>
            </a:r>
          </a:p>
        </p:txBody>
      </p:sp>
    </p:spTree>
    <p:extLst>
      <p:ext uri="{BB962C8B-B14F-4D97-AF65-F5344CB8AC3E}">
        <p14:creationId xmlns:p14="http://schemas.microsoft.com/office/powerpoint/2010/main" val="9080019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1C68BAF-DFE1-4593-873A-6CB6CE0D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E734378-9163-48D0-BF47-69D4403B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A8CC73-FF3E-4D55-B8B1-DA0D02E4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823CAD-F6D2-444A-9A3A-52B8A2BE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FEFAABD-3306-48DD-86C9-194B6AE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a prediction of 5.4 mean?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3E0AACA-5DA5-453D-994C-41F4216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is a continuous score estimate. Rounding it creates a separate grading rule that needs its own evaluation.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1CCAF95-E8CE-4C0F-B5CC-077A4ED7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Can we trust performance on quality 3?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71E76B6-63D6-43FE-BD94-083BA286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set contains one example. More rare-score data and repeated stratified evaluation are needed for a useful estimate.</a:t>
            </a:r>
          </a:p>
        </p:txBody>
      </p:sp>
    </p:spTree>
    <p:extLst>
      <p:ext uri="{BB962C8B-B14F-4D97-AF65-F5344CB8AC3E}">
        <p14:creationId xmlns:p14="http://schemas.microsoft.com/office/powerpoint/2010/main" val="107507267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D230318-84E1-4495-98E7-057E3C49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3B1757-063E-46A9-BDC0-251A1746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Actual and predicted quality scores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FFDC25F-27F8-46DE-BC15-85495E0F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DB9C76-B8F1-4CCE-B5E4-7157B84B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46E85-5D5F-44A5-987D-784049EFAE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6ab70faea488a"/>
          <a:stretch xmlns:a="http://schemas.openxmlformats.org/drawingml/2006/main"/>
        </p:blipFill>
        <p:spPr>
          <a:xfrm xmlns:a="http://schemas.openxmlformats.org/drawingml/2006/main">
            <a:off x="4105275" y="1762125"/>
            <a:ext cx="398145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5FBA718-A158-46D3-AC9B-9BF9EB3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19666327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00FDAE3-7EBB-48FE-9EDB-3F68590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D1BA7E-0E8B-4B0A-B839-8111553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Individual model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7E94880-1B99-4E10-9A85-F6CCA3D9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4A38F4-98A8-46B5-902C-98900B91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D605-A53F-4032-AB4A-6EAB0370E2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620782bbc4667"/>
          <a:stretch xmlns:a="http://schemas.openxmlformats.org/drawingml/2006/main"/>
        </p:blipFill>
        <p:spPr>
          <a:xfrm xmlns:a="http://schemas.openxmlformats.org/drawingml/2006/main">
            <a:off x="514350" y="2046268"/>
            <a:ext cx="11163300" cy="3413163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42098EB-53C6-4915-B721-020EC7F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Notebook comparison of individual models. The full results tables also include stacking.</a:t>
            </a:r>
          </a:p>
        </p:txBody>
      </p:sp>
    </p:spTree>
    <p:extLst>
      <p:ext uri="{BB962C8B-B14F-4D97-AF65-F5344CB8AC3E}">
        <p14:creationId xmlns:p14="http://schemas.microsoft.com/office/powerpoint/2010/main" val="9590328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CCEAF29-C833-4BF2-9CE8-641A85B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D9A513-1B3D-4662-88B0-5A275A5D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All regression predictions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B73FD6-7513-4B20-8E95-A1BF480D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79AF76C-F207-405F-967E-F780A9C4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96656-641B-418E-A67F-E90761BFC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5b90e1b304d9f"/>
          <a:stretch xmlns:a="http://schemas.openxmlformats.org/drawingml/2006/main"/>
        </p:blipFill>
        <p:spPr>
          <a:xfrm xmlns:a="http://schemas.openxmlformats.org/drawingml/2006/main">
            <a:off x="1287633" y="1762125"/>
            <a:ext cx="9616733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A906DD7-6BA7-426A-9B11-A2B90C2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Actual outcomes and predictions on the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62536750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25E1887-9250-497E-875F-A2A8060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240B78-021F-4C57-BD0A-84AD01E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All classification errors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1726BCC-ECED-4383-AB9A-7EFF6AAB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7059FD0-31C6-4942-934F-DDE4BC4D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49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D5D78-EB1C-4278-90B6-0B663B850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8d6d1421f4873"/>
          <a:stretch xmlns:a="http://schemas.openxmlformats.org/drawingml/2006/main"/>
        </p:blipFill>
        <p:spPr>
          <a:xfrm xmlns:a="http://schemas.openxmlformats.org/drawingml/2006/main">
            <a:off x="3891586" y="1762125"/>
            <a:ext cx="4408827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7105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B1F6376-EAE6-4B3E-AA05-9979173E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3C8673-5CE2-41D3-914E-9727D763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(1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50972B-E19A-4916-913B-85565E01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176373B-B784-44B6-A10A-D827ED3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50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19E5D-D2FC-40CA-9C88-430AC9F3CA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0f2be11124ae3"/>
          <a:stretch xmlns:a="http://schemas.openxmlformats.org/drawingml/2006/main"/>
        </p:blipFill>
        <p:spPr>
          <a:xfrm xmlns:a="http://schemas.openxmlformats.org/drawingml/2006/main">
            <a:off x="685800" y="2204941"/>
            <a:ext cx="3454400" cy="32005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EFF48-9591-41B9-BBFA-C7B4F04028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eb94a1cc34afb"/>
          <a:stretch xmlns:a="http://schemas.openxmlformats.org/drawingml/2006/main"/>
        </p:blipFill>
        <p:spPr>
          <a:xfrm xmlns:a="http://schemas.openxmlformats.org/drawingml/2006/main">
            <a:off x="4368800" y="2204941"/>
            <a:ext cx="3454400" cy="3200594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1C7D1-E83A-4F4B-881A-07771E424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7d38be9764b26"/>
          <a:stretch xmlns:a="http://schemas.openxmlformats.org/drawingml/2006/main"/>
        </p:blipFill>
        <p:spPr>
          <a:xfrm xmlns:a="http://schemas.openxmlformats.org/drawingml/2006/main">
            <a:off x="8051800" y="2208237"/>
            <a:ext cx="3454400" cy="3194002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6A9C6895-0FA2-4E54-97E4-029CEA1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LinearRegression, Ridge, Lasso.</a:t>
            </a:r>
          </a:p>
        </p:txBody>
      </p:sp>
    </p:spTree>
    <p:extLst>
      <p:ext uri="{BB962C8B-B14F-4D97-AF65-F5344CB8AC3E}">
        <p14:creationId xmlns:p14="http://schemas.microsoft.com/office/powerpoint/2010/main" val="7118802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B0E647E-D073-4790-A789-5F529BDD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4BFB0B-03B1-48AD-A185-B6FE70B9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(2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D22473-A497-44FF-9FAA-B335D1B1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AE961D-CD07-4FD7-B673-0564763A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51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7FC27-E970-407A-8820-FB2C2F1FB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58656ebeb421f"/>
          <a:stretch xmlns:a="http://schemas.openxmlformats.org/drawingml/2006/main"/>
        </p:blipFill>
        <p:spPr>
          <a:xfrm xmlns:a="http://schemas.openxmlformats.org/drawingml/2006/main">
            <a:off x="685800" y="2204941"/>
            <a:ext cx="3454400" cy="32005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4DD88-1F02-428F-8C85-5C82F67BB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886122a32430f"/>
          <a:stretch xmlns:a="http://schemas.openxmlformats.org/drawingml/2006/main"/>
        </p:blipFill>
        <p:spPr>
          <a:xfrm xmlns:a="http://schemas.openxmlformats.org/drawingml/2006/main">
            <a:off x="4368800" y="2208237"/>
            <a:ext cx="3454400" cy="31940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43941-5120-486E-9FD5-262142885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92cec3ce548ff"/>
          <a:stretch xmlns:a="http://schemas.openxmlformats.org/drawingml/2006/main"/>
        </p:blipFill>
        <p:spPr>
          <a:xfrm xmlns:a="http://schemas.openxmlformats.org/drawingml/2006/main">
            <a:off x="8051800" y="2208237"/>
            <a:ext cx="3454400" cy="3194002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E3C40699-1C78-450F-89C0-247E9665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ElasticNet, MLP, KNN.</a:t>
            </a:r>
          </a:p>
        </p:txBody>
      </p:sp>
    </p:spTree>
    <p:extLst>
      <p:ext uri="{BB962C8B-B14F-4D97-AF65-F5344CB8AC3E}">
        <p14:creationId xmlns:p14="http://schemas.microsoft.com/office/powerpoint/2010/main" val="168306627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9CF8D1D-06D3-415D-88E6-3B682A3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640FD1-7176-4934-A0A8-1B8412D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(3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0E0064-EBB5-4C0A-BDB1-D1A5D997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37BCDF6-D5E5-45B8-AC30-21AC168E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52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88155-03B2-46F7-A787-50F4F9EFF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9df1b7f524fa7"/>
          <a:stretch xmlns:a="http://schemas.openxmlformats.org/drawingml/2006/main"/>
        </p:blipFill>
        <p:spPr>
          <a:xfrm xmlns:a="http://schemas.openxmlformats.org/drawingml/2006/main">
            <a:off x="685800" y="2204941"/>
            <a:ext cx="3454400" cy="32005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C392-8AB5-4548-B5F1-1397C15CCC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9012cda984d8b"/>
          <a:stretch xmlns:a="http://schemas.openxmlformats.org/drawingml/2006/main"/>
        </p:blipFill>
        <p:spPr>
          <a:xfrm xmlns:a="http://schemas.openxmlformats.org/drawingml/2006/main">
            <a:off x="4368800" y="2208237"/>
            <a:ext cx="3454400" cy="31940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E5A1-3869-4A74-9D8D-1A424E5854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3917f70e14b59"/>
          <a:stretch xmlns:a="http://schemas.openxmlformats.org/drawingml/2006/main"/>
        </p:blipFill>
        <p:spPr>
          <a:xfrm xmlns:a="http://schemas.openxmlformats.org/drawingml/2006/main">
            <a:off x="8051800" y="2208237"/>
            <a:ext cx="3454400" cy="3194002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C679F9E8-3EF2-42E8-B01B-99D08EE3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RandomForest, XGBoost, CatBoost.</a:t>
            </a:r>
          </a:p>
        </p:txBody>
      </p:sp>
    </p:spTree>
    <p:extLst>
      <p:ext uri="{BB962C8B-B14F-4D97-AF65-F5344CB8AC3E}">
        <p14:creationId xmlns:p14="http://schemas.microsoft.com/office/powerpoint/2010/main" val="10174484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3EDD7B9-7DBF-4A61-B49F-9EF576B9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BECBCD-9FEE-4999-8151-CB13E12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Regression predictions (4 of 4)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D805B3-61F8-4693-AAA0-2ED9A11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933571-BF7E-4FAC-B6D8-63D247E0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53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EDB18-D930-4313-806B-A27EFCC9A6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e2af344ee4bc0"/>
          <a:stretch xmlns:a="http://schemas.openxmlformats.org/drawingml/2006/main"/>
        </p:blipFill>
        <p:spPr>
          <a:xfrm xmlns:a="http://schemas.openxmlformats.org/drawingml/2006/main">
            <a:off x="3870309" y="1743075"/>
            <a:ext cx="4451383" cy="41243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3ECFBA6-3952-466A-AFE5-327E58C2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LightGBM.</a:t>
            </a:r>
          </a:p>
        </p:txBody>
      </p:sp>
    </p:spTree>
    <p:extLst>
      <p:ext uri="{BB962C8B-B14F-4D97-AF65-F5344CB8AC3E}">
        <p14:creationId xmlns:p14="http://schemas.microsoft.com/office/powerpoint/2010/main" val="144101071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FEAD2F0-BBAE-4E0E-9DF2-8EAC9AD3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78F0A3-AB0D-474D-B019-5EC2804B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Classification confusion matrices (1 of 3)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DA9F9B-4367-4426-A914-89249963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17081D-1886-4A45-BF5C-64EE1774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54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DB97-B06B-49E4-A0B2-ADDA9D535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0c485e0a14cfc"/>
          <a:stretch xmlns:a="http://schemas.openxmlformats.org/drawingml/2006/main"/>
        </p:blipFill>
        <p:spPr>
          <a:xfrm xmlns:a="http://schemas.openxmlformats.org/drawingml/2006/main">
            <a:off x="685800" y="2129111"/>
            <a:ext cx="3454400" cy="335225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D9A0C-7C38-40A5-8FAF-819015E92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4789f93284c37"/>
          <a:stretch xmlns:a="http://schemas.openxmlformats.org/drawingml/2006/main"/>
        </p:blipFill>
        <p:spPr>
          <a:xfrm xmlns:a="http://schemas.openxmlformats.org/drawingml/2006/main">
            <a:off x="4368800" y="2124593"/>
            <a:ext cx="3454400" cy="3361289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702D3-8E1C-4C00-8ADF-BE872B4062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ca05b113c4903"/>
          <a:stretch xmlns:a="http://schemas.openxmlformats.org/drawingml/2006/main"/>
        </p:blipFill>
        <p:spPr>
          <a:xfrm xmlns:a="http://schemas.openxmlformats.org/drawingml/2006/main">
            <a:off x="8051800" y="2129111"/>
            <a:ext cx="3454400" cy="3352254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B797C4FC-A681-4E20-864D-65306E6C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LogisticRegression, LogisticLasso, LogisticElasticNet.</a:t>
            </a:r>
          </a:p>
        </p:txBody>
      </p:sp>
    </p:spTree>
    <p:extLst>
      <p:ext uri="{BB962C8B-B14F-4D97-AF65-F5344CB8AC3E}">
        <p14:creationId xmlns:p14="http://schemas.microsoft.com/office/powerpoint/2010/main" val="193791749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B1A98AE-6149-4EAF-AFE6-6043E1E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4727EC-4DF5-4C40-A4DD-CBC0FA6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Classification confusion matrices (2 of 3)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CE4A73-592A-476F-8189-695F0B25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50D576-3042-4EDD-845A-2668F7A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55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F723C-441B-4390-964E-4448C187A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8c383a60f4175"/>
          <a:stretch xmlns:a="http://schemas.openxmlformats.org/drawingml/2006/main"/>
        </p:blipFill>
        <p:spPr>
          <a:xfrm xmlns:a="http://schemas.openxmlformats.org/drawingml/2006/main">
            <a:off x="685800" y="2124468"/>
            <a:ext cx="3454400" cy="336154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BA051-13E0-4770-9F21-F59860E97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3e1e892a54283"/>
          <a:stretch xmlns:a="http://schemas.openxmlformats.org/drawingml/2006/main"/>
        </p:blipFill>
        <p:spPr>
          <a:xfrm xmlns:a="http://schemas.openxmlformats.org/drawingml/2006/main">
            <a:off x="4368800" y="2119937"/>
            <a:ext cx="3454400" cy="3370601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6FF5B-0670-4602-9CAC-40F7898A62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cb15dc2e64227"/>
          <a:stretch xmlns:a="http://schemas.openxmlformats.org/drawingml/2006/main"/>
        </p:blipFill>
        <p:spPr>
          <a:xfrm xmlns:a="http://schemas.openxmlformats.org/drawingml/2006/main">
            <a:off x="8051800" y="2124468"/>
            <a:ext cx="3454400" cy="3361540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B4723C70-F476-4E5C-82C9-889E1A2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KNN, MLP, RandomForest.</a:t>
            </a:r>
          </a:p>
        </p:txBody>
      </p:sp>
    </p:spTree>
    <p:extLst>
      <p:ext uri="{BB962C8B-B14F-4D97-AF65-F5344CB8AC3E}">
        <p14:creationId xmlns:p14="http://schemas.microsoft.com/office/powerpoint/2010/main" val="17348266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A3F11A6-5101-4BA7-BCA5-D25462C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52CFD7-7E78-4CF0-9C07-24A3130D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Classification confusion matrices (3 of 3)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C2A2E0-B142-4D34-AB2E-393CE93C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694987-E391-460D-8FFA-55EF18E7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56 / 63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03AB6-B303-4B45-AB1C-5AEF4AFCC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1eab7f9b7440c"/>
          <a:stretch xmlns:a="http://schemas.openxmlformats.org/drawingml/2006/main"/>
        </p:blipFill>
        <p:spPr>
          <a:xfrm xmlns:a="http://schemas.openxmlformats.org/drawingml/2006/main">
            <a:off x="685800" y="2129111"/>
            <a:ext cx="3454400" cy="335225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75FCF-84B8-45A6-91DD-BBD5CA228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5bb5710bd49cc"/>
          <a:stretch xmlns:a="http://schemas.openxmlformats.org/drawingml/2006/main"/>
        </p:blipFill>
        <p:spPr>
          <a:xfrm xmlns:a="http://schemas.openxmlformats.org/drawingml/2006/main">
            <a:off x="4368800" y="2124593"/>
            <a:ext cx="3454400" cy="3361289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87D59-7B24-4983-AFD6-C5DF5C659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52b1a9df04a14"/>
          <a:stretch xmlns:a="http://schemas.openxmlformats.org/drawingml/2006/main"/>
        </p:blipFill>
        <p:spPr>
          <a:xfrm xmlns:a="http://schemas.openxmlformats.org/drawingml/2006/main">
            <a:off x="8051800" y="2129111"/>
            <a:ext cx="3454400" cy="3352254"/>
          </a:xfrm>
          <a:prstGeom xmlns:a="http://schemas.openxmlformats.org/drawingml/2006/main" prst="rect">
            <a:avLst/>
          </a:prstGeom>
        </p:spPr>
      </p:pic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B9C66E80-79A9-427E-B321-93835C19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Models shown: XGBoost, CatBoost, LightGBM.</a:t>
            </a:r>
          </a:p>
        </p:txBody>
      </p:sp>
    </p:spTree>
    <p:extLst>
      <p:ext uri="{BB962C8B-B14F-4D97-AF65-F5344CB8AC3E}">
        <p14:creationId xmlns:p14="http://schemas.microsoft.com/office/powerpoint/2010/main" val="92125190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EC273FD-1159-439B-86A6-D6F67DE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1C80ED7-A2F5-4E0D-AB51-239A59BE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B584A6-0FDB-4364-964C-900D84C5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13A83F-04AB-4E21-8AAC-A768D4C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57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A1CBF-5002-4FFD-A5DD-FDD6FD9F51D8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0.5243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0.5579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0.5237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0.4118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0.5138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0.5111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0.5111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17740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4189C9B-5181-40F9-AC5D-02B6920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D6300A-2150-4B86-ABFF-7894DCF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03E3D1-4544-4625-B287-D1186A9C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5F6BE9-8C60-4C82-B7CF-CD270986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58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CBCF8-9AAF-46C0-97B5-3FC8D13BFAB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2596896"/>
                <a:gridCol w="2596896"/>
                <a:gridCol w="2596896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R²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0.4988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OLS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0.6245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0.5060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Lasso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0.5077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0.3986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0.6278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0.4941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0.4957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33354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1D76C72-DC3B-4F13-AD73-3605497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BC2ABF-8575-46BD-9D12-1A6F9EFA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Classification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6F8B8D-D514-4AA1-9B26-57E7EB1B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4A9FF8-8201-479A-B821-AE840866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59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9520E-4480-4E4B-BF5E-D5B13529000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28160"/>
                <a:gridCol w="2164080"/>
                <a:gridCol w="2164080"/>
                <a:gridCol w="2164080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Classifier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Weighted 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0.3780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0.3676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0.3671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0.6307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0.3613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0.6730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0.6594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0.3356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0.6430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0.4281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0.3026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0.2969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0.4798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0.2870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0.3469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0.3968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95B6D8-0E16-45B1-9D58-8B3FFE33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L1 and Elastic Net logistic fits did not converge within 8,000 iterations.</a:t>
            </a:r>
          </a:p>
        </p:txBody>
      </p:sp>
    </p:spTree>
    <p:extLst>
      <p:ext uri="{BB962C8B-B14F-4D97-AF65-F5344CB8AC3E}">
        <p14:creationId xmlns:p14="http://schemas.microsoft.com/office/powerpoint/2010/main" val="67005371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F623DF4-BCC9-4102-9935-19B91924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A751EC-7283-4530-B02D-16938F2A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B52CB9-2331-4C0E-A761-4C8092B9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F8A323D-3D23-4777-A289-4DDCAF80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60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6485F-8E4E-4C46-9F93-F032ECBA17A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0ED152E-5342-4DDB-ACBC-9D3AF10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161550414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C9E7881-FE70-43D9-B654-651AD0E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5C46DF-C093-4AF6-B71C-A1969EC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43A8C87-EF1D-473E-9A04-AC54BA3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364F788-9BB0-4BD5-A941-00A8825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61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48DFE-0F77-45CB-B8AF-37A12DF8F20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120736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FD04A2A-5577-4FA0-B73F-251B8A8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018C59-D030-4FA3-BCFC-B382540A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0C8C5E-FA6D-4EF8-AE52-F6475059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50FE3D7-7A4A-45E6-9197-9C77617F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62 / 63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CE29F-D3C1-4187-85C1-9FB4AA8D35F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84497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F0C5FA67-19C6-4071-8E76-3C7DD99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17DB077-A227-4F35-9B52-70569EBB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FBB8EAD-244A-4E1B-AA7D-27680ECE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Wine Quality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29B3867-6481-4AF8-8ABE-C58FDA4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63 / 63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EF9CC56-3E62-4671-93FA-AB8D1A06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FD2A56C-C95D-4287-AACC-24CA6D8F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OpenML wine-quality-red, version 1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3097AD0-D9F6-4C7C-A74C-386A607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9779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E482F-2BE4-4144-85DC-0A6A49FF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6016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wine_quality_tutorial.ipynb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EDC4FBD-88F6-4743-9BF0-615933C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D49F897-C29E-422F-B549-B8706DF2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614B3EB-F1AA-4933-BCF2-142C0942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B2A515D-53CE-4B7F-BD30-F808F4A3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307018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2026-10-19T13:17:24.9090000Z</dcterms:created>
  <dcterms:modified xsi:type="dcterms:W3CDTF">2026-10-19T13:17:24.9090000Z</dcterms:modified>
</coreProperties>
</file>