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6d266a37314ebf" /><Relationship Type="http://schemas.openxmlformats.org/officeDocument/2006/relationships/extended-properties" Target="/docProps/app.xml" Id="R3c2628e75b614187" /><Relationship Type="http://schemas.openxmlformats.org/officeDocument/2006/relationships/officeDocument" Target="/ppt/presentation.xml" Id="R0a8beddd9b1f40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5198f204144071"/>
  </p:sldMasterIdLst>
  <p:notesMasterIdLst>
    <p:notesMasterId xmlns:r="http://schemas.openxmlformats.org/officeDocument/2006/relationships" r:id="R684d71f617f1455d"/>
  </p:notesMasterIdLst>
  <p:sldIdLst>
    <p:sldId xmlns:r="http://schemas.openxmlformats.org/officeDocument/2006/relationships" id="256" r:id="Rb4674af4dd534487"/>
    <p:sldId xmlns:r="http://schemas.openxmlformats.org/officeDocument/2006/relationships" id="257" r:id="R519f521cd8ff4295"/>
    <p:sldId xmlns:r="http://schemas.openxmlformats.org/officeDocument/2006/relationships" id="258" r:id="R819448c45fa1498f"/>
    <p:sldId xmlns:r="http://schemas.openxmlformats.org/officeDocument/2006/relationships" id="259" r:id="Rf450a0276ab246d8"/>
    <p:sldId xmlns:r="http://schemas.openxmlformats.org/officeDocument/2006/relationships" id="260" r:id="Rc32286f4198b43ee"/>
    <p:sldId xmlns:r="http://schemas.openxmlformats.org/officeDocument/2006/relationships" id="261" r:id="Rba63ad6ab7f24328"/>
    <p:sldId xmlns:r="http://schemas.openxmlformats.org/officeDocument/2006/relationships" id="262" r:id="R761653c92dc9464e"/>
    <p:sldId xmlns:r="http://schemas.openxmlformats.org/officeDocument/2006/relationships" id="263" r:id="R711be8ff0ba14605"/>
    <p:sldId xmlns:r="http://schemas.openxmlformats.org/officeDocument/2006/relationships" id="264" r:id="R4092b0602f3f4c2e"/>
    <p:sldId xmlns:r="http://schemas.openxmlformats.org/officeDocument/2006/relationships" id="265" r:id="Rbb884de5e4804bf4"/>
    <p:sldId xmlns:r="http://schemas.openxmlformats.org/officeDocument/2006/relationships" id="266" r:id="R2f7bc595514743bd"/>
    <p:sldId xmlns:r="http://schemas.openxmlformats.org/officeDocument/2006/relationships" id="267" r:id="R89fdc70f05784e3b"/>
    <p:sldId xmlns:r="http://schemas.openxmlformats.org/officeDocument/2006/relationships" id="268" r:id="R304120455b17498d"/>
    <p:sldId xmlns:r="http://schemas.openxmlformats.org/officeDocument/2006/relationships" id="269" r:id="R248f7b08a6d54c5f"/>
    <p:sldId xmlns:r="http://schemas.openxmlformats.org/officeDocument/2006/relationships" id="270" r:id="R8053c37015064a0e"/>
    <p:sldId xmlns:r="http://schemas.openxmlformats.org/officeDocument/2006/relationships" id="271" r:id="R62af3a905520440f"/>
    <p:sldId xmlns:r="http://schemas.openxmlformats.org/officeDocument/2006/relationships" id="272" r:id="R223072070ebb4ae7"/>
    <p:sldId xmlns:r="http://schemas.openxmlformats.org/officeDocument/2006/relationships" id="273" r:id="R7f4b0f9e1bc0485d"/>
    <p:sldId xmlns:r="http://schemas.openxmlformats.org/officeDocument/2006/relationships" id="274" r:id="Re2aea1b04f584e80"/>
    <p:sldId xmlns:r="http://schemas.openxmlformats.org/officeDocument/2006/relationships" id="275" r:id="Ra80bdd500a9c4dba"/>
    <p:sldId xmlns:r="http://schemas.openxmlformats.org/officeDocument/2006/relationships" id="276" r:id="Rc77216c136bd40e0"/>
    <p:sldId xmlns:r="http://schemas.openxmlformats.org/officeDocument/2006/relationships" id="277" r:id="R448c1b3f4d174003"/>
    <p:sldId xmlns:r="http://schemas.openxmlformats.org/officeDocument/2006/relationships" id="278" r:id="R1e49eebc31554c29"/>
    <p:sldId xmlns:r="http://schemas.openxmlformats.org/officeDocument/2006/relationships" id="279" r:id="Re6630e321ac049f5"/>
    <p:sldId xmlns:r="http://schemas.openxmlformats.org/officeDocument/2006/relationships" id="280" r:id="Rbcced488d96e4623"/>
    <p:sldId xmlns:r="http://schemas.openxmlformats.org/officeDocument/2006/relationships" id="281" r:id="Rcc058959b00a487b"/>
    <p:sldId xmlns:r="http://schemas.openxmlformats.org/officeDocument/2006/relationships" id="282" r:id="R4edabd9c510f4107"/>
    <p:sldId xmlns:r="http://schemas.openxmlformats.org/officeDocument/2006/relationships" id="283" r:id="R9a01a3ae896f469f"/>
    <p:sldId xmlns:r="http://schemas.openxmlformats.org/officeDocument/2006/relationships" id="284" r:id="Ra1a1693148284e19"/>
    <p:sldId xmlns:r="http://schemas.openxmlformats.org/officeDocument/2006/relationships" id="285" r:id="R45c4c15c3df345cf"/>
    <p:sldId xmlns:r="http://schemas.openxmlformats.org/officeDocument/2006/relationships" id="286" r:id="R28bc1ed386064acf"/>
    <p:sldId xmlns:r="http://schemas.openxmlformats.org/officeDocument/2006/relationships" id="287" r:id="R96ff16b4ad5649a5"/>
    <p:sldId xmlns:r="http://schemas.openxmlformats.org/officeDocument/2006/relationships" id="288" r:id="R9e86778ccae14a31"/>
    <p:sldId xmlns:r="http://schemas.openxmlformats.org/officeDocument/2006/relationships" id="289" r:id="R3c1819691c854a3b"/>
    <p:sldId xmlns:r="http://schemas.openxmlformats.org/officeDocument/2006/relationships" id="290" r:id="R4cac3fc8e3444098"/>
    <p:sldId xmlns:r="http://schemas.openxmlformats.org/officeDocument/2006/relationships" id="291" r:id="Rdcea0457403a4054"/>
    <p:sldId xmlns:r="http://schemas.openxmlformats.org/officeDocument/2006/relationships" id="292" r:id="R2855c0a62cb046a6"/>
    <p:sldId xmlns:r="http://schemas.openxmlformats.org/officeDocument/2006/relationships" id="293" r:id="R5114cd0571a549eb"/>
    <p:sldId xmlns:r="http://schemas.openxmlformats.org/officeDocument/2006/relationships" id="294" r:id="R0083f2747ca244bf"/>
    <p:sldId xmlns:r="http://schemas.openxmlformats.org/officeDocument/2006/relationships" id="295" r:id="Rc53b700bdd7f448b"/>
    <p:sldId xmlns:r="http://schemas.openxmlformats.org/officeDocument/2006/relationships" id="296" r:id="R66170b84b32a4bc5"/>
    <p:sldId xmlns:r="http://schemas.openxmlformats.org/officeDocument/2006/relationships" id="297" r:id="R12fb9756e2e04aaa"/>
    <p:sldId xmlns:r="http://schemas.openxmlformats.org/officeDocument/2006/relationships" id="298" r:id="R6a0ec30136174589"/>
    <p:sldId xmlns:r="http://schemas.openxmlformats.org/officeDocument/2006/relationships" id="299" r:id="R4330de3be30745d4"/>
    <p:sldId xmlns:r="http://schemas.openxmlformats.org/officeDocument/2006/relationships" id="300" r:id="R116ecd778e454d7e"/>
    <p:sldId xmlns:r="http://schemas.openxmlformats.org/officeDocument/2006/relationships" id="301" r:id="R218d81a7345044f7"/>
    <p:sldId xmlns:r="http://schemas.openxmlformats.org/officeDocument/2006/relationships" id="302" r:id="R95d593e9ba8e45fe"/>
    <p:sldId xmlns:r="http://schemas.openxmlformats.org/officeDocument/2006/relationships" id="303" r:id="R1e7977ad2e1140db"/>
    <p:sldId xmlns:r="http://schemas.openxmlformats.org/officeDocument/2006/relationships" id="304" r:id="Raf495c48b79d49dd"/>
    <p:sldId xmlns:r="http://schemas.openxmlformats.org/officeDocument/2006/relationships" id="305" r:id="R383de3a0d19942c0"/>
    <p:sldId xmlns:r="http://schemas.openxmlformats.org/officeDocument/2006/relationships" id="306" r:id="Rc2b31fb0a1114c5b"/>
    <p:sldId xmlns:r="http://schemas.openxmlformats.org/officeDocument/2006/relationships" id="307" r:id="R7eb57219dc7a4a27"/>
    <p:sldId xmlns:r="http://schemas.openxmlformats.org/officeDocument/2006/relationships" id="308" r:id="R8b36904dd3cd42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61af47efe5426c" /><Relationship Type="http://schemas.openxmlformats.org/officeDocument/2006/relationships/slideMaster" Target="/ppt/slideMasters/slideMaster1.xml" Id="Rfc5198f204144071" /><Relationship Type="http://schemas.openxmlformats.org/officeDocument/2006/relationships/notesMaster" Target="/ppt/notesMasters/notesMaster1.xml" Id="R684d71f617f1455d" /><Relationship Type="http://schemas.openxmlformats.org/officeDocument/2006/relationships/presProps" Target="/ppt/presProps.xml" Id="R5f7820b846fd4e63" /><Relationship Type="http://schemas.openxmlformats.org/officeDocument/2006/relationships/tableStyles" Target="/ppt/tableStyles.xml" Id="R6050cfb63d854b83" /><Relationship Type="http://schemas.openxmlformats.org/officeDocument/2006/relationships/slide" Target="/ppt/slides/slide1.xml" Id="Rb4674af4dd534487" /><Relationship Type="http://schemas.openxmlformats.org/officeDocument/2006/relationships/slide" Target="/ppt/slides/slide2.xml" Id="R519f521cd8ff4295" /><Relationship Type="http://schemas.openxmlformats.org/officeDocument/2006/relationships/slide" Target="/ppt/slides/slide3.xml" Id="R819448c45fa1498f" /><Relationship Type="http://schemas.openxmlformats.org/officeDocument/2006/relationships/slide" Target="/ppt/slides/slide4.xml" Id="Rf450a0276ab246d8" /><Relationship Type="http://schemas.openxmlformats.org/officeDocument/2006/relationships/slide" Target="/ppt/slides/slide5.xml" Id="Rc32286f4198b43ee" /><Relationship Type="http://schemas.openxmlformats.org/officeDocument/2006/relationships/slide" Target="/ppt/slides/slide6.xml" Id="Rba63ad6ab7f24328" /><Relationship Type="http://schemas.openxmlformats.org/officeDocument/2006/relationships/slide" Target="/ppt/slides/slide7.xml" Id="R761653c92dc9464e" /><Relationship Type="http://schemas.openxmlformats.org/officeDocument/2006/relationships/slide" Target="/ppt/slides/slide8.xml" Id="R711be8ff0ba14605" /><Relationship Type="http://schemas.openxmlformats.org/officeDocument/2006/relationships/slide" Target="/ppt/slides/slide9.xml" Id="R4092b0602f3f4c2e" /><Relationship Type="http://schemas.openxmlformats.org/officeDocument/2006/relationships/slide" Target="/ppt/slides/slide10.xml" Id="Rbb884de5e4804bf4" /><Relationship Type="http://schemas.openxmlformats.org/officeDocument/2006/relationships/slide" Target="/ppt/slides/slide11.xml" Id="R2f7bc595514743bd" /><Relationship Type="http://schemas.openxmlformats.org/officeDocument/2006/relationships/slide" Target="/ppt/slides/slide12.xml" Id="R89fdc70f05784e3b" /><Relationship Type="http://schemas.openxmlformats.org/officeDocument/2006/relationships/slide" Target="/ppt/slides/slide13.xml" Id="R304120455b17498d" /><Relationship Type="http://schemas.openxmlformats.org/officeDocument/2006/relationships/slide" Target="/ppt/slides/slide14.xml" Id="R248f7b08a6d54c5f" /><Relationship Type="http://schemas.openxmlformats.org/officeDocument/2006/relationships/slide" Target="/ppt/slides/slide15.xml" Id="R8053c37015064a0e" /><Relationship Type="http://schemas.openxmlformats.org/officeDocument/2006/relationships/slide" Target="/ppt/slides/slide16.xml" Id="R62af3a905520440f" /><Relationship Type="http://schemas.openxmlformats.org/officeDocument/2006/relationships/slide" Target="/ppt/slides/slide17.xml" Id="R223072070ebb4ae7" /><Relationship Type="http://schemas.openxmlformats.org/officeDocument/2006/relationships/slide" Target="/ppt/slides/slide18.xml" Id="R7f4b0f9e1bc0485d" /><Relationship Type="http://schemas.openxmlformats.org/officeDocument/2006/relationships/slide" Target="/ppt/slides/slide19.xml" Id="Re2aea1b04f584e80" /><Relationship Type="http://schemas.openxmlformats.org/officeDocument/2006/relationships/slide" Target="/ppt/slides/slide20.xml" Id="Ra80bdd500a9c4dba" /><Relationship Type="http://schemas.openxmlformats.org/officeDocument/2006/relationships/slide" Target="/ppt/slides/slide21.xml" Id="Rc77216c136bd40e0" /><Relationship Type="http://schemas.openxmlformats.org/officeDocument/2006/relationships/slide" Target="/ppt/slides/slide22.xml" Id="R448c1b3f4d174003" /><Relationship Type="http://schemas.openxmlformats.org/officeDocument/2006/relationships/slide" Target="/ppt/slides/slide23.xml" Id="R1e49eebc31554c29" /><Relationship Type="http://schemas.openxmlformats.org/officeDocument/2006/relationships/slide" Target="/ppt/slides/slide24.xml" Id="Re6630e321ac049f5" /><Relationship Type="http://schemas.openxmlformats.org/officeDocument/2006/relationships/slide" Target="/ppt/slides/slide25.xml" Id="Rbcced488d96e4623" /><Relationship Type="http://schemas.openxmlformats.org/officeDocument/2006/relationships/slide" Target="/ppt/slides/slide26.xml" Id="Rcc058959b00a487b" /><Relationship Type="http://schemas.openxmlformats.org/officeDocument/2006/relationships/slide" Target="/ppt/slides/slide27.xml" Id="R4edabd9c510f4107" /><Relationship Type="http://schemas.openxmlformats.org/officeDocument/2006/relationships/slide" Target="/ppt/slides/slide28.xml" Id="R9a01a3ae896f469f" /><Relationship Type="http://schemas.openxmlformats.org/officeDocument/2006/relationships/slide" Target="/ppt/slides/slide29.xml" Id="Ra1a1693148284e19" /><Relationship Type="http://schemas.openxmlformats.org/officeDocument/2006/relationships/slide" Target="/ppt/slides/slide30.xml" Id="R45c4c15c3df345cf" /><Relationship Type="http://schemas.openxmlformats.org/officeDocument/2006/relationships/slide" Target="/ppt/slides/slide31.xml" Id="R28bc1ed386064acf" /><Relationship Type="http://schemas.openxmlformats.org/officeDocument/2006/relationships/slide" Target="/ppt/slides/slide32.xml" Id="R96ff16b4ad5649a5" /><Relationship Type="http://schemas.openxmlformats.org/officeDocument/2006/relationships/slide" Target="/ppt/slides/slide33.xml" Id="R9e86778ccae14a31" /><Relationship Type="http://schemas.openxmlformats.org/officeDocument/2006/relationships/slide" Target="/ppt/slides/slide34.xml" Id="R3c1819691c854a3b" /><Relationship Type="http://schemas.openxmlformats.org/officeDocument/2006/relationships/slide" Target="/ppt/slides/slide35.xml" Id="R4cac3fc8e3444098" /><Relationship Type="http://schemas.openxmlformats.org/officeDocument/2006/relationships/slide" Target="/ppt/slides/slide36.xml" Id="Rdcea0457403a4054" /><Relationship Type="http://schemas.openxmlformats.org/officeDocument/2006/relationships/slide" Target="/ppt/slides/slide37.xml" Id="R2855c0a62cb046a6" /><Relationship Type="http://schemas.openxmlformats.org/officeDocument/2006/relationships/slide" Target="/ppt/slides/slide38.xml" Id="R5114cd0571a549eb" /><Relationship Type="http://schemas.openxmlformats.org/officeDocument/2006/relationships/slide" Target="/ppt/slides/slide39.xml" Id="R0083f2747ca244bf" /><Relationship Type="http://schemas.openxmlformats.org/officeDocument/2006/relationships/slide" Target="/ppt/slides/slide40.xml" Id="Rc53b700bdd7f448b" /><Relationship Type="http://schemas.openxmlformats.org/officeDocument/2006/relationships/slide" Target="/ppt/slides/slide41.xml" Id="R66170b84b32a4bc5" /><Relationship Type="http://schemas.openxmlformats.org/officeDocument/2006/relationships/slide" Target="/ppt/slides/slide42.xml" Id="R12fb9756e2e04aaa" /><Relationship Type="http://schemas.openxmlformats.org/officeDocument/2006/relationships/slide" Target="/ppt/slides/slide43.xml" Id="R6a0ec30136174589" /><Relationship Type="http://schemas.openxmlformats.org/officeDocument/2006/relationships/slide" Target="/ppt/slides/slide44.xml" Id="R4330de3be30745d4" /><Relationship Type="http://schemas.openxmlformats.org/officeDocument/2006/relationships/slide" Target="/ppt/slides/slide45.xml" Id="R116ecd778e454d7e" /><Relationship Type="http://schemas.openxmlformats.org/officeDocument/2006/relationships/slide" Target="/ppt/slides/slide46.xml" Id="R218d81a7345044f7" /><Relationship Type="http://schemas.openxmlformats.org/officeDocument/2006/relationships/slide" Target="/ppt/slides/slide47.xml" Id="R95d593e9ba8e45fe" /><Relationship Type="http://schemas.openxmlformats.org/officeDocument/2006/relationships/slide" Target="/ppt/slides/slide48.xml" Id="R1e7977ad2e1140db" /><Relationship Type="http://schemas.openxmlformats.org/officeDocument/2006/relationships/slide" Target="/ppt/slides/slide49.xml" Id="Raf495c48b79d49dd" /><Relationship Type="http://schemas.openxmlformats.org/officeDocument/2006/relationships/slide" Target="/ppt/slides/slide50.xml" Id="R383de3a0d19942c0" /><Relationship Type="http://schemas.openxmlformats.org/officeDocument/2006/relationships/slide" Target="/ppt/slides/slide51.xml" Id="Rc2b31fb0a1114c5b" /><Relationship Type="http://schemas.openxmlformats.org/officeDocument/2006/relationships/slide" Target="/ppt/slides/slide52.xml" Id="R7eb57219dc7a4a27" /><Relationship Type="http://schemas.openxmlformats.org/officeDocument/2006/relationships/slide" Target="/ppt/slides/slide53.xml" Id="R8b36904dd3cd42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02556cdb724d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540f153b024f32" /><Relationship Type="http://schemas.openxmlformats.org/officeDocument/2006/relationships/notesMaster" Target="/ppt/notesMasters/notesMaster1.xml" Id="Rc307208795e44b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ed66007992440f" /><Relationship Type="http://schemas.openxmlformats.org/officeDocument/2006/relationships/notesMaster" Target="/ppt/notesMasters/notesMaster1.xml" Id="Raadf91eaa23947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a7248882d044f9" /><Relationship Type="http://schemas.openxmlformats.org/officeDocument/2006/relationships/notesMaster" Target="/ppt/notesMasters/notesMaster1.xml" Id="R84c465f7baad47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4c38a7a505422c" /><Relationship Type="http://schemas.openxmlformats.org/officeDocument/2006/relationships/notesMaster" Target="/ppt/notesMasters/notesMaster1.xml" Id="R4fa6cafb010648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db7f8809ef457e" /><Relationship Type="http://schemas.openxmlformats.org/officeDocument/2006/relationships/notesMaster" Target="/ppt/notesMasters/notesMaster1.xml" Id="Rc2b0cf7c5f4a4e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8427fa1d074fc5" /><Relationship Type="http://schemas.openxmlformats.org/officeDocument/2006/relationships/notesMaster" Target="/ppt/notesMasters/notesMaster1.xml" Id="R6de7111d03d848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a79322ac2a4deb" /><Relationship Type="http://schemas.openxmlformats.org/officeDocument/2006/relationships/notesMaster" Target="/ppt/notesMasters/notesMaster1.xml" Id="Rf59f1400bdab48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55d3c523b14e45" /><Relationship Type="http://schemas.openxmlformats.org/officeDocument/2006/relationships/notesMaster" Target="/ppt/notesMasters/notesMaster1.xml" Id="Rea8789cb5f5c4c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77cecb44db4aaf" /><Relationship Type="http://schemas.openxmlformats.org/officeDocument/2006/relationships/notesMaster" Target="/ppt/notesMasters/notesMaster1.xml" Id="R6a3551b017f348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5cc0129382405e" /><Relationship Type="http://schemas.openxmlformats.org/officeDocument/2006/relationships/notesMaster" Target="/ppt/notesMasters/notesMaster1.xml" Id="R217caccda26c4e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74ac8398824bd5" /><Relationship Type="http://schemas.openxmlformats.org/officeDocument/2006/relationships/notesMaster" Target="/ppt/notesMasters/notesMaster1.xml" Id="Rc7409d95de514b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387e5013184b8c" /><Relationship Type="http://schemas.openxmlformats.org/officeDocument/2006/relationships/notesMaster" Target="/ppt/notesMasters/notesMaster1.xml" Id="Rca7fa8614c234c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c11f26a9bc4385" /><Relationship Type="http://schemas.openxmlformats.org/officeDocument/2006/relationships/notesMaster" Target="/ppt/notesMasters/notesMaster1.xml" Id="R8c4b87282fda4b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6bac5ff8684b12" /><Relationship Type="http://schemas.openxmlformats.org/officeDocument/2006/relationships/notesMaster" Target="/ppt/notesMasters/notesMaster1.xml" Id="Re0e6f7225bf5468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4eaa74b6f3f4c44" /><Relationship Type="http://schemas.openxmlformats.org/officeDocument/2006/relationships/notesMaster" Target="/ppt/notesMasters/notesMaster1.xml" Id="Re3529edc037e48c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b7d33d09394894" /><Relationship Type="http://schemas.openxmlformats.org/officeDocument/2006/relationships/notesMaster" Target="/ppt/notesMasters/notesMaster1.xml" Id="R9e4013a548034db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5b0c1ee9b1a4582" /><Relationship Type="http://schemas.openxmlformats.org/officeDocument/2006/relationships/notesMaster" Target="/ppt/notesMasters/notesMaster1.xml" Id="Rc70e40ab4aa843a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109a094cc574197" /><Relationship Type="http://schemas.openxmlformats.org/officeDocument/2006/relationships/notesMaster" Target="/ppt/notesMasters/notesMaster1.xml" Id="R62a1f35977ca4a8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7443b58887f4095" /><Relationship Type="http://schemas.openxmlformats.org/officeDocument/2006/relationships/notesMaster" Target="/ppt/notesMasters/notesMaster1.xml" Id="R6b9db8d4966a4ef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a9de3d08ab74835" /><Relationship Type="http://schemas.openxmlformats.org/officeDocument/2006/relationships/notesMaster" Target="/ppt/notesMasters/notesMaster1.xml" Id="R72d80c318fa2452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0ee08fcaea245e8" /><Relationship Type="http://schemas.openxmlformats.org/officeDocument/2006/relationships/notesMaster" Target="/ppt/notesMasters/notesMaster1.xml" Id="R667bf8f64dce45c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81343a5c52d4384" /><Relationship Type="http://schemas.openxmlformats.org/officeDocument/2006/relationships/notesMaster" Target="/ppt/notesMasters/notesMaster1.xml" Id="Rb4cb0585e6664e2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460ce87b7824403" /><Relationship Type="http://schemas.openxmlformats.org/officeDocument/2006/relationships/notesMaster" Target="/ppt/notesMasters/notesMaster1.xml" Id="R4cb9afda40f44c5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a8c118fa730459f" /><Relationship Type="http://schemas.openxmlformats.org/officeDocument/2006/relationships/notesMaster" Target="/ppt/notesMasters/notesMaster1.xml" Id="Re9414780268f40d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134bd2ad5a74a91" /><Relationship Type="http://schemas.openxmlformats.org/officeDocument/2006/relationships/notesMaster" Target="/ppt/notesMasters/notesMaster1.xml" Id="R2996de60a6e94be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47c0aed1b32422c" /><Relationship Type="http://schemas.openxmlformats.org/officeDocument/2006/relationships/notesMaster" Target="/ppt/notesMasters/notesMaster1.xml" Id="Rcb0af07c8dc3453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b99a731e77540cb" /><Relationship Type="http://schemas.openxmlformats.org/officeDocument/2006/relationships/notesMaster" Target="/ppt/notesMasters/notesMaster1.xml" Id="R81edd5f099024c0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e2509945bc74dce" /><Relationship Type="http://schemas.openxmlformats.org/officeDocument/2006/relationships/notesMaster" Target="/ppt/notesMasters/notesMaster1.xml" Id="R9de2a4b30a81493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dbf9b840cbe4d6d" /><Relationship Type="http://schemas.openxmlformats.org/officeDocument/2006/relationships/notesMaster" Target="/ppt/notesMasters/notesMaster1.xml" Id="Ra4525581e65b4ce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d28f0827af343fa" /><Relationship Type="http://schemas.openxmlformats.org/officeDocument/2006/relationships/notesMaster" Target="/ppt/notesMasters/notesMaster1.xml" Id="R92699c08773d43b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4a1fbe3cfbb423a" /><Relationship Type="http://schemas.openxmlformats.org/officeDocument/2006/relationships/notesMaster" Target="/ppt/notesMasters/notesMaster1.xml" Id="R9dd747d937714a3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5f3923801934cec" /><Relationship Type="http://schemas.openxmlformats.org/officeDocument/2006/relationships/notesMaster" Target="/ppt/notesMasters/notesMaster1.xml" Id="R9b7c4de6c48d44d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584920f82064556" /><Relationship Type="http://schemas.openxmlformats.org/officeDocument/2006/relationships/notesMaster" Target="/ppt/notesMasters/notesMaster1.xml" Id="Rc8597c313d014c5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a2fc776b38849a2" /><Relationship Type="http://schemas.openxmlformats.org/officeDocument/2006/relationships/notesMaster" Target="/ppt/notesMasters/notesMaster1.xml" Id="R891409dadd1d4d0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fd32780611b4763" /><Relationship Type="http://schemas.openxmlformats.org/officeDocument/2006/relationships/notesMaster" Target="/ppt/notesMasters/notesMaster1.xml" Id="R8b765fba25dc462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b0611540b3d40b7" /><Relationship Type="http://schemas.openxmlformats.org/officeDocument/2006/relationships/notesMaster" Target="/ppt/notesMasters/notesMaster1.xml" Id="R3cbf90231c4c484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688202db9924c18" /><Relationship Type="http://schemas.openxmlformats.org/officeDocument/2006/relationships/notesMaster" Target="/ppt/notesMasters/notesMaster1.xml" Id="R17e31c3b3ef44ee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2e5b6dd2c9048cc" /><Relationship Type="http://schemas.openxmlformats.org/officeDocument/2006/relationships/notesMaster" Target="/ppt/notesMasters/notesMaster1.xml" Id="Raceb8630c82c449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139e753d2c9438e" /><Relationship Type="http://schemas.openxmlformats.org/officeDocument/2006/relationships/notesMaster" Target="/ppt/notesMasters/notesMaster1.xml" Id="R72d21a81f154400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21329e5054e4ccd" /><Relationship Type="http://schemas.openxmlformats.org/officeDocument/2006/relationships/notesMaster" Target="/ppt/notesMasters/notesMaster1.xml" Id="R00a87b7ad919477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46717dbcb90430a" /><Relationship Type="http://schemas.openxmlformats.org/officeDocument/2006/relationships/notesMaster" Target="/ppt/notesMasters/notesMaster1.xml" Id="R0f3995d4f43e4ae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e2dfab4f7da4760" /><Relationship Type="http://schemas.openxmlformats.org/officeDocument/2006/relationships/notesMaster" Target="/ppt/notesMasters/notesMaster1.xml" Id="R35a525f684d6424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e0a672055c543ba" /><Relationship Type="http://schemas.openxmlformats.org/officeDocument/2006/relationships/notesMaster" Target="/ppt/notesMasters/notesMaster1.xml" Id="Ra7ac263133fa423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c964a30b00c49cc" /><Relationship Type="http://schemas.openxmlformats.org/officeDocument/2006/relationships/notesMaster" Target="/ppt/notesMasters/notesMaster1.xml" Id="R9bca4c1b2022400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0e8140c02f64baa" /><Relationship Type="http://schemas.openxmlformats.org/officeDocument/2006/relationships/notesMaster" Target="/ppt/notesMasters/notesMaster1.xml" Id="Rde4e07b15f6d49a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d4672463e954eb7" /><Relationship Type="http://schemas.openxmlformats.org/officeDocument/2006/relationships/notesMaster" Target="/ppt/notesMasters/notesMaster1.xml" Id="R472c815872ca4f5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febe633e0fb498e" /><Relationship Type="http://schemas.openxmlformats.org/officeDocument/2006/relationships/notesMaster" Target="/ppt/notesMasters/notesMaster1.xml" Id="R97e27280f44747d5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151636ef41474b8a" /><Relationship Type="http://schemas.openxmlformats.org/officeDocument/2006/relationships/notesMaster" Target="/ppt/notesMasters/notesMaster1.xml" Id="Rd303384fbf80403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e9534621d66742cd" /><Relationship Type="http://schemas.openxmlformats.org/officeDocument/2006/relationships/notesMaster" Target="/ppt/notesMasters/notesMaster1.xml" Id="Re4a169053ed34d6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cbaf281124f4080" /><Relationship Type="http://schemas.openxmlformats.org/officeDocument/2006/relationships/notesMaster" Target="/ppt/notesMasters/notesMaster1.xml" Id="R9089f2799ea04c3b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53c105298c4e45bc" /><Relationship Type="http://schemas.openxmlformats.org/officeDocument/2006/relationships/notesMaster" Target="/ppt/notesMasters/notesMaster1.xml" Id="R432366d1432845be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dd5f2fb66dbc471d" /><Relationship Type="http://schemas.openxmlformats.org/officeDocument/2006/relationships/notesMaster" Target="/ppt/notesMasters/notesMaster1.xml" Id="R8600ce1fadc04fd1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43cab9296b424cea" /><Relationship Type="http://schemas.openxmlformats.org/officeDocument/2006/relationships/notesMaster" Target="/ppt/notesMasters/notesMaster1.xml" Id="R7f1c55c791784c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  <a:p xmlns:a="http://schemas.openxmlformats.org/drawingml/2006/main">
            <a:r>
              <a:t>{"Stacking": {"RMSE": 43.89412801672414, "MAE": 23.111985906748576, "R2": 0.92627975515373, "MAPE_%": 1.7590113312719111}, "XGBoost (tuned)": {"RMSE": 44.32737510128147, "MAE": 23.728195158711472, "R2": 0.9248172950776797, "MAPE_%": 1.8075057689566605}, "XGBoost": {"RMSE": 44.52592446664416, "MAE": 23.733372677252785, "R2": 0.9241422761039821, "MAPE_%": 1.8055470996221397}, "RandomForest": {"RMSE": 44.734797950621335, "MAE": 23.855417204029525, "R2": 0.9234289015314964, "MAPE_%": 1.8104909529933908}, "LightGBM": {"RMSE": 44.929503758887314, "MAE": 24.650096208628955, "R2": 0.922760907787942, "MAPE_%": 1.883395530028567}, "CatBoost": {"RMSE": 45.196249923742805, "MAE": 24.061999274464544, "R2": 0.921841049319889, "MAPE_%": 1.8343082366584897}, "CatBoost (tuned)": {"RMSE": 45.20919668992244, "MAE": 24.06889247079699, "R2": 0.9217962646045836, "MAPE_%": 1.8348702565624513}, "LightGBM (tuned)": {"RMSE": 45.22245793500578, "MAE": 24.024346151752493, "R2": 0.9217503787636048, "MAPE_%": 1.8366855433365117}, "RandomForest (tuned)": {"RMSE": 46.47720125626321, "MAE": 24.248138114889123, "R2": 0.9173479074844259, "MAPE_%": 1.8457870477593799}, "MLP": {"RMSE": 50.36941955482558, "MAE": 28.591562269360736, "R2": 0.9029249082973939, "MAPE_%": 2.172497844779718}, "MLP (tuned)": {"RMSE": 52.77832401646748, "MAE": 30.31615413327778, "R2": 0.8934176952740258, "MAPE_%": 2.294327805424836}, "KNN": {"RMSE": 54.023563194926076, "MAE": 30.857072032988917, "R2": 0.8883290096621802, "MAPE_%": 2.3245654290353754}, "LinearRegression": {"RMSE": 55.10910990260637, "MAE": 34.13112474140186, "R2": 0.8837960983233141, "MAPE_%": 2.567487949174709}, "Ridge": {"RMSE": 55.1091651547699, "MAE": 34.13124594897226, "R2": 0.8837958653121039, "MAPE_%": 2.567495964458486}, "ElasticNet": {"RMSE": 55.21412032777479, "MAE": 34.3200905566686, "R2": 0.8833528232571061, "MAPE_%": 2.5799900291010758}, "Lasso": {"RMSE": 56.224500373354495, "MAE": 34.889089292722005, "R2": 0.8790446376471266, "MAPE_%": 2.6179076750014243}, "KNN (tuned)": {"RMSE": 56.69762211672362, "MAE": 33.49819345446784, "R2": 0.8770004260057818, "MAPE_%": 2.505199607283679}}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Figure: figures/notebook/open_power_systems/cell_009_figure_1.png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  <a:p xmlns:a="http://schemas.openxmlformats.org/drawingml/2006/main">
            <a:r>
              <a:t>Notebook cell ID: 9f266c8a.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Figure: figures/notebook/open_power_systems/cell_011_figure_1.png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  <a:p xmlns:a="http://schemas.openxmlformats.org/drawingml/2006/main">
            <a:r>
              <a:t>Notebook cell ID: 39286243.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Base models: fitted reference configurations, each cloned and refitted by StackingRegressor/Classifier. cv=2. Meta-model: Ridge(alpha=1.0).</a:t>
            </a:r>
          </a:p>
          <a:p xmlns:a="http://schemas.openxmlformats.org/drawingml/2006/main">
            <a:r>
              <a:t>https://scikit-learn.org/stable/modules/ensemble.html#stacking</a:t>
            </a:r>
          </a:p>
          <a:p xmlns:a="http://schemas.openxmlformats.org/drawingml/2006/main">
            <a:r>
              <a:t>The notebook uses ordinary folds for stacking, rather than forward-only time splits.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Figure: figures/open_power_systems/comparison.png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paired circular block bootstrap, 7 days. 1,000 paired resamples. Fitted models remain fixed.</a:t>
            </a:r>
          </a:p>
          <a:p xmlns:a="http://schemas.openxmlformats.org/drawingml/2006/main">
            <a:r>
              <a:t>[{"comparison": "Stacking versus XGBoost (tuned)", "other": "XGBoost (tuned)", "advantage": 0.43324708455732974, "ci_low": -1.0277698128804302, "ci_high": 1.8252383107579178}, {"comparison": "Stacking versus OLS", "other": "OLS", "advantage": 11.214981885882231, "ci_low": 7.180868699890031, "ci_high": 15.495805571573399}]</a:t>
            </a:r>
          </a:p>
          <a:p xmlns:a="http://schemas.openxmlformats.org/drawingml/2006/main">
            <a:r>
              <a:t>Figure: figures/open_power_systems/ranking_stability.png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Figure: figures/notebook/open_power_systems/cell_054_figure_1.png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  <a:p xmlns:a="http://schemas.openxmlformats.org/drawingml/2006/main">
            <a:r>
              <a:t>Notebook cell ID: 1094de78.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Figure: figures/open_power_systems/winner_diagnostics.png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  <a:p xmlns:a="http://schemas.openxmlformats.org/drawingml/2006/main">
            <a:r>
              <a:t>Diagnostics use Stacking predictions.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  <a:p xmlns:a="http://schemas.openxmlformats.org/drawingml/2006/main">
            <a:r>
              <a:t>{"Stacking": {"RMSE": 43.89412801672414, "MAE": 23.111985906748576, "R2": 0.92627975515373, "MAPE_%": 1.7590113312719111}, "XGBoost (tuned)": {"RMSE": 44.32737510128147, "MAE": 23.728195158711472, "R2": 0.9248172950776797, "MAPE_%": 1.8075057689566605}, "XGBoost": {"RMSE": 44.52592446664416, "MAE": 23.733372677252785, "R2": 0.9241422761039821, "MAPE_%": 1.8055470996221397}, "RandomForest": {"RMSE": 44.734797950621335, "MAE": 23.855417204029525, "R2": 0.9234289015314964, "MAPE_%": 1.8104909529933908}, "LightGBM": {"RMSE": 44.929503758887314, "MAE": 24.650096208628955, "R2": 0.922760907787942, "MAPE_%": 1.883395530028567}, "CatBoost": {"RMSE": 45.196249923742805, "MAE": 24.061999274464544, "R2": 0.921841049319889, "MAPE_%": 1.8343082366584897}, "CatBoost (tuned)": {"RMSE": 45.20919668992244, "MAE": 24.06889247079699, "R2": 0.9217962646045836, "MAPE_%": 1.8348702565624513}, "LightGBM (tuned)": {"RMSE": 45.22245793500578, "MAE": 24.024346151752493, "R2": 0.9217503787636048, "MAPE_%": 1.8366855433365117}, "RandomForest (tuned)": {"RMSE": 46.47720125626321, "MAE": 24.248138114889123, "R2": 0.9173479074844259, "MAPE_%": 1.8457870477593799}, "MLP": {"RMSE": 50.36941955482558, "MAE": 28.591562269360736, "R2": 0.9029249082973939, "MAPE_%": 2.172497844779718}, "MLP (tuned)": {"RMSE": 52.77832401646748, "MAE": 30.31615413327778, "R2": 0.8934176952740258, "MAPE_%": 2.294327805424836}, "KNN": {"RMSE": 54.023563194926076, "MAE": 30.857072032988917, "R2": 0.8883290096621802, "MAPE_%": 2.3245654290353754}, "LinearRegression": {"RMSE": 55.10910990260637, "MAE": 34.13112474140186, "R2": 0.8837960983233141, "MAPE_%": 2.567487949174709}, "Ridge": {"RMSE": 55.1091651547699, "MAE": 34.13124594897226, "R2": 0.8837958653121039, "MAPE_%": 2.567495964458486}, "ElasticNet": {"RMSE": 55.21412032777479, "MAE": 34.3200905566686, "R2": 0.8833528232571061, "MAPE_%": 2.5799900291010758}, "Lasso": {"RMSE": 56.224500373354495, "MAE": 34.889089292722005, "R2": 0.8790446376471266, "MAPE_%": 2.6179076750014243}, "KNN (tuned)": {"RMSE": 56.69762211672362, "MAE": 33.49819345446784, "R2": 0.8770004260057818, "MAPE_%": 2.505199607283679}}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  <a:p xmlns:a="http://schemas.openxmlformats.org/drawingml/2006/main">
            <a:r>
              <a:t>{"Stacking": {"RMSE": 43.89412801672414, "MAE": 23.111985906748576, "R2": 0.92627975515373, "MAPE_%": 1.7590113312719111}, "XGBoost (tuned)": {"RMSE": 44.32737510128147, "MAE": 23.728195158711472, "R2": 0.9248172950776797, "MAPE_%": 1.8075057689566605}, "XGBoost": {"RMSE": 44.52592446664416, "MAE": 23.733372677252785, "R2": 0.9241422761039821, "MAPE_%": 1.8055470996221397}, "RandomForest": {"RMSE": 44.734797950621335, "MAE": 23.855417204029525, "R2": 0.9234289015314964, "MAPE_%": 1.8104909529933908}, "LightGBM": {"RMSE": 44.929503758887314, "MAE": 24.650096208628955, "R2": 0.922760907787942, "MAPE_%": 1.883395530028567}, "CatBoost": {"RMSE": 45.196249923742805, "MAE": 24.061999274464544, "R2": 0.921841049319889, "MAPE_%": 1.8343082366584897}, "CatBoost (tuned)": {"RMSE": 45.20919668992244, "MAE": 24.06889247079699, "R2": 0.9217962646045836, "MAPE_%": 1.8348702565624513}, "LightGBM (tuned)": {"RMSE": 45.22245793500578, "MAE": 24.024346151752493, "R2": 0.9217503787636048, "MAPE_%": 1.8366855433365117}, "RandomForest (tuned)": {"RMSE": 46.47720125626321, "MAE": 24.248138114889123, "R2": 0.9173479074844259, "MAPE_%": 1.8457870477593799}, "MLP": {"RMSE": 50.36941955482558, "MAE": 28.591562269360736, "R2": 0.9029249082973939, "MAPE_%": 2.172497844779718}, "MLP (tuned)": {"RMSE": 52.77832401646748, "MAE": 30.31615413327778, "R2": 0.8934176952740258, "MAPE_%": 2.294327805424836}, "KNN": {"RMSE": 54.023563194926076, "MAE": 30.857072032988917, "R2": 0.8883290096621802, "MAPE_%": 2.3245654290353754}, "LinearRegression": {"RMSE": 55.10910990260637, "MAE": 34.13112474140186, "R2": 0.8837960983233141, "MAPE_%": 2.567487949174709}, "Ridge": {"RMSE": 55.1091651547699, "MAE": 34.13124594897226, "R2": 0.8837958653121039, "MAPE_%": 2.567495964458486}, "ElasticNet": {"RMSE": 55.21412032777479, "MAE": 34.3200905566686, "R2": 0.8833528232571061, "MAPE_%": 2.5799900291010758}, "Lasso": {"RMSE": 56.224500373354495, "MAE": 34.889089292722005, "R2": 0.8790446376471266, "MAPE_%": 2.6179076750014243}, "KNN (tuned)": {"RMSE": 56.69762211672362, "MAE": 33.49819345446784, "R2": 0.8770004260057818, "MAPE_%": 2.505199607283679}}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Figure: figures/notebook/open_power_systems/cell_013_figure_1.png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  <a:p xmlns:a="http://schemas.openxmlformats.org/drawingml/2006/main">
            <a:r>
              <a:t>Notebook cell ID: 4829ec24.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Figure: figures/notebook/open_power_systems/cell_010_figure_1.png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  <a:p xmlns:a="http://schemas.openxmlformats.org/drawingml/2006/main">
            <a:r>
              <a:t>Notebook cell ID: f09e9c35.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  <a:p xmlns:a="http://schemas.openxmlformats.org/drawingml/2006/main">
            <a:r>
              <a:t>{"Stacking": {"RMSE": 43.89412801672414, "MAE": 23.111985906748576, "R2": 0.92627975515373, "MAPE_%": 1.7590113312719111}, "XGBoost (tuned)": {"RMSE": 44.32737510128147, "MAE": 23.728195158711472, "R2": 0.9248172950776797, "MAPE_%": 1.8075057689566605}, "XGBoost": {"RMSE": 44.52592446664416, "MAE": 23.733372677252785, "R2": 0.9241422761039821, "MAPE_%": 1.8055470996221397}, "RandomForest": {"RMSE": 44.734797950621335, "MAE": 23.855417204029525, "R2": 0.9234289015314964, "MAPE_%": 1.8104909529933908}, "LightGBM": {"RMSE": 44.929503758887314, "MAE": 24.650096208628955, "R2": 0.922760907787942, "MAPE_%": 1.883395530028567}, "CatBoost": {"RMSE": 45.196249923742805, "MAE": 24.061999274464544, "R2": 0.921841049319889, "MAPE_%": 1.8343082366584897}, "CatBoost (tuned)": {"RMSE": 45.20919668992244, "MAE": 24.06889247079699, "R2": 0.9217962646045836, "MAPE_%": 1.8348702565624513}, "LightGBM (tuned)": {"RMSE": 45.22245793500578, "MAE": 24.024346151752493, "R2": 0.9217503787636048, "MAPE_%": 1.8366855433365117}, "RandomForest (tuned)": {"RMSE": 46.47720125626321, "MAE": 24.248138114889123, "R2": 0.9173479074844259, "MAPE_%": 1.8457870477593799}, "MLP": {"RMSE": 50.36941955482558, "MAE": 28.591562269360736, "R2": 0.9029249082973939, "MAPE_%": 2.172497844779718}, "MLP (tuned)": {"RMSE": 52.77832401646748, "MAE": 30.31615413327778, "R2": 0.8934176952740258, "MAPE_%": 2.294327805424836}, "KNN": {"RMSE": 54.023563194926076, "MAE": 30.857072032988917, "R2": 0.8883290096621802, "MAPE_%": 2.3245654290353754}, "LinearRegression": {"RMSE": 55.10910990260637, "MAE": 34.13112474140186, "R2": 0.8837960983233141, "MAPE_%": 2.567487949174709}, "Ridge": {"RMSE": 55.1091651547699, "MAE": 34.13124594897226, "R2": 0.8837958653121039, "MAPE_%": 2.567495964458486}, "ElasticNet": {"RMSE": 55.21412032777479, "MAE": 34.3200905566686, "R2": 0.8833528232571061, "MAPE_%": 2.5799900291010758}, "Lasso": {"RMSE": 56.224500373354495, "MAE": 34.889089292722005, "R2": 0.8790446376471266, "MAPE_%": 2.6179076750014243}, "KNN (tuned)": {"RMSE": 56.69762211672362, "MAE": 33.49819345446784, "R2": 0.8770004260057818, "MAPE_%": 2.505199607283679}}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Figure: figures/notebook/open_power_systems/cell_024_figure_1.png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  <a:p xmlns:a="http://schemas.openxmlformats.org/drawingml/2006/main">
            <a:r>
              <a:t>Notebook cell ID: 765fbea4.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Figure: figures/notebook/open_power_systems/cell_029_figure_1.png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  <a:p xmlns:a="http://schemas.openxmlformats.org/drawingml/2006/main">
            <a:r>
              <a:t>Notebook cell ID: 7950dfdd.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Figure: figures/notebook/open_power_systems/cell_042_figure_1.png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  <a:p xmlns:a="http://schemas.openxmlformats.org/drawingml/2006/main">
            <a:r>
              <a:t>Notebook cell ID: 56bc3bbf.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Figure: figures/notebook/open_power_systems/cell_047_figure_1.png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  <a:p xmlns:a="http://schemas.openxmlformats.org/drawingml/2006/main">
            <a:r>
              <a:t>Notebook cell ID: 8cb8f20e.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Figure: figures/notebook/open_power_systems/cell_060_figure_1.png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  <a:p xmlns:a="http://schemas.openxmlformats.org/drawingml/2006/main">
            <a:r>
              <a:t>Notebook cell ID: e72900db.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Figure: figures/notebook/open_power_systems/cell_066_figure_1.png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  <a:p xmlns:a="http://schemas.openxmlformats.org/drawingml/2006/main">
            <a:r>
              <a:t>Notebook cell ID: 3d28aa25.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Figure: figures/open_power_systems/calendar_errors.png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Figure: figures/notebook/open_power_systems/cell_073_figure_1.png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  <a:p xmlns:a="http://schemas.openxmlformats.org/drawingml/2006/main">
            <a:r>
              <a:t>Notebook cell ID: 099a1c0d.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https://scikit-learn.org/stable/modules/neighbors.html</a:t>
            </a:r>
          </a:p>
          <a:p xmlns:a="http://schemas.openxmlformats.org/drawingml/2006/main">
            <a:r>
              <a:t>https://scikit-learn.org/stable/modules/neural_networks_supervised.html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https://scikit-learn.org/stable/modules/ensemble.html</a:t>
            </a:r>
          </a:p>
          <a:p xmlns:a="http://schemas.openxmlformats.org/drawingml/2006/main">
            <a:r>
              <a:t>https://xgboost.readthedocs.io/en/stable/tutorials/model.html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Figure: figures/notebook/open_power_systems/cell_043_figure_1.png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  <a:p xmlns:a="http://schemas.openxmlformats.org/drawingml/2006/main">
            <a:r>
              <a:t>Notebook cell ID: 715e6d7e.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Figure: figures/notebook/open_power_systems/cell_048_figure_1.png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  <a:p xmlns:a="http://schemas.openxmlformats.org/drawingml/2006/main">
            <a:r>
              <a:t>Notebook cell ID: bba47913.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Figure: figures/notebook/open_power_systems/cell_072_figure_1.png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  <a:p xmlns:a="http://schemas.openxmlformats.org/drawingml/2006/main">
            <a:r>
              <a:t>Notebook cell ID: 585ef066.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  <a:p xmlns:a="http://schemas.openxmlformats.org/drawingml/2006/main">
            <a:r>
              <a:t>{"Stacking": {"RMSE": 43.89412801672414, "MAE": 23.111985906748576, "R2": 0.92627975515373, "MAPE_%": 1.7590113312719111}, "XGBoost (tuned)": {"RMSE": 44.32737510128147, "MAE": 23.728195158711472, "R2": 0.9248172950776797, "MAPE_%": 1.8075057689566605}, "XGBoost": {"RMSE": 44.52592446664416, "MAE": 23.733372677252785, "R2": 0.9241422761039821, "MAPE_%": 1.8055470996221397}, "RandomForest": {"RMSE": 44.734797950621335, "MAE": 23.855417204029525, "R2": 0.9234289015314964, "MAPE_%": 1.8104909529933908}, "LightGBM": {"RMSE": 44.929503758887314, "MAE": 24.650096208628955, "R2": 0.922760907787942, "MAPE_%": 1.883395530028567}, "CatBoost": {"RMSE": 45.196249923742805, "MAE": 24.061999274464544, "R2": 0.921841049319889, "MAPE_%": 1.8343082366584897}, "CatBoost (tuned)": {"RMSE": 45.20919668992244, "MAE": 24.06889247079699, "R2": 0.9217962646045836, "MAPE_%": 1.8348702565624513}, "LightGBM (tuned)": {"RMSE": 45.22245793500578, "MAE": 24.024346151752493, "R2": 0.9217503787636048, "MAPE_%": 1.8366855433365117}, "RandomForest (tuned)": {"RMSE": 46.47720125626321, "MAE": 24.248138114889123, "R2": 0.9173479074844259, "MAPE_%": 1.8457870477593799}, "MLP": {"RMSE": 50.36941955482558, "MAE": 28.591562269360736, "R2": 0.9029249082973939, "MAPE_%": 2.172497844779718}, "MLP (tuned)": {"RMSE": 52.77832401646748, "MAE": 30.31615413327778, "R2": 0.8934176952740258, "MAPE_%": 2.294327805424836}, "KNN": {"RMSE": 54.023563194926076, "MAE": 30.857072032988917, "R2": 0.8883290096621802, "MAPE_%": 2.3245654290353754}, "LinearRegression": {"RMSE": 55.10910990260637, "MAE": 34.13112474140186, "R2": 0.8837960983233141, "MAPE_%": 2.567487949174709}, "Ridge": {"RMSE": 55.1091651547699, "MAE": 34.13124594897226, "R2": 0.8837958653121039, "MAPE_%": 2.567495964458486}, "ElasticNet": {"RMSE": 55.21412032777479, "MAE": 34.3200905566686, "R2": 0.8833528232571061, "MAPE_%": 2.5799900291010758}, "Lasso": {"RMSE": 56.224500373354495, "MAE": 34.889089292722005, "R2": 0.8790446376471266, "MAPE_%": 2.6179076750014243}, "KNN (tuned)": {"RMSE": 56.69762211672362, "MAE": 33.49819345446784, "R2": 0.8770004260057818, "MAPE_%": 2.505199607283679}}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  <a:p xmlns:a="http://schemas.openxmlformats.org/drawingml/2006/main">
            <a:r>
              <a:t>{"Stacking": {"RMSE": 43.89412801672414, "MAE": 23.111985906748576, "R2": 0.92627975515373, "MAPE_%": 1.7590113312719111}, "XGBoost (tuned)": {"RMSE": 44.32737510128147, "MAE": 23.728195158711472, "R2": 0.9248172950776797, "MAPE_%": 1.8075057689566605}, "XGBoost": {"RMSE": 44.52592446664416, "MAE": 23.733372677252785, "R2": 0.9241422761039821, "MAPE_%": 1.8055470996221397}, "RandomForest": {"RMSE": 44.734797950621335, "MAE": 23.855417204029525, "R2": 0.9234289015314964, "MAPE_%": 1.8104909529933908}, "LightGBM": {"RMSE": 44.929503758887314, "MAE": 24.650096208628955, "R2": 0.922760907787942, "MAPE_%": 1.883395530028567}, "CatBoost": {"RMSE": 45.196249923742805, "MAE": 24.061999274464544, "R2": 0.921841049319889, "MAPE_%": 1.8343082366584897}, "CatBoost (tuned)": {"RMSE": 45.20919668992244, "MAE": 24.06889247079699, "R2": 0.9217962646045836, "MAPE_%": 1.8348702565624513}, "LightGBM (tuned)": {"RMSE": 45.22245793500578, "MAE": 24.024346151752493, "R2": 0.9217503787636048, "MAPE_%": 1.8366855433365117}, "RandomForest (tuned)": {"RMSE": 46.47720125626321, "MAE": 24.248138114889123, "R2": 0.9173479074844259, "MAPE_%": 1.8457870477593799}, "MLP": {"RMSE": 50.36941955482558, "MAE": 28.591562269360736, "R2": 0.9029249082973939, "MAPE_%": 2.172497844779718}, "MLP (tuned)": {"RMSE": 52.77832401646748, "MAE": 30.31615413327778, "R2": 0.8934176952740258, "MAPE_%": 2.294327805424836}, "KNN": {"RMSE": 54.023563194926076, "MAE": 30.857072032988917, "R2": 0.8883290096621802, "MAPE_%": 2.3245654290353754}, "LinearRegression": {"RMSE": 55.10910990260637, "MAE": 34.13112474140186, "R2": 0.8837960983233141, "MAPE_%": 2.567487949174709}, "Ridge": {"RMSE": 55.1091651547699, "MAE": 34.13124594897226, "R2": 0.8837958653121039, "MAPE_%": 2.567495964458486}, "ElasticNet": {"RMSE": 55.21412032777479, "MAE": 34.3200905566686, "R2": 0.8833528232571061, "MAPE_%": 2.5799900291010758}, "Lasso": {"RMSE": 56.224500373354495, "MAE": 34.889089292722005, "R2": 0.8790446376471266, "MAPE_%": 2.6179076750014243}, "KNN (tuned)": {"RMSE": 56.69762211672362, "MAE": 33.49819345446784, "R2": 0.8770004260057818, "MAPE_%": 2.505199607283679}}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Seed 42. Stacking uses two ordinary folds. Penalized linear models test three strengths. See the notebook for all constructor arguments.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open_power_systems_tutorial.ipynb.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https://scikit-learn.org/stable/modules/neighbors.html</a:t>
            </a:r>
          </a:p>
          <a:p xmlns:a="http://schemas.openxmlformats.org/drawingml/2006/main">
            <a:r>
              <a:t>https://scikit-learn.org/stable/modules/neural_networks_supervised.html</a:t>
            </a:r>
          </a:p>
          <a:p xmlns:a="http://schemas.openxmlformats.org/drawingml/2006/main">
            <a:r>
              <a:t>https://scikit-learn.org/stable/modules/ensemble.html</a:t>
            </a:r>
          </a:p>
          <a:p xmlns:a="http://schemas.openxmlformats.org/drawingml/2006/main">
            <a:r>
              <a:t>https://xgboost.readthedocs.io/en/stable/tutorials/model.html</a:t>
            </a:r>
          </a:p>
          <a:p xmlns:a="http://schemas.openxmlformats.org/drawingml/2006/main">
            <a:r>
              <a:t>https://catboost.ai/docs/en/concepts/algorithm-main-stages_cat-to-numberic</a:t>
            </a:r>
          </a:p>
          <a:p xmlns:a="http://schemas.openxmlformats.org/drawingml/2006/main">
            <a:r>
              <a:t>https://lightgbm.readthedocs.io/en/stable/Features.html</a:t>
            </a:r>
          </a:p>
          <a:p xmlns:a="http://schemas.openxmlformats.org/drawingml/2006/main">
            <a:r>
              <a:t>https://www.statsmodels.org/stable/generated/statsmodels.tsa.statespace.sarimax.SARIMAX.html</a:t>
            </a:r>
          </a:p>
          <a:p xmlns:a="http://schemas.openxmlformats.org/drawingml/2006/main">
            <a:r>
              <a:t>Measured results: run_results/open_power_systems_tutorial/results.json.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f69a6ee79748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07e48355144f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03a7221bcc49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a385947a54e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5ec3f2ee97421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77826464e43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8A43BA-2331-4882-8EFF-1FA8E07C22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0EF94D6-99C3-49E1-AD03-D74BD461A55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1646E0F-B2C6-4C75-88D1-7C9F481ED4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CFC88F-8E40-463D-A46E-32B62BCEEC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B155B65-ED03-4E42-9B38-CD63A70993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5FA8E2D-4312-4B11-8AF3-69E0186343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ADB7E6-5A02-4E74-8685-D4BE21C863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75DECC1-CE8F-4048-922B-59024E53FE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50CAF7-998F-4AF5-AE28-11E3C1F39E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C05F9F-CB4E-4165-A7D5-4F56D5CAB3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1fed6fb8234d1e" /><Relationship Type="http://schemas.openxmlformats.org/officeDocument/2006/relationships/slideLayout" Target="/ppt/slideLayouts/slideLayout1.xml" Id="R4dd2b8da96d94b2f" /><Relationship Type="http://schemas.openxmlformats.org/officeDocument/2006/relationships/slideLayout" Target="/ppt/slideLayouts/slideLayout2.xml" Id="Rafa87f8b3a2b4604" /><Relationship Type="http://schemas.openxmlformats.org/officeDocument/2006/relationships/slideLayout" Target="/ppt/slideLayouts/slideLayout3.xml" Id="R405b0686e3f94417" /><Relationship Type="http://schemas.openxmlformats.org/officeDocument/2006/relationships/slideLayout" Target="/ppt/slideLayouts/slideLayout4.xml" Id="R1815bc2b442f4f0f" /><Relationship Type="http://schemas.openxmlformats.org/officeDocument/2006/relationships/slideLayout" Target="/ppt/slideLayouts/slideLayout5.xml" Id="R96609df81fd54ef0" /><Relationship Type="http://schemas.openxmlformats.org/officeDocument/2006/relationships/slideLayout" Target="/ppt/slideLayouts/slideLayout6.xml" Id="R23d594939d6d44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d2b8da96d94b2f"/>
    <p:sldLayoutId xmlns:r="http://schemas.openxmlformats.org/officeDocument/2006/relationships" id="2147483650" r:id="Rafa87f8b3a2b4604"/>
    <p:sldLayoutId xmlns:r="http://schemas.openxmlformats.org/officeDocument/2006/relationships" id="2147483651" r:id="R405b0686e3f94417"/>
    <p:sldLayoutId xmlns:r="http://schemas.openxmlformats.org/officeDocument/2006/relationships" id="2147483652" r:id="R1815bc2b442f4f0f"/>
    <p:sldLayoutId xmlns:r="http://schemas.openxmlformats.org/officeDocument/2006/relationships" id="2147483653" r:id="R96609df81fd54ef0"/>
    <p:sldLayoutId xmlns:r="http://schemas.openxmlformats.org/officeDocument/2006/relationships" id="2147483654" r:id="R23d594939d6d44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d4c9e635704703" /><Relationship Type="http://schemas.openxmlformats.org/officeDocument/2006/relationships/notesSlide" Target="/ppt/notesSlides/notesSlide1.xml" Id="R9284d9cbbce945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cf709dd25649ea" /><Relationship Type="http://schemas.openxmlformats.org/officeDocument/2006/relationships/notesSlide" Target="/ppt/notesSlides/notesSlide2.xml" Id="R429ba4690fe44e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87cd7350bd4459" /><Relationship Type="http://schemas.openxmlformats.org/officeDocument/2006/relationships/notesSlide" Target="/ppt/notesSlides/notesSlide3.xml" Id="R4170fd3548e640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e856c38f1142fa" /><Relationship Type="http://schemas.openxmlformats.org/officeDocument/2006/relationships/notesSlide" Target="/ppt/notesSlides/notesSlide4.xml" Id="Ra1cd3551801345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192d4496e649c6" /><Relationship Type="http://schemas.openxmlformats.org/officeDocument/2006/relationships/notesSlide" Target="/ppt/notesSlides/notesSlide5.xml" Id="R5fa020c3bcbc4c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47ad69022246c7" /><Relationship Type="http://schemas.openxmlformats.org/officeDocument/2006/relationships/image" Target="/ppt/media/image.png" Id="R1ef3b9496d1843e1" /><Relationship Type="http://schemas.openxmlformats.org/officeDocument/2006/relationships/notesSlide" Target="/ppt/notesSlides/notesSlide6.xml" Id="R3ed7675f9bcb4f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c53f63002043d8" /><Relationship Type="http://schemas.openxmlformats.org/officeDocument/2006/relationships/image" Target="/ppt/media/image2.png" Id="R8b5f89d0325a47f6" /><Relationship Type="http://schemas.openxmlformats.org/officeDocument/2006/relationships/notesSlide" Target="/ppt/notesSlides/notesSlide7.xml" Id="R0775c9ab022340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8481fba513490d" /><Relationship Type="http://schemas.openxmlformats.org/officeDocument/2006/relationships/notesSlide" Target="/ppt/notesSlides/notesSlide8.xml" Id="R0e37322f3fb74f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881780716f404e" /><Relationship Type="http://schemas.openxmlformats.org/officeDocument/2006/relationships/notesSlide" Target="/ppt/notesSlides/notesSlide9.xml" Id="R1b074c09678a4e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3408e324cc4c4b" /><Relationship Type="http://schemas.openxmlformats.org/officeDocument/2006/relationships/notesSlide" Target="/ppt/notesSlides/notesSlide10.xml" Id="R25c5d8b817a743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a55345a8af4679" /><Relationship Type="http://schemas.openxmlformats.org/officeDocument/2006/relationships/notesSlide" Target="/ppt/notesSlides/notesSlide11.xml" Id="R845cc342840842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f50c57264c47a4" /><Relationship Type="http://schemas.openxmlformats.org/officeDocument/2006/relationships/notesSlide" Target="/ppt/notesSlides/notesSlide12.xml" Id="R80fb481281b648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8357c66bf14eba" /><Relationship Type="http://schemas.openxmlformats.org/officeDocument/2006/relationships/notesSlide" Target="/ppt/notesSlides/notesSlide13.xml" Id="R1af008b2d859417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d3e7093d1f430a" /><Relationship Type="http://schemas.openxmlformats.org/officeDocument/2006/relationships/notesSlide" Target="/ppt/notesSlides/notesSlide14.xml" Id="R69299bf630364d3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55755386e14252" /><Relationship Type="http://schemas.openxmlformats.org/officeDocument/2006/relationships/notesSlide" Target="/ppt/notesSlides/notesSlide15.xml" Id="Rd0d02e16d5914c7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bda61cb3294b7d" /><Relationship Type="http://schemas.openxmlformats.org/officeDocument/2006/relationships/image" Target="/ppt/media/image3.png" Id="R03b2cdefb9664304" /><Relationship Type="http://schemas.openxmlformats.org/officeDocument/2006/relationships/notesSlide" Target="/ppt/notesSlides/notesSlide16.xml" Id="Rad9d1a5c2d2d4a1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9cc0c8922946a8" /><Relationship Type="http://schemas.openxmlformats.org/officeDocument/2006/relationships/image" Target="/ppt/media/image4.png" Id="R6d395ccebf0c4817" /><Relationship Type="http://schemas.openxmlformats.org/officeDocument/2006/relationships/notesSlide" Target="/ppt/notesSlides/notesSlide17.xml" Id="R33596232a8784e3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b7e160ea564c57" /><Relationship Type="http://schemas.openxmlformats.org/officeDocument/2006/relationships/image" Target="/ppt/media/image5.png" Id="Rd1f82d23a9ad439b" /><Relationship Type="http://schemas.openxmlformats.org/officeDocument/2006/relationships/notesSlide" Target="/ppt/notesSlides/notesSlide18.xml" Id="R0767a549703340e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ff4e199ea94488" /><Relationship Type="http://schemas.openxmlformats.org/officeDocument/2006/relationships/image" Target="/ppt/media/image6.png" Id="Rb2794e5631234188" /><Relationship Type="http://schemas.openxmlformats.org/officeDocument/2006/relationships/notesSlide" Target="/ppt/notesSlides/notesSlide19.xml" Id="Rf9e1a216c4dc47b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be9e65bbea45e8" /><Relationship Type="http://schemas.openxmlformats.org/officeDocument/2006/relationships/notesSlide" Target="/ppt/notesSlides/notesSlide20.xml" Id="Rc87ba23c8f8d495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8a1b4ff8d64455" /><Relationship Type="http://schemas.openxmlformats.org/officeDocument/2006/relationships/notesSlide" Target="/ppt/notesSlides/notesSlide21.xml" Id="R525740fb7348442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10f305264b4c1b" /><Relationship Type="http://schemas.openxmlformats.org/officeDocument/2006/relationships/notesSlide" Target="/ppt/notesSlides/notesSlide22.xml" Id="R9ae5f85cfd5f4ee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63489105384463" /><Relationship Type="http://schemas.openxmlformats.org/officeDocument/2006/relationships/notesSlide" Target="/ppt/notesSlides/notesSlide23.xml" Id="Rb50255d826af418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4afb28ae2a4ec2" /><Relationship Type="http://schemas.openxmlformats.org/officeDocument/2006/relationships/notesSlide" Target="/ppt/notesSlides/notesSlide24.xml" Id="R3ab9c7c80d5f4e0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1287e01c464578" /><Relationship Type="http://schemas.openxmlformats.org/officeDocument/2006/relationships/image" Target="/ppt/media/image7.png" Id="Reb673d432f0a450a" /><Relationship Type="http://schemas.openxmlformats.org/officeDocument/2006/relationships/notesSlide" Target="/ppt/notesSlides/notesSlide25.xml" Id="R29a9b49a331c45a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4a7938bd3d4df2" /><Relationship Type="http://schemas.openxmlformats.org/officeDocument/2006/relationships/image" Target="/ppt/media/image8.png" Id="R5619e93ff4c64cc7" /><Relationship Type="http://schemas.openxmlformats.org/officeDocument/2006/relationships/notesSlide" Target="/ppt/notesSlides/notesSlide26.xml" Id="R6c3a8d7124e44bd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3cdef7ff74469f" /><Relationship Type="http://schemas.openxmlformats.org/officeDocument/2006/relationships/notesSlide" Target="/ppt/notesSlides/notesSlide27.xml" Id="Ree52a4576a8f4aa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948ca0775d4d15" /><Relationship Type="http://schemas.openxmlformats.org/officeDocument/2006/relationships/notesSlide" Target="/ppt/notesSlides/notesSlide28.xml" Id="R1490333c19fb4aa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32bcc6af754c15" /><Relationship Type="http://schemas.openxmlformats.org/officeDocument/2006/relationships/notesSlide" Target="/ppt/notesSlides/notesSlide29.xml" Id="R51810ae099c14b1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438f0b34f04beb" /><Relationship Type="http://schemas.openxmlformats.org/officeDocument/2006/relationships/notesSlide" Target="/ppt/notesSlides/notesSlide30.xml" Id="R8fc8e2a70adb407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0059d909a94027" /><Relationship Type="http://schemas.openxmlformats.org/officeDocument/2006/relationships/image" Target="/ppt/media/image9.png" Id="R1016809fbb604662" /><Relationship Type="http://schemas.openxmlformats.org/officeDocument/2006/relationships/notesSlide" Target="/ppt/notesSlides/notesSlide31.xml" Id="R14ac75536ad44b4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0329ae81d9426b" /><Relationship Type="http://schemas.openxmlformats.org/officeDocument/2006/relationships/image" Target="/ppt/media/image10.png" Id="Rb412078cf72640eb" /><Relationship Type="http://schemas.openxmlformats.org/officeDocument/2006/relationships/notesSlide" Target="/ppt/notesSlides/notesSlide32.xml" Id="R287b643191714c1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0cd71e1c474b10" /><Relationship Type="http://schemas.openxmlformats.org/officeDocument/2006/relationships/image" Target="/ppt/media/image11.png" Id="Rfcb75dc9e506411a" /><Relationship Type="http://schemas.openxmlformats.org/officeDocument/2006/relationships/notesSlide" Target="/ppt/notesSlides/notesSlide33.xml" Id="R396e54d6a4d34ce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060de163ac48fa" /><Relationship Type="http://schemas.openxmlformats.org/officeDocument/2006/relationships/image" Target="/ppt/media/image12.png" Id="Rb0916e645ccf4f35" /><Relationship Type="http://schemas.openxmlformats.org/officeDocument/2006/relationships/notesSlide" Target="/ppt/notesSlides/notesSlide34.xml" Id="Rb81821d70943414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da9592450b4e22" /><Relationship Type="http://schemas.openxmlformats.org/officeDocument/2006/relationships/image" Target="/ppt/media/image13.png" Id="R3a0729f50a1d4fef" /><Relationship Type="http://schemas.openxmlformats.org/officeDocument/2006/relationships/notesSlide" Target="/ppt/notesSlides/notesSlide35.xml" Id="Rf8608cad4b82472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23e7f30f9b447b" /><Relationship Type="http://schemas.openxmlformats.org/officeDocument/2006/relationships/image" Target="/ppt/media/image14.png" Id="R207a6f2880cb465f" /><Relationship Type="http://schemas.openxmlformats.org/officeDocument/2006/relationships/notesSlide" Target="/ppt/notesSlides/notesSlide36.xml" Id="R8ef0298c9b8443b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f2fd5cead54796" /><Relationship Type="http://schemas.openxmlformats.org/officeDocument/2006/relationships/image" Target="/ppt/media/image15.png" Id="R15cd7b0ac9024ad5" /><Relationship Type="http://schemas.openxmlformats.org/officeDocument/2006/relationships/notesSlide" Target="/ppt/notesSlides/notesSlide37.xml" Id="Ra2119ebdfbfc4d5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75fab7cccc4192" /><Relationship Type="http://schemas.openxmlformats.org/officeDocument/2006/relationships/image" Target="/ppt/media/image16.png" Id="R73fb1e49eeec495e" /><Relationship Type="http://schemas.openxmlformats.org/officeDocument/2006/relationships/notesSlide" Target="/ppt/notesSlides/notesSlide38.xml" Id="Ra56b4ee4431345a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420e22a27d4f45" /><Relationship Type="http://schemas.openxmlformats.org/officeDocument/2006/relationships/notesSlide" Target="/ppt/notesSlides/notesSlide39.xml" Id="R7d8f8c38e76b403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e749157a5145bb" /><Relationship Type="http://schemas.openxmlformats.org/officeDocument/2006/relationships/notesSlide" Target="/ppt/notesSlides/notesSlide40.xml" Id="Rba0d446e4aa5403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6f61768adf4adc" /><Relationship Type="http://schemas.openxmlformats.org/officeDocument/2006/relationships/notesSlide" Target="/ppt/notesSlides/notesSlide41.xml" Id="R569141caca2a416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dcdaf0562147a6" /><Relationship Type="http://schemas.openxmlformats.org/officeDocument/2006/relationships/notesSlide" Target="/ppt/notesSlides/notesSlide42.xml" Id="R1ca8bddf2ac94bce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392e33931e4d03" /><Relationship Type="http://schemas.openxmlformats.org/officeDocument/2006/relationships/notesSlide" Target="/ppt/notesSlides/notesSlide43.xml" Id="Rfa3a677ff5d7498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a0d2c98f2341fe" /><Relationship Type="http://schemas.openxmlformats.org/officeDocument/2006/relationships/notesSlide" Target="/ppt/notesSlides/notesSlide44.xml" Id="R603845f2fc0e45c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b08ce806644381" /><Relationship Type="http://schemas.openxmlformats.org/officeDocument/2006/relationships/image" Target="/ppt/media/image17.png" Id="R5f9489318b5a46c6" /><Relationship Type="http://schemas.openxmlformats.org/officeDocument/2006/relationships/notesSlide" Target="/ppt/notesSlides/notesSlide45.xml" Id="Rddcd5884fea246a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d9f012fb144aa5" /><Relationship Type="http://schemas.openxmlformats.org/officeDocument/2006/relationships/image" Target="/ppt/media/image18.png" Id="Re9ead432ceef4594" /><Relationship Type="http://schemas.openxmlformats.org/officeDocument/2006/relationships/notesSlide" Target="/ppt/notesSlides/notesSlide46.xml" Id="R2fc4f76536a24b7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6e1b4c558a41e3" /><Relationship Type="http://schemas.openxmlformats.org/officeDocument/2006/relationships/image" Target="/ppt/media/image19.png" Id="R46fdb5640c4c431f" /><Relationship Type="http://schemas.openxmlformats.org/officeDocument/2006/relationships/notesSlide" Target="/ppt/notesSlides/notesSlide47.xml" Id="Rcfee92cf2a2a4c52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da9184b8f24c84" /><Relationship Type="http://schemas.openxmlformats.org/officeDocument/2006/relationships/notesSlide" Target="/ppt/notesSlides/notesSlide48.xml" Id="R19f96e8e99db4d2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35b70456884eed" /><Relationship Type="http://schemas.openxmlformats.org/officeDocument/2006/relationships/notesSlide" Target="/ppt/notesSlides/notesSlide49.xml" Id="Re440fcb3b0a8472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70697310ec4ff7" /><Relationship Type="http://schemas.openxmlformats.org/officeDocument/2006/relationships/notesSlide" Target="/ppt/notesSlides/notesSlide50.xml" Id="R255957e76f254f5a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c0209c83554417" /><Relationship Type="http://schemas.openxmlformats.org/officeDocument/2006/relationships/notesSlide" Target="/ppt/notesSlides/notesSlide51.xml" Id="Ra54e6d9b2adc4274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76339de6384d98" /><Relationship Type="http://schemas.openxmlformats.org/officeDocument/2006/relationships/notesSlide" Target="/ppt/notesSlides/notesSlide52.xml" Id="R5c1907efcd71496d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20213c626a45fe" /><Relationship Type="http://schemas.openxmlformats.org/officeDocument/2006/relationships/notesSlide" Target="/ppt/notesSlides/notesSlide53.xml" Id="R1da123dd86164d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EE88B96C-7856-48DB-AD52-B0A838D5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 SCIENCE PROJECT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F04D871-F14D-40DE-B0A3-32C2A073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477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DE08226-4CD9-428D-B1FE-2433A590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Predicting daily electricity consumption in Germany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A33AA3B-9159-4CB6-9D81-B7A72051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00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Data, methods and results</a:t>
            </a:r>
          </a:p>
        </p:txBody>
      </p:sp>
    </p:spTree>
    <p:extLst>
      <p:ext uri="{BB962C8B-B14F-4D97-AF65-F5344CB8AC3E}">
        <p14:creationId xmlns:p14="http://schemas.microsoft.com/office/powerpoint/2010/main" val="5667854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E3E5DB04-0C0B-47E0-A057-D5168847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01 Summary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9DF1D4E-F42A-4012-BC40-EDB8D632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Summary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BF08F75-5A04-4807-9C3C-FB5DF7FF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03D997E-B80C-44C3-A25C-A11D8C79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02 / 53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7E8509E-13C5-4E56-8012-081E4185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714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43.8941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58025F0-38DD-4F8C-A902-F9AC5FEE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340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Test RMSE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4A56739-E25C-4E6B-BAA8-E050EE9F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76425"/>
            <a:ext cx="67437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Best score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C2CACB0-A3B1-4C77-88BA-6CA153BD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0280"/>
            <a:ext cx="674370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Stacking reaches RMSE 43.89 GWh/day and MAE 23.11 GWh/day.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9844588-DBD8-4A6C-8F71-C9C92DA2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30246"/>
            <a:ext cx="67437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Comparison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4D333AF-6096-4464-973B-D63BCFBD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94101"/>
            <a:ext cx="67437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Its small lead over tuned XGBoost is uncertain under weekly block resampling.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7674035-7BBF-46D7-9FDD-2C989C1F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83533"/>
            <a:ext cx="67437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Input availability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798C92EB-4778-4964-90D6-8A6B5F7C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47388"/>
            <a:ext cx="67437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models use same-day wind and solar measurements. Day-ahead use requires forecasts or earlier observations.</a:t>
            </a:r>
          </a:p>
        </p:txBody>
      </p:sp>
    </p:spTree>
    <p:extLst>
      <p:ext uri="{BB962C8B-B14F-4D97-AF65-F5344CB8AC3E}">
        <p14:creationId xmlns:p14="http://schemas.microsoft.com/office/powerpoint/2010/main" val="10193947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EE3593D3-12AC-4D1F-8539-6CEAD075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02 Objective and data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F00D2A9-2E63-4F13-AF6C-7B861123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Objective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97ABB55-712B-437A-B233-C4363A1E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CB5A2E2-6624-48B8-8994-6C8EC52F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03 / 53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0109DEF-0FF0-4651-8803-6F363856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Objective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E3EAFB5-7061-4D95-8293-C3A36422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Predict German daily electricity consumption from demand history, calendar variables and renewable generation.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7871493-0C4E-4DBD-827B-45067726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Prediction unit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AE26B21-F329-404C-B33A-A146BE96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One day. Consumption and errors are measured in GWh per day.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220BE33-0DB0-4D62-8415-CA129EF0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1BADDD6-31CA-4022-B7B6-3A6060AC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RMSE for model ranking, MAE for typical error, and R² for explained variation.</a:t>
            </a:r>
          </a:p>
        </p:txBody>
      </p:sp>
    </p:spTree>
    <p:extLst>
      <p:ext uri="{BB962C8B-B14F-4D97-AF65-F5344CB8AC3E}">
        <p14:creationId xmlns:p14="http://schemas.microsoft.com/office/powerpoint/2010/main" val="5643992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149C8D8-004A-499D-A9A6-A36323B5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02 Objective and data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A1B981A-6648-472E-B9D2-096E8134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0064CD9-CA13-4736-9CC4-5856C022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0F84D20-CB7B-4BE0-96F0-4DB4F494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04 / 53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F06AD-C57E-47D1-AFD6-649A50BB9B1F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6896"/>
                <a:gridCol w="8223504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Item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Details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4,383 daily records covering 2006–2017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4,018 days after creating the 365-day lag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Inputs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 calendar, renewable-generation and historical-load features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Scope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Same-day renewable-generation measurements appear in the current feature set.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52356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1E63981-A95D-4F64-AEC4-0BA27788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02 Objective and data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E0FB708-3C58-4A06-9816-F6E08317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Preprocessing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D005FD6-74C7-4278-A328-8A040F06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D19B454-94E2-4726-96B9-1388182D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05 / 53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07A7D-5784-4ACE-9FDD-F273B0C64553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6896"/>
                <a:gridCol w="8223504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Step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Processing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Sort dates and reindex the data to a daily frequency.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Renewables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Fill unavailable wind and solar fields with zero. Add missingness indicators.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values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Keep missingness separate from measured zero generation.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History features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Shift rolling windows to use only earlier consumption values.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16769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842CE1B-1CE4-45D1-9427-F117F304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83E85BA-568E-4B6C-BCF5-7523EADD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Consumption and renewable generation history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52EBB6C-B2FB-499C-A372-39E921D5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C6C6FED-AE08-4EB5-9F88-49609889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06 / 53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E2783-1581-42E5-83E2-6D178B3670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3b9496d1843e1"/>
          <a:stretch xmlns:a="http://schemas.openxmlformats.org/drawingml/2006/main"/>
        </p:blipFill>
        <p:spPr>
          <a:xfrm xmlns:a="http://schemas.openxmlformats.org/drawingml/2006/main">
            <a:off x="1766013" y="1762125"/>
            <a:ext cx="8659974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9872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D601463-D313-47E4-A30B-421D1565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B16C11A-8193-4214-966F-A4F8F8E7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Monthly and weekly demand patterns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B10C496-8C82-4211-92BE-40229A09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6E9EFD4-8134-4A92-A50D-64CEC21C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07 / 53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5C212-D1FD-422F-A50D-54125DA564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f89d0325a47f6"/>
          <a:stretch xmlns:a="http://schemas.openxmlformats.org/drawingml/2006/main"/>
        </p:blipFill>
        <p:spPr>
          <a:xfrm xmlns:a="http://schemas.openxmlformats.org/drawingml/2006/main">
            <a:off x="514350" y="2154935"/>
            <a:ext cx="11163300" cy="35006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0039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50ACDF59-3672-4876-AA97-E0E2843D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E88D153-346A-4C86-9AD0-148BF276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EDA findings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7C1A65C-D1E7-47BE-AA98-9428944E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B7812DA-1AF2-44EF-B4EB-39497501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08 / 53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08919F3-F8DF-4D9A-A46D-287A538A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Calendar patterns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BED64FE-B395-408B-92CA-4F2597A3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Consumption varies by month and weekday.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1A549DE-B38C-4D85-B82E-3A141F55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4631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Generation history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779FEF4-EA68-4063-885A-7FAE84FF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0869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Renewable fields have different measurement coverage over time. A missing value is different from observed zero generation.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928744F-6B61-4782-B9B8-92191D83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Prediction inputs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B0163AD-09C3-4E7B-99F6-6B9FEBEE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Demand lags and calendar features are available in advance. Realized same-day generation may not be.</a:t>
            </a:r>
          </a:p>
        </p:txBody>
      </p:sp>
    </p:spTree>
    <p:extLst>
      <p:ext uri="{BB962C8B-B14F-4D97-AF65-F5344CB8AC3E}">
        <p14:creationId xmlns:p14="http://schemas.microsoft.com/office/powerpoint/2010/main" val="7093988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8D689AD-2AA6-48DA-B91B-2ECE6FF2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CE5300F-2B5A-40B4-8AD5-370E898C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Feature engineering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23A8F31-3351-4BEE-B064-C4566B3B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3FC512B-6B88-4CA1-B392-8A7F49D7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09 / 53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E8A6F-D3DB-4979-9F5B-A48F95D25ABB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115300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 group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Predictors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Calendar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Weekday, month and weekend indicator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Generation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Same-day wind and solar, with missingness indicators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Demand lags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Consumption from 1, 7 and 365 days earlier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Rolling demand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 consumption over the preceding 7 and 30 days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38919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87CF9CDB-1F5E-4C48-AF30-A82EA909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04 Validation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990CAA9-42E1-42D9-938F-13820978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Train–test split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E05ADDC-7AF5-4388-9491-AAB92C8C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E0C7FFF-6625-4871-A7E9-ECD8FB8C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10 / 53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8D0B847-1281-4680-822B-0BEA558A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Partition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3455161-E3C3-46B5-8F01-5BB205DD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Train on the first 3,288 modeling days from 2007 through 2016-01-01. Test on the last 730 days from 2016-01-02 through 2017-12-31. Tuning uses chronological folds.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66E4147-F95F-4C44-9588-0717F281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Transforms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4C02A4D-ACC5-422D-8F0A-0D958B9F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Fit feature scaling on training rows, then apply the same transformation to the test partition.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908F242-6EC3-4963-821D-FA953EFC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759997E-EF54-4719-9204-1E0DE512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 chronological holdout evaluates later observations.</a:t>
            </a:r>
          </a:p>
        </p:txBody>
      </p:sp>
    </p:spTree>
    <p:extLst>
      <p:ext uri="{BB962C8B-B14F-4D97-AF65-F5344CB8AC3E}">
        <p14:creationId xmlns:p14="http://schemas.microsoft.com/office/powerpoint/2010/main" val="12702469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EB3C6DC-C673-4603-B4CC-7B6E51AB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0EBF342-F827-4192-913E-82D07D6B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Methods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50173B2-07D4-48D7-946D-563E2636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ED85F5C-DF21-43AA-93A6-05FC9313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11 / 53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F9DF0-0E7A-48D0-A6C6-DB1876571316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47672"/>
                <a:gridCol w="5085588"/>
                <a:gridCol w="3787140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Family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Linear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OLS, Ridge, Lasso and Elastic Net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Interpretable reference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K-nearest neighbors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 from similar records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Neural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Multilayer perceptron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 nonlinear relationships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Trees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Forest, XGBoost, CatBoost and LightGBM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 thresholds and interactions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Ensemble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Stacking of Random Forest, XGBoost and LightGBM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 predictions using a fitted meta-model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5165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2570E010-53C7-4628-9171-AED736F7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625BDE1-F920-4639-A688-CD76BD7B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Linear models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1F18454-A927-4C2F-9563-F70B7736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EBCEC3D-9BCB-44F1-BB6C-2A10A0CE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12 / 53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6EE16-59AC-4583-A853-963EFC3F5ABF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1264"/>
                <a:gridCol w="4544568"/>
                <a:gridCol w="454456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Weakness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Easy to inspect and use as a baseline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Misses nonlinear effects without added features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Ridge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Stabilizes coefficients when predictors overlap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Keeps all predictors and introduces shrinkage bias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Lasso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remove weak predictors with zero coefficients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select inconsistently among correlated inputs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Combines sparse selection with L2 shrinkage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Requires penalty strength and mixing to be selected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33502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8B84878-5CBE-4234-9FA4-27A2BFDA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6F45726-2424-494A-8E03-6FE0D441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KNN and neural networks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0B532EE-D986-47B5-8F53-1D975E78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8D06E18-FE31-4036-BA73-8390C9DE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13 / 53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C9D89-4044-4421-9EDB-F26CE62BF367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3570732"/>
                <a:gridCol w="5085588"/>
              </a:tblGrid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Weakness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Simple local prediction with few modeling assumptions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Distances depend on scaling. Prediction slows as the reference set grows.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Learns smooth nonlinear effects and interactions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Sensitive to scaling and optimization. Needs regularization and convergence checks.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3991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59DA2CE-CC91-4E80-9E93-A2E0EFAB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239251B-8C7E-4FAF-916A-50F82BEB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Tree-based models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6838292-956F-470E-B622-4B736D77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553FBCA-15FD-4236-8F77-254971DB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14 / 53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CA42A-FD72-4A0C-963D-2DDCDC2FA516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1264"/>
                <a:gridCol w="4544568"/>
                <a:gridCol w="454456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Weakness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Averaging many trees reduces variance and captures interactions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Large ensembles use memory and extrapolate poorly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Regularized boosting handles complex tabular relationships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Tree depth, learning rate and tree count need joint selection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Supports categorical features alongside numerical features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can be costly. Data quality still limits performance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Histogram splits support efficient training on large tables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Flexible leaf growth can overfit small groups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3677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9DCCE3DA-F94E-42ED-BD5F-AC1194CB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862C47E-9931-436F-94B9-AC30C718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Stacking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AC99BCC-2255-4E7F-A4D9-C0570236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E422E19-3E11-4FA6-A330-FB968F69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15 / 53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8747CEA-2C76-4B7A-9BB5-0C4884B8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Forest, XGBoost and LightGBM generate out-of-fold predictions. A Ridge meta-model learns how to combine them.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E9C4E1B-688D-4D18-806A-8C958679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0292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16C352F-81F9-499D-845B-924693AC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1863"/>
            <a:ext cx="5029200" cy="992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Can reduce error when the base models make different mistakes. The meta-model learns the weights from training predictions.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6277DDA-3003-4D8B-A87E-A5FE1D1E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95625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Weaknesses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E6DCDF2-A099-4F09-BC13-0336CD9C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1863"/>
            <a:ext cx="51054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Adds fitting and inference cost. Similar base-model errors can limit the gain. Forward-only folds are needed for temporal meta-training.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F9EE9DA-9DE9-4C4F-B951-CE42EFDB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RESULT IN THIS STUDY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EBE95DA-C217-4363-9488-6FBAB42C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RMSE 43.8941 and MAE 23.1120. It has the best observed test score.</a:t>
            </a:r>
          </a:p>
        </p:txBody>
      </p:sp>
    </p:spTree>
    <p:extLst>
      <p:ext uri="{BB962C8B-B14F-4D97-AF65-F5344CB8AC3E}">
        <p14:creationId xmlns:p14="http://schemas.microsoft.com/office/powerpoint/2010/main" val="21321508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CF0E1547-2DBD-4146-A0BD-B49B3500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2395CEE-A720-441A-88A3-36CD2235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comparison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01282E2-EF48-46A2-A471-17D70193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6AB0389-CDFC-4F11-8816-291ADD46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16 / 53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76198-8500-498B-AD95-EF874CC1F0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2cdefb9664304"/>
          <a:stretch xmlns:a="http://schemas.openxmlformats.org/drawingml/2006/main"/>
        </p:blipFill>
        <p:spPr>
          <a:xfrm xmlns:a="http://schemas.openxmlformats.org/drawingml/2006/main">
            <a:off x="1089622" y="1762125"/>
            <a:ext cx="1001275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CE50598-1C49-4DF1-ABEC-FDBF04F1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Best test score per family, including the strongest penalized linear model. Full results appear in the appendix.</a:t>
            </a:r>
          </a:p>
        </p:txBody>
      </p:sp>
    </p:spTree>
    <p:extLst>
      <p:ext uri="{BB962C8B-B14F-4D97-AF65-F5344CB8AC3E}">
        <p14:creationId xmlns:p14="http://schemas.microsoft.com/office/powerpoint/2010/main" val="6162739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ABCD6FC0-5C4B-45A4-803D-266D1970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51B52F9-7B4A-4D71-91D5-266F82D6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Ranking stability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D05F7B0-9AE2-469C-B0EE-1CD8A453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429D119-A06E-4500-96FC-AD50CCE3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17 / 53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7FA00-A212-43E8-B1AE-282A979C2B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95ccebf0c4817"/>
          <a:stretch xmlns:a="http://schemas.openxmlformats.org/drawingml/2006/main"/>
        </p:blipFill>
        <p:spPr>
          <a:xfrm xmlns:a="http://schemas.openxmlformats.org/drawingml/2006/main">
            <a:off x="514350" y="1962016"/>
            <a:ext cx="11163300" cy="3581668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76E868E-AD4A-4EFE-A2B1-42ABCC37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The 95% interval includes zero for Stacking versus XGBoost (tuned). Their ordering remains uncertain.</a:t>
            </a:r>
          </a:p>
        </p:txBody>
      </p:sp>
    </p:spTree>
    <p:extLst>
      <p:ext uri="{BB962C8B-B14F-4D97-AF65-F5344CB8AC3E}">
        <p14:creationId xmlns:p14="http://schemas.microsoft.com/office/powerpoint/2010/main" val="9977809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2ACEB1C4-B5E4-4B93-8660-FA5903EF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7011DC6-49BB-4F30-8216-F6AF909B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XGBoost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24C83E7-F05B-4A59-B35D-D8C36D59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30CBC73-E9F5-4675-98BE-0FCA49A5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18 / 53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E92E2-9F29-438D-926B-549928438C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f82d23a9ad439b"/>
          <a:stretch xmlns:a="http://schemas.openxmlformats.org/drawingml/2006/main"/>
        </p:blipFill>
        <p:spPr>
          <a:xfrm xmlns:a="http://schemas.openxmlformats.org/drawingml/2006/main">
            <a:off x="2871355" y="1762125"/>
            <a:ext cx="64492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E99CEB2-BF89-4C17-91EC-06DC0E9C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Demand history and calendar features provide core signal. Generation-related importance depends on measurement coverage and input timing.</a:t>
            </a:r>
          </a:p>
        </p:txBody>
      </p:sp>
    </p:spTree>
    <p:extLst>
      <p:ext uri="{BB962C8B-B14F-4D97-AF65-F5344CB8AC3E}">
        <p14:creationId xmlns:p14="http://schemas.microsoft.com/office/powerpoint/2010/main" val="11273502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08AD10F2-AE5E-4C04-B727-517ACA39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3F61FA1-9210-413B-9B8E-644F564D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Error by demand level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C39ACF9-A523-4D3C-8B0B-F3746816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8D68562-6F31-4FCE-8C59-E512AE07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19 / 53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B17D4-12B9-409A-8225-76D1DEBB99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94e5631234188"/>
          <a:stretch xmlns:a="http://schemas.openxmlformats.org/drawingml/2006/main"/>
        </p:blipFill>
        <p:spPr>
          <a:xfrm xmlns:a="http://schemas.openxmlformats.org/drawingml/2006/main">
            <a:off x="781395" y="1762125"/>
            <a:ext cx="10629210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70B69C1-F02B-47D6-90FD-CC626AF3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Stacking: prediction error across observed demand levels. Residual = prediction − actual.</a:t>
            </a:r>
          </a:p>
        </p:txBody>
      </p:sp>
    </p:spTree>
    <p:extLst>
      <p:ext uri="{BB962C8B-B14F-4D97-AF65-F5344CB8AC3E}">
        <p14:creationId xmlns:p14="http://schemas.microsoft.com/office/powerpoint/2010/main" val="12462298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E32944C8-325A-49D1-B141-91E76962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FF7EA17-C0C6-4EAC-9C74-A396BFBB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Simple baselines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A5DE99C-3207-47A1-B4FD-F0EDB1AB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F4A75E1-8507-422D-AFEC-FD9C5FBC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20 / 53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916C4-8EAF-47C8-880F-45A4AB121AAD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52772"/>
                <a:gridCol w="2055876"/>
                <a:gridCol w="2055876"/>
                <a:gridCol w="2055876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mean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170.5473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146.7870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-0.1129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Persistence lag_1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149.6992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102.3081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0.1425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Persistence lag_7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93.1549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51.0257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0.6680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Persistence lag_365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153.7235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107.9827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0.0958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Stacking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43.8941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23.1120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0.9263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187A9CB-1684-4EF9-A4C9-4568051B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Same test targets for every row. Error units: GWh per day.</a:t>
            </a:r>
          </a:p>
        </p:txBody>
      </p:sp>
    </p:spTree>
    <p:extLst>
      <p:ext uri="{BB962C8B-B14F-4D97-AF65-F5344CB8AC3E}">
        <p14:creationId xmlns:p14="http://schemas.microsoft.com/office/powerpoint/2010/main" val="8024113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3160086A-23EF-4774-A335-7041B6A6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7480C6E-29BA-43FA-BC72-1AB5C983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E1D19CF-C3DA-455E-AEC3-CE5767CD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86FCC62-73A7-43C6-ADFF-C3B8CDCA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21 / 53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022BAD3-3995-40E4-A5DE-27C28F0C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Prediction accuracy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87289EC-8F52-4852-8329-BAAECC60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Stacking reduces RMSE by 20.4% compared with OLS. Tuned XGBoost is a close alternative.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7B04B20-EE09-4D23-9EEB-1181554F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4631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Model choice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A23FA7C-C3E4-477B-8428-C88CC628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0869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ensemble lead is smaller than the resampled uncertainty. Keep XGBoost as a simpler candidate.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DF9DF11-EA37-429D-9ACE-2451A5B8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Next evaluation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B5E4392-8117-40AB-A6BF-1150C5E5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Use issue-time renewable forecasts, then repeat chronological validation with forward-only stacking folds.</a:t>
            </a:r>
          </a:p>
        </p:txBody>
      </p:sp>
    </p:spTree>
    <p:extLst>
      <p:ext uri="{BB962C8B-B14F-4D97-AF65-F5344CB8AC3E}">
        <p14:creationId xmlns:p14="http://schemas.microsoft.com/office/powerpoint/2010/main" val="94917087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726C0D9-786F-4410-8534-52DDC2BE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07 Conclusion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536DDD2-6139-4A43-99E1-279CD35D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4D7C61F-ED4B-4BA2-A52F-EE814712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8FF2E07-7D2F-4BF9-AF97-2ABD21DE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22 / 53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7996A-F440-4885-AFA8-4B6E12944370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115300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Details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Input timing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Realized generation may be unavailable for a day-ahead forecast.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data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Zero fills and missingness flags can identify changes in measurement coverage.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Annual lag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365-day lag can misalign weekdays and leap years.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period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Repeat the evaluation across several chronological windows.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Stacking folds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notebook uses two ordinary training folds. Temporal meta-training needs a forward-only evaluation.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14416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4C2E05A-96B0-49D9-ABE4-3E34D0DF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07 Conclusion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0A0BC40-38DD-4BED-A2E0-9B0D4144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Next steps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6E288A4-EC05-4AE2-8D11-8DF72508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C389FCE-52CA-4578-BFCD-C9540782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23 / 53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5349C-BF95-411E-9967-7ACCCA948238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57428"/>
                <a:gridCol w="2380488"/>
                <a:gridCol w="4760976"/>
                <a:gridCol w="292150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Availability audit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Declare the issue time and replace realized renewables with valid inputs.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reproducible operational horizon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Seasonal baselines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Compare lag-1, lag-7 and lag-365 predictions on identical dates.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Added value beyond seasonality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Weather and holidays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Add weather forecasts and public-holiday indicators.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Lower peak and holiday errors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Rolling validation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 multiple expanding training windows and retrain after selection.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Stable results across years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764294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E47296F6-1D84-4A3F-B3E1-0516E5FF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07 Conclusion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D23040A-7FDE-4962-A58B-C77B0471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5A99445-40D6-4246-B62D-F21BC702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7778D9B-64F0-4645-89E8-444CCFAC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24 / 53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97E9808-B83E-45CB-BE8F-16C6F4DB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477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Stacking and XGBoost remain close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9AF6C16-7256-466E-81D9-16A683FA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RMSE 43.8941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1C9867C-7679-4E07-AFE8-32280B9A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Stacking has the best point score. Input availability and forward-only validation should determine the final choice for forecasting.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6F49603-56D8-4D54-9DB2-C1359526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912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4284875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67F66AB-F35E-4F26-B8DC-285812DE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C510F01-A9F4-4172-B846-8F609DCA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Consumption and renewable correlations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34177E1-829A-40E0-9035-A5422330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773616B-00BD-4C20-B8FB-1B01490E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25 / 53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46E37-4E7D-4B5B-AACE-E97AF300DB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73d432f0a450a"/>
          <a:stretch xmlns:a="http://schemas.openxmlformats.org/drawingml/2006/main"/>
        </p:blipFill>
        <p:spPr>
          <a:xfrm xmlns:a="http://schemas.openxmlformats.org/drawingml/2006/main">
            <a:off x="3629635" y="1762125"/>
            <a:ext cx="4932730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73846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440327D-56F3-4C94-91B0-E8A04E93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37843E5-D2A7-4EDD-AC01-9E2189DA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Consumption and wind generation history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0FE51B7-DB45-4DDA-B7FF-9675B474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2AEBBA0-8394-4923-ADD1-07C82A2C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26 / 53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7FE04-CCC3-4B13-B1B6-4F9720B6F3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19e93ff4c64cc7"/>
          <a:stretch xmlns:a="http://schemas.openxmlformats.org/drawingml/2006/main"/>
        </p:blipFill>
        <p:spPr>
          <a:xfrm xmlns:a="http://schemas.openxmlformats.org/drawingml/2006/main">
            <a:off x="514350" y="2297050"/>
            <a:ext cx="11163300" cy="32163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44357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A41B877-432E-4B7A-8A35-4D386680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ACCF3D3-2D1D-4092-98F5-08AF2360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Evaluation metrics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7B13EEA-3FA3-460D-BB49-DF632594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E543885-4735-48E1-AC1B-164ED877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27 / 53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A2287-A37C-45C2-9238-FD63403D2C7F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1264"/>
                <a:gridCol w="4544568"/>
                <a:gridCol w="454456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 root of mean squared error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Ranks models and emphasizes large misses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 absolute error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Describes typical error magnitude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Improvement over predicting the test mean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Measures explained variation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Group errors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Metrics by target range or time group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Locates concentrated errors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459674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27BBF08-FA61-4F45-906D-8BAB4D12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F8664BE-C5A3-4D7C-BC07-90B4F9A6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Regularization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2DE2157-6E9C-4E97-A70F-C3821022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B06E2CB-1943-4D14-ACF2-4991F85E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28 / 53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8BAE0-9C60-4E82-8390-34BC32D33E43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55876"/>
                <a:gridCol w="4652772"/>
                <a:gridCol w="4111752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Objective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Main effect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Squared error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Fits an additive linear relationship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Ridge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Squared error + L2 penalty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Shrinks correlated coefficients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Lasso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Squared error + L1 penalty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set coefficients to zero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Squared error + L1 and L2 penalties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Combines sparsity and shrinkage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211666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C20D29F-A1E9-4999-B53B-AD1005E5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6D0A60C-090B-48B6-9EE9-07AC02F0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Linear model 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475535B-E630-4047-9A1B-9590F080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E066754-CA29-4A41-A9B3-D5650E24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29 / 53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A1D11-B8DD-47C9-9427-CB08588A5B51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78936"/>
                <a:gridCol w="2380488"/>
                <a:gridCol w="2380488"/>
                <a:gridCol w="238048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55.1091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34.1311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0.8838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Ridge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55.1092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34.1312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0.8838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Lasso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56.2245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34.8891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0.8790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55.2141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34.3201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0.8834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731002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6F4ACE75-529C-48BE-B853-DB2DC5B6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3863D95-35E1-4141-B7F5-C0F48E57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Linear model discussion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F685672-473F-49FB-A35C-C8726643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197BD5E-8A8A-419F-9730-762976FE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30 / 53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F38D1C2-ABF4-4512-A417-5A0F6FDE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EF163E3-EEBC-44B7-BB03-FCB65F1C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OLS and Ridge have nearly identical RMSE. Lasso and Elastic Net do not improve it under the selected penalties.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484F6C7-AD23-485A-A5C9-B4D61154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5126735-236D-4654-A13C-86D5A16F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Calendar and demand-history fields overlap. Renewable coefficients can also reflect season and measurement coverage.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46D4B22-B31B-429F-B41C-FC458C8A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Further work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E7EB14E-7881-4A27-BF8E-8128722D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Compare demand-history-only models with models using renewable forecasts available at issue time.</a:t>
            </a:r>
          </a:p>
        </p:txBody>
      </p:sp>
    </p:spTree>
    <p:extLst>
      <p:ext uri="{BB962C8B-B14F-4D97-AF65-F5344CB8AC3E}">
        <p14:creationId xmlns:p14="http://schemas.microsoft.com/office/powerpoint/2010/main" val="7277592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5D503E0E-11EA-4054-9296-562D475E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BB90AEA-F614-4E69-8332-B423F9C9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Linear coefficients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E45EB2F-0BA0-42F0-BD99-7186D3CD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FAC8BF0-ADDC-4821-AE1D-C624E7FC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31 / 53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C2D4E-CD67-427C-94DB-F307248C31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6809fbb604662"/>
          <a:stretch xmlns:a="http://schemas.openxmlformats.org/drawingml/2006/main"/>
        </p:blipFill>
        <p:spPr>
          <a:xfrm xmlns:a="http://schemas.openxmlformats.org/drawingml/2006/main">
            <a:off x="2871355" y="1762125"/>
            <a:ext cx="64492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15A348F2-FC4D-41D6-B604-B528E2EC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Coefficients describe fitted associations after accounting for the other encoded inputs.</a:t>
            </a:r>
          </a:p>
        </p:txBody>
      </p:sp>
    </p:spTree>
    <p:extLst>
      <p:ext uri="{BB962C8B-B14F-4D97-AF65-F5344CB8AC3E}">
        <p14:creationId xmlns:p14="http://schemas.microsoft.com/office/powerpoint/2010/main" val="71548082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952E9960-EFB9-40F0-AE10-828EF5FD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8E66ADD-7D06-4B4A-963B-F5E9A791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Regularized coefficients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47FE497-DEB4-4B2D-A40E-AC985FDE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990905E-ABF9-42AA-B2C8-EC2DEFB1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32 / 53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91CCA-F6B8-44CF-B831-34D2B751FD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2078cf72640eb"/>
          <a:stretch xmlns:a="http://schemas.openxmlformats.org/drawingml/2006/main"/>
        </p:blipFill>
        <p:spPr>
          <a:xfrm xmlns:a="http://schemas.openxmlformats.org/drawingml/2006/main">
            <a:off x="3082642" y="1762125"/>
            <a:ext cx="602671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2FCC4FB-D985-4843-BB64-D3F7B2BA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Coefficients describe fitted associations after accounting for the other encoded inputs.</a:t>
            </a:r>
          </a:p>
        </p:txBody>
      </p:sp>
    </p:spTree>
    <p:extLst>
      <p:ext uri="{BB962C8B-B14F-4D97-AF65-F5344CB8AC3E}">
        <p14:creationId xmlns:p14="http://schemas.microsoft.com/office/powerpoint/2010/main" val="16842733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9F9E63C-DF5D-41D3-A651-0340A52C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F50547F-B97B-4044-9D80-3302F898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MLP training loss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610D64D-3767-4FCE-9B57-CE25587A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49A70EB-2290-4697-9A94-8D8BFC4A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33 / 53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F2A95-1BEF-4D8A-BDC4-5865C07C05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75dc9e506411a"/>
          <a:stretch xmlns:a="http://schemas.openxmlformats.org/drawingml/2006/main"/>
        </p:blipFill>
        <p:spPr>
          <a:xfrm xmlns:a="http://schemas.openxmlformats.org/drawingml/2006/main">
            <a:off x="3063714" y="1762125"/>
            <a:ext cx="6064572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E43052F-BE96-47D0-8878-38988257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Training loss by optimization iteration.</a:t>
            </a:r>
          </a:p>
        </p:txBody>
      </p:sp>
    </p:spTree>
    <p:extLst>
      <p:ext uri="{BB962C8B-B14F-4D97-AF65-F5344CB8AC3E}">
        <p14:creationId xmlns:p14="http://schemas.microsoft.com/office/powerpoint/2010/main" val="143678999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9B83C031-DAEC-410F-9428-14006145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E2CB807-F2B5-45DC-AE34-1E55208A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CAFE71F-4D5F-4D1B-95A3-8B269F3F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D80B867-3A96-43D9-BD2D-BCBF1C36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34 / 53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B3B34-AED4-458F-B677-45E19A5DE4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16e645ccf4f35"/>
          <a:stretch xmlns:a="http://schemas.openxmlformats.org/drawingml/2006/main"/>
        </p:blipFill>
        <p:spPr>
          <a:xfrm xmlns:a="http://schemas.openxmlformats.org/drawingml/2006/main">
            <a:off x="2871355" y="1762125"/>
            <a:ext cx="64492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A21F3BB-13FA-4C88-85F2-5A30FBA5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Demand history and calendar features provide core signal. Generation-related importance depends on measurement coverage and input timing.</a:t>
            </a:r>
          </a:p>
        </p:txBody>
      </p:sp>
    </p:spTree>
    <p:extLst>
      <p:ext uri="{BB962C8B-B14F-4D97-AF65-F5344CB8AC3E}">
        <p14:creationId xmlns:p14="http://schemas.microsoft.com/office/powerpoint/2010/main" val="121123691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7B5CBDFA-64D5-474B-A162-26A6C8F5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3BA1386-4C41-4957-BC43-7B56D790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CatBoost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ABF8A3E-FCE6-4C80-B9E3-CC33A4E3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4168D81-7084-4A90-B5F1-E473BC20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35 / 53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D5F8E-DDB8-43A0-9D8B-8DF1735FAE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0729f50a1d4fef"/>
          <a:stretch xmlns:a="http://schemas.openxmlformats.org/drawingml/2006/main"/>
        </p:blipFill>
        <p:spPr>
          <a:xfrm xmlns:a="http://schemas.openxmlformats.org/drawingml/2006/main">
            <a:off x="2871355" y="1762125"/>
            <a:ext cx="64492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79E1C51-A53E-4677-980F-727F393F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Demand history and calendar features provide core signal. Generation-related importance depends on measurement coverage and input timing.</a:t>
            </a:r>
          </a:p>
        </p:txBody>
      </p:sp>
    </p:spTree>
    <p:extLst>
      <p:ext uri="{BB962C8B-B14F-4D97-AF65-F5344CB8AC3E}">
        <p14:creationId xmlns:p14="http://schemas.microsoft.com/office/powerpoint/2010/main" val="184746928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2C1D368C-B6F3-4A64-B804-4AD749C2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DE6D8A3-BE89-4495-AD1A-B3EAE9BC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LightGBM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36CBE63-55BC-4672-8A2D-106513BC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4E0ADE1-AA75-443B-AD21-4DC88DA5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36 / 53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97178-669B-4F41-97E1-81BEB7ED6E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a6f2880cb465f"/>
          <a:stretch xmlns:a="http://schemas.openxmlformats.org/drawingml/2006/main"/>
        </p:blipFill>
        <p:spPr>
          <a:xfrm xmlns:a="http://schemas.openxmlformats.org/drawingml/2006/main">
            <a:off x="2871355" y="1762125"/>
            <a:ext cx="64492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543442F-249D-4CDF-8AEE-B1CF33F3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Demand history and calendar features provide core signal. Generation-related importance depends on measurement coverage and input timing.</a:t>
            </a:r>
          </a:p>
        </p:txBody>
      </p:sp>
    </p:spTree>
    <p:extLst>
      <p:ext uri="{BB962C8B-B14F-4D97-AF65-F5344CB8AC3E}">
        <p14:creationId xmlns:p14="http://schemas.microsoft.com/office/powerpoint/2010/main" val="172642982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39635C0C-DF0B-42FB-9DAC-E6ED82CF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15FB3A1-97CB-4F1B-843B-226DDD27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Error by month and weekday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A324076-6091-4966-B7F9-C41B0BA2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21B82F8-2215-43B1-92A6-FE3D7C08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37 / 53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CC117-7608-4B32-A3ED-D6106736FE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d7b0ac9024ad5"/>
          <a:stretch xmlns:a="http://schemas.openxmlformats.org/drawingml/2006/main"/>
        </p:blipFill>
        <p:spPr>
          <a:xfrm xmlns:a="http://schemas.openxmlformats.org/drawingml/2006/main">
            <a:off x="781395" y="1762125"/>
            <a:ext cx="10629210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3C8F80A-7A32-49E7-9132-D6BA515A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Calendar slices show how prediction error varies across operating conditions.</a:t>
            </a:r>
          </a:p>
        </p:txBody>
      </p:sp>
    </p:spTree>
    <p:extLst>
      <p:ext uri="{BB962C8B-B14F-4D97-AF65-F5344CB8AC3E}">
        <p14:creationId xmlns:p14="http://schemas.microsoft.com/office/powerpoint/2010/main" val="14899353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F0E8B411-10D8-4267-A1C3-F3AF655B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8061A7E-0FC7-4861-ADE5-E7E1626D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Actual and predicted test-period consumption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EC39D70-81FD-4098-9D91-AD324C93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C54BC45-B356-45D7-BB4C-D86C8451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38 / 53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3E71F-8BA2-4D3A-8A23-505789AB75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b1e49eeec495e"/>
          <a:stretch xmlns:a="http://schemas.openxmlformats.org/drawingml/2006/main"/>
        </p:blipFill>
        <p:spPr>
          <a:xfrm xmlns:a="http://schemas.openxmlformats.org/drawingml/2006/main">
            <a:off x="514350" y="1800886"/>
            <a:ext cx="11163300" cy="3903929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AF2E50F-F51F-4BF3-90A2-B26AED21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Actual outcomes and predictions on the test partition.</a:t>
            </a:r>
          </a:p>
        </p:txBody>
      </p:sp>
    </p:spTree>
    <p:extLst>
      <p:ext uri="{BB962C8B-B14F-4D97-AF65-F5344CB8AC3E}">
        <p14:creationId xmlns:p14="http://schemas.microsoft.com/office/powerpoint/2010/main" val="204547435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5C921755-0115-497C-A089-A53C1AEE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8BAE4D8-9AE2-4A9A-8564-690B3B47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Error by target range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BD327B1-C50C-420E-ACEE-9313BE29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1609A5C-A8E7-491B-A068-6FD162C4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39 / 53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2B4CF-8D9D-4FFB-8346-E33EB0B33A9F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3548"/>
                <a:gridCol w="1406652"/>
                <a:gridCol w="2488692"/>
                <a:gridCol w="292150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target band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Rows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 prediction error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Q1: (1016.023, 1272.785]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33.9776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19.9998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Q2: (1272.785, 1407.601]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21.5892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-5.4501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Q3: (1407.601, 1498.972]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17.5383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-10.5658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Q4: (1498.972, 1682.002]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19.3040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-9.2031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A2AAAE3-7553-47A0-9FFE-E7964805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Errors for Stacking. Mean error = prediction − actual. Units: GWh per day.</a:t>
            </a:r>
          </a:p>
        </p:txBody>
      </p:sp>
    </p:spTree>
    <p:extLst>
      <p:ext uri="{BB962C8B-B14F-4D97-AF65-F5344CB8AC3E}">
        <p14:creationId xmlns:p14="http://schemas.microsoft.com/office/powerpoint/2010/main" val="23927884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95A77C05-F1CD-40D6-9BF7-5B48C746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3162961-F0F3-4AB7-9823-F06025AA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Application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0ED8DAE-728B-4A38-BA3F-8F6E7E9A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2C50788-A52D-455F-AABA-092910ED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40 / 53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7950A-6963-45F4-ACF8-A506E7D6E15D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11530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Topic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Application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inputs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Wind and solar measurements refer to the same day as the consumption target.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Day-ahead use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Replace them with forecasts or lagged observations available when the forecast is issued.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Calendar effects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Add public holidays and weather forecasts, then compare peak-day errors.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69971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CD650F56-DF22-4D9B-9ABA-E15D17CD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BC337CE-AACC-48E4-BF78-AE8999A8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selection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AA2F315-8C43-4D1B-86C9-CE2EE3C4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13B40E9-F678-4AA3-95FB-F976CCE3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41 / 53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0B3017D-5311-4B10-B220-2CAF5CCA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include penalized linear models?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46DCDBE-1655-498A-B9F6-14E3AC20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Ridge uses L2 shrinkage to stabilize coefficients. Lasso uses L1 to encourage zeros. Elastic Net combines the penalties. Logistic models use the same penalty types for classification.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4DC2860-5C3A-4F03-9A5E-F5C63C79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standardize the predictors?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B47856E-91D2-4672-9F91-9C8B3863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Penalties and distance calculations depend on feature units. Scaling also helps neural-network optimization. Estimate the scaling parameters from training data.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116F06C-370E-451F-9688-5A88F57A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include stacking?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D22CBE9-8295-46EB-81C9-5913065F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It has the best observed score here. Combining models helps only when their errors are sufficiently different. Compare its gain with inference and maintenance cost.</a:t>
            </a:r>
          </a:p>
        </p:txBody>
      </p:sp>
    </p:spTree>
    <p:extLst>
      <p:ext uri="{BB962C8B-B14F-4D97-AF65-F5344CB8AC3E}">
        <p14:creationId xmlns:p14="http://schemas.microsoft.com/office/powerpoint/2010/main" val="71244125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FF940148-0C51-4242-8143-C97EDFF8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39EBD7E-6231-40D6-BA7B-207D47A2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interpretation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AEC2ED7-062A-4904-BFD6-D8E92369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6865720-22FE-4440-89E3-7117C56F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42 / 53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FA423CF-C24D-45AA-A223-6097EC6F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How do forests and boosting differ?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AD0FB94-9FDC-40CC-A449-214ED41F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 averages trees trained with randomized rows and features. Boosting adds trees sequentially to reduce the chosen loss.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536C1D4-A757-43BF-B991-89197839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What does feature importance mean?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F4B0240-1838-4347-A79B-591DA65E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It describes how the fitted model uses its inputs. Related predictors can share importance. A high value does not establish a causal effect.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223E953-0E28-4350-9451-7E0841F0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What do the resampling intervals cover?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56F2922-3685-44C2-A3A9-3A4F0AE5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They measure variation in the available test predictions with the fitted models fixed. A new split also tests sensitivity to training and model selection.</a:t>
            </a:r>
          </a:p>
        </p:txBody>
      </p:sp>
    </p:spTree>
    <p:extLst>
      <p:ext uri="{BB962C8B-B14F-4D97-AF65-F5344CB8AC3E}">
        <p14:creationId xmlns:p14="http://schemas.microsoft.com/office/powerpoint/2010/main" val="62245348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14954038-5BAB-44AC-882C-F9DC6892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09993EB-3966-4D28-B102-9BC39649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Data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3E6A9B9-C7FB-43C6-974F-DE3D7465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548F480-E705-4132-AB71-8583A374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43 / 53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89E4646-9910-4896-9D67-4EE9E54B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Can same-day generation be used?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93E809B-D6D8-4B6C-9387-42F8B2CB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It can support prediction when available at the decision time. Day-ahead use requires generation forecasts or lagged measurements.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C5D2EBE-F26B-47CC-9EE0-B2712625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add missingness indicators?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FEEE00B-4137-4B53-BD3A-D6DD04EB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They distinguish an unavailable generation measurement from an observed zero. Coverage changes can then be inspected explicitly.</a:t>
            </a:r>
          </a:p>
        </p:txBody>
      </p:sp>
    </p:spTree>
    <p:extLst>
      <p:ext uri="{BB962C8B-B14F-4D97-AF65-F5344CB8AC3E}">
        <p14:creationId xmlns:p14="http://schemas.microsoft.com/office/powerpoint/2010/main" val="152224273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663D304B-275D-4CC4-9465-20056F26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B7EC0E8-AEF6-4C9B-99F4-88471CB3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Results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4F86B3A-3486-482D-B797-F1469626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1253E71-C69B-4569-8AF2-C9F55A30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44 / 53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90170CA-8560-4E68-9005-E7C30EA8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use weekly and annual lags?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FFE9F2B-4256-491B-8398-35EE3683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They capture recurring demand patterns. The annual lag can shift weekdays and leap-year alignment, so calendar features also matter.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E932BCD-0F33-4AB0-AD14-7A658C3A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Which features could improve peak-day errors?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DCD2909-50F4-4FB4-A389-74CCC7E9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Test weather forecasts and public holidays. Compare their value over several chronological evaluation windows.</a:t>
            </a:r>
          </a:p>
        </p:txBody>
      </p:sp>
    </p:spTree>
    <p:extLst>
      <p:ext uri="{BB962C8B-B14F-4D97-AF65-F5344CB8AC3E}">
        <p14:creationId xmlns:p14="http://schemas.microsoft.com/office/powerpoint/2010/main" val="90909787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422497DB-A259-4DA1-8DF9-BDB067BE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EAD89C1-14AE-4CD4-B95C-575BD348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MLP training loss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E7E4D71-2901-42C9-9012-E8B02A3E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B757F92-7AF3-4737-AA7A-E909C6D9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45 / 53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8A7D8-0C62-42BB-9906-2A3FCF5B7D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489318b5a46c6"/>
          <a:stretch xmlns:a="http://schemas.openxmlformats.org/drawingml/2006/main"/>
        </p:blipFill>
        <p:spPr>
          <a:xfrm xmlns:a="http://schemas.openxmlformats.org/drawingml/2006/main">
            <a:off x="2923145" y="1762125"/>
            <a:ext cx="634571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3DB1461-65AE-4D9A-A859-E520FAA0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Training loss by optimization iteration.</a:t>
            </a:r>
          </a:p>
        </p:txBody>
      </p:sp>
    </p:spTree>
    <p:extLst>
      <p:ext uri="{BB962C8B-B14F-4D97-AF65-F5344CB8AC3E}">
        <p14:creationId xmlns:p14="http://schemas.microsoft.com/office/powerpoint/2010/main" val="71269978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857DA388-D1F3-4A34-907A-6831317D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F7FAA27-A00F-4670-8E5F-0BEEFBAB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669134B-12E1-4E42-B324-C5DECCA4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E7BC5EB-ABF3-4809-B457-A5CE9A3F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46 / 53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351F0-C977-4D08-8E76-79D66A90B3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ad432ceef4594"/>
          <a:stretch xmlns:a="http://schemas.openxmlformats.org/drawingml/2006/main"/>
        </p:blipFill>
        <p:spPr>
          <a:xfrm xmlns:a="http://schemas.openxmlformats.org/drawingml/2006/main">
            <a:off x="2871355" y="1762125"/>
            <a:ext cx="64492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3A073B3-F55A-4CCE-B754-BEE102C1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Demand history and calendar features provide core signal. Generation-related importance depends on measurement coverage and input timing.</a:t>
            </a:r>
          </a:p>
        </p:txBody>
      </p:sp>
    </p:spTree>
    <p:extLst>
      <p:ext uri="{BB962C8B-B14F-4D97-AF65-F5344CB8AC3E}">
        <p14:creationId xmlns:p14="http://schemas.microsoft.com/office/powerpoint/2010/main" val="152938407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1B92ED03-2329-42C7-9133-5B8DCD35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1AD4A83-153B-4A84-949E-A3C3F539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Individual model metrics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09FD791-E532-41FB-B1C9-EBA9D13F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3CF66F2-5972-4A46-B316-7939C622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47 / 53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DF200-12F8-439B-A70E-BF7972BBFC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db5640c4c431f"/>
          <a:stretch xmlns:a="http://schemas.openxmlformats.org/drawingml/2006/main"/>
        </p:blipFill>
        <p:spPr>
          <a:xfrm xmlns:a="http://schemas.openxmlformats.org/drawingml/2006/main">
            <a:off x="514350" y="2391197"/>
            <a:ext cx="11163300" cy="2723305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0352C57-3C10-4967-B833-FB16DE14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Notebook comparison of individual models. The full results tables also include stacking.</a:t>
            </a:r>
          </a:p>
        </p:txBody>
      </p:sp>
    </p:spTree>
    <p:extLst>
      <p:ext uri="{BB962C8B-B14F-4D97-AF65-F5344CB8AC3E}">
        <p14:creationId xmlns:p14="http://schemas.microsoft.com/office/powerpoint/2010/main" val="158712764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6C0E49C-EDFE-4348-B519-6B16B113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C960B4E-DD68-4E8E-A870-1D265327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Full results (1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EE3D3C7-060C-42A0-B6B6-A4A4E07E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229EDE9-41AE-4A52-ACBA-B1E601EF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48 / 53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5A9D5-D9EA-43E9-AAA2-4AEE321C7CA9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1947672"/>
                <a:gridCol w="1947672"/>
                <a:gridCol w="1947672"/>
                <a:gridCol w="1947672"/>
              </a:tblGrid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MAPE 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Stacking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43.8941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23.1120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0.9263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1.7590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44.3274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23.7282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0.9248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1.8075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44.5259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23.7334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0.9241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1.8055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44.7348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23.8554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0.9234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1.8105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44.9295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24.6501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0.9228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1.8834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45.1962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24.0620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0.9218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1.8343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45.2092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24.0689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0.9218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1.8349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45.2225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24.0243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0.9218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1.8367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Forest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46.4772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24.2481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0.9173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1.8458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743665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4B35322-6AE8-4FD3-AAD5-5C7ABD53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FF4A7C8-A8FE-41AF-9493-0B3F9120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Full results (2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EF5BB16-44B6-4FCC-8D8E-7DA1A415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289B304-3D34-4B93-A173-69721BEA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49 / 53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8930E-0E95-4109-BBAB-F6B3BCC90E18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1947672"/>
                <a:gridCol w="1947672"/>
                <a:gridCol w="1947672"/>
                <a:gridCol w="1947672"/>
              </a:tblGrid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MAPE 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50.3694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28.5916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0.9029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2.1725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52.7783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30.3162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0.8934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2.2943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54.0236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30.8571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0.8883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2.3246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55.1091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34.1311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0.8838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2.5675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Ridge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55.1092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34.1312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0.8838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2.5675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55.2141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34.3201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0.8834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2.5800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Lasso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56.2245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34.8891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0.8790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2.6179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56.6976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33.4982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0.8770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2.5052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767490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75F97086-4231-4837-AB4C-8A03E847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4B8387A-0122-45F4-A2D6-BEEC3026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settings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CD10B13-F1A2-4261-819D-AA7CE1C9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6A1524C-8A16-468C-89FD-42986253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50 / 53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70CB0-7BD0-49BC-80D2-627C0CB1BB0E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7790688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Parameters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n_neighbors=15, weights='distance', p=1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hidden_layer_sizes=(128, 64), alpha=0.0001, max_iter=1000, early_stopping=True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n_estimators=300, max_depth=None, min_samples_leaf=2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n_estimators=500, learning_rate=0.05, max_depth=5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iterations=500, learning_rate=0.05, depth=6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n_estimators=500, learning_rate=0.05, num_leaves=31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F53CB5E-586F-46E8-B507-7944C6BE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Searches use two folds and two candidates. Each selected estimator refits on the full training partition.</a:t>
            </a:r>
          </a:p>
        </p:txBody>
      </p:sp>
    </p:spTree>
    <p:extLst>
      <p:ext uri="{BB962C8B-B14F-4D97-AF65-F5344CB8AC3E}">
        <p14:creationId xmlns:p14="http://schemas.microsoft.com/office/powerpoint/2010/main" val="191369081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77E6911-CD4D-4941-898B-0EB4BF74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3BF9D63-F4D6-423F-AC4D-3EB03249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Selected hyperparameters (1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07D777D-A105-4E67-97D5-D2DDBFDB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9144EC0-DA93-4597-A79A-36AED435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51 / 53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B81FE-799D-4BF1-866A-7AAB90E57027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865632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Selected parameters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n_neighbors=15, p=2, weights=distance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hidden_layer_sizes=(64, 32), alpha=0.001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n_estimators=300, min_samples_leaf=5, max_depth=12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389331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EF20FAE-19BF-4C24-A803-1197584A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1DC3F10-F5CD-4320-A7A7-DB2A1414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Selected hyperparameters (2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301B499-A01E-4374-98C0-3DCB70C3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0835B3E-8B58-4D91-9833-901E7707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52 / 53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AF83D-976C-4C11-80AB-4019EA24D4CA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865632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Selected parameters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n_estimators=500, max_depth=5, learning_rate=0.03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learning_rate=0.05, iterations=500, depth=6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num_leaves=31, n_estimators=500, learning_rate=0.03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1737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57877602-3377-414A-B2D2-6656684F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13AF379-ECED-440A-977A-025B618B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Sources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C04EC07-E5CF-4CD7-BAB5-2EF564D5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German Daily Electricity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44CC919-03D2-4200-BF21-11121ECE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53 / 53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605C65D-D442-422D-955F-35267313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9D2A7C7-96B1-4187-BCB9-6C3A2610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51054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Open Power System Data, German daily time series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AEEEE86-F01C-4B19-8C4F-E2622814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9245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Project analysis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7413D58-9D32-458D-8F09-C6D2030A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5482"/>
            <a:ext cx="510540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open_power_systems_tutorial.ipynb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B62EE9E-3C9B-410F-83DD-689DBC67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90700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Methods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A36F786-8327-43D7-B818-15DA42B8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66938"/>
            <a:ext cx="51054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scikit-learn, XGBoost, CatBoost and LightGBM documentation.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62E48321-7F00-4E8F-B5FC-6375951B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99245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Statistical analysis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ABAE6A2-A886-4ACA-A8B6-A57CC08E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5482"/>
            <a:ext cx="51054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Paired resampling of test predictions, residual analysis and group-level error checks.</a:t>
            </a:r>
          </a:p>
        </p:txBody>
      </p:sp>
    </p:spTree>
    <p:extLst>
      <p:ext uri="{BB962C8B-B14F-4D97-AF65-F5344CB8AC3E}">
        <p14:creationId xmlns:p14="http://schemas.microsoft.com/office/powerpoint/2010/main" val="18329336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2026-10-19T13:17:37.5910000Z</dcterms:created>
  <dcterms:modified xsi:type="dcterms:W3CDTF">2026-10-19T13:17:37.5910000Z</dcterms:modified>
</coreProperties>
</file>