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fff61c2cb4ced" /><Relationship Type="http://schemas.openxmlformats.org/officeDocument/2006/relationships/extended-properties" Target="/docProps/app.xml" Id="R18b5357b1bfe42a1" /><Relationship Type="http://schemas.openxmlformats.org/officeDocument/2006/relationships/officeDocument" Target="/ppt/presentation.xml" Id="R2a5805ef4ec742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244dae27954984"/>
  </p:sldMasterIdLst>
  <p:notesMasterIdLst>
    <p:notesMasterId xmlns:r="http://schemas.openxmlformats.org/officeDocument/2006/relationships" r:id="R9a0a98fde8634fa0"/>
  </p:notesMasterIdLst>
  <p:sldIdLst>
    <p:sldId xmlns:r="http://schemas.openxmlformats.org/officeDocument/2006/relationships" id="256" r:id="Rc64529a8eb434c72"/>
    <p:sldId xmlns:r="http://schemas.openxmlformats.org/officeDocument/2006/relationships" id="257" r:id="Rf1d16eaa018e4ad7"/>
    <p:sldId xmlns:r="http://schemas.openxmlformats.org/officeDocument/2006/relationships" id="258" r:id="R8ef555817faf442c"/>
    <p:sldId xmlns:r="http://schemas.openxmlformats.org/officeDocument/2006/relationships" id="259" r:id="Rdb48017d62dc4cff"/>
    <p:sldId xmlns:r="http://schemas.openxmlformats.org/officeDocument/2006/relationships" id="260" r:id="Rd1753eb2511b40e5"/>
    <p:sldId xmlns:r="http://schemas.openxmlformats.org/officeDocument/2006/relationships" id="261" r:id="R513a9d7f09c548e0"/>
    <p:sldId xmlns:r="http://schemas.openxmlformats.org/officeDocument/2006/relationships" id="262" r:id="Reb0fcde36a7e4592"/>
    <p:sldId xmlns:r="http://schemas.openxmlformats.org/officeDocument/2006/relationships" id="263" r:id="Rc9ee9fd034044ec5"/>
    <p:sldId xmlns:r="http://schemas.openxmlformats.org/officeDocument/2006/relationships" id="264" r:id="R1fee9ea7a14741dc"/>
    <p:sldId xmlns:r="http://schemas.openxmlformats.org/officeDocument/2006/relationships" id="265" r:id="R936e5c92604842f9"/>
    <p:sldId xmlns:r="http://schemas.openxmlformats.org/officeDocument/2006/relationships" id="266" r:id="R1f39c86b54b14ecf"/>
    <p:sldId xmlns:r="http://schemas.openxmlformats.org/officeDocument/2006/relationships" id="267" r:id="Rb0f677f7f0674180"/>
    <p:sldId xmlns:r="http://schemas.openxmlformats.org/officeDocument/2006/relationships" id="268" r:id="R1c5d3fa1b047420f"/>
    <p:sldId xmlns:r="http://schemas.openxmlformats.org/officeDocument/2006/relationships" id="269" r:id="Ree6df6b599f24c63"/>
    <p:sldId xmlns:r="http://schemas.openxmlformats.org/officeDocument/2006/relationships" id="270" r:id="R9bd500e89bd047b6"/>
    <p:sldId xmlns:r="http://schemas.openxmlformats.org/officeDocument/2006/relationships" id="271" r:id="Rfabf53e9f0d34197"/>
    <p:sldId xmlns:r="http://schemas.openxmlformats.org/officeDocument/2006/relationships" id="272" r:id="R0638f0885c2844c9"/>
    <p:sldId xmlns:r="http://schemas.openxmlformats.org/officeDocument/2006/relationships" id="273" r:id="Rddc8a16a197647e1"/>
    <p:sldId xmlns:r="http://schemas.openxmlformats.org/officeDocument/2006/relationships" id="274" r:id="R42ee8cb081d74f29"/>
    <p:sldId xmlns:r="http://schemas.openxmlformats.org/officeDocument/2006/relationships" id="275" r:id="Rd9de92a1cce3470c"/>
    <p:sldId xmlns:r="http://schemas.openxmlformats.org/officeDocument/2006/relationships" id="276" r:id="R228126b8fae54ddd"/>
    <p:sldId xmlns:r="http://schemas.openxmlformats.org/officeDocument/2006/relationships" id="277" r:id="Rdcfbba13add547f2"/>
    <p:sldId xmlns:r="http://schemas.openxmlformats.org/officeDocument/2006/relationships" id="278" r:id="R7226a532a58a42d7"/>
    <p:sldId xmlns:r="http://schemas.openxmlformats.org/officeDocument/2006/relationships" id="279" r:id="Rb16c022f89f2431b"/>
    <p:sldId xmlns:r="http://schemas.openxmlformats.org/officeDocument/2006/relationships" id="280" r:id="R24b44c4d63494768"/>
    <p:sldId xmlns:r="http://schemas.openxmlformats.org/officeDocument/2006/relationships" id="281" r:id="R7d71ca9124fc48c1"/>
    <p:sldId xmlns:r="http://schemas.openxmlformats.org/officeDocument/2006/relationships" id="282" r:id="R21fb76f3c3b04453"/>
    <p:sldId xmlns:r="http://schemas.openxmlformats.org/officeDocument/2006/relationships" id="283" r:id="Rfd640a174b144ec2"/>
    <p:sldId xmlns:r="http://schemas.openxmlformats.org/officeDocument/2006/relationships" id="284" r:id="R91b340ca6b9748b1"/>
    <p:sldId xmlns:r="http://schemas.openxmlformats.org/officeDocument/2006/relationships" id="285" r:id="R1f4d782523314875"/>
    <p:sldId xmlns:r="http://schemas.openxmlformats.org/officeDocument/2006/relationships" id="286" r:id="Ra87746c02f184bb2"/>
    <p:sldId xmlns:r="http://schemas.openxmlformats.org/officeDocument/2006/relationships" id="287" r:id="Rad8e44ba090744c6"/>
    <p:sldId xmlns:r="http://schemas.openxmlformats.org/officeDocument/2006/relationships" id="288" r:id="Rd129c69e5f214b3e"/>
    <p:sldId xmlns:r="http://schemas.openxmlformats.org/officeDocument/2006/relationships" id="289" r:id="Rd55c7dbefd434c77"/>
    <p:sldId xmlns:r="http://schemas.openxmlformats.org/officeDocument/2006/relationships" id="290" r:id="Rfa06edf1e96644af"/>
    <p:sldId xmlns:r="http://schemas.openxmlformats.org/officeDocument/2006/relationships" id="291" r:id="R267dd2634b93497c"/>
    <p:sldId xmlns:r="http://schemas.openxmlformats.org/officeDocument/2006/relationships" id="292" r:id="R05e4a745dd7240fe"/>
    <p:sldId xmlns:r="http://schemas.openxmlformats.org/officeDocument/2006/relationships" id="293" r:id="R1082fd7aac534c00"/>
    <p:sldId xmlns:r="http://schemas.openxmlformats.org/officeDocument/2006/relationships" id="294" r:id="Rc893e532bd2b47fe"/>
    <p:sldId xmlns:r="http://schemas.openxmlformats.org/officeDocument/2006/relationships" id="295" r:id="Reb13bcc46be94f0e"/>
    <p:sldId xmlns:r="http://schemas.openxmlformats.org/officeDocument/2006/relationships" id="296" r:id="Rd1ff5ff7795f4fd2"/>
    <p:sldId xmlns:r="http://schemas.openxmlformats.org/officeDocument/2006/relationships" id="297" r:id="R2eaf3256b2fa4090"/>
    <p:sldId xmlns:r="http://schemas.openxmlformats.org/officeDocument/2006/relationships" id="298" r:id="R695de3857c71423e"/>
    <p:sldId xmlns:r="http://schemas.openxmlformats.org/officeDocument/2006/relationships" id="299" r:id="Reab22c2b36b84921"/>
    <p:sldId xmlns:r="http://schemas.openxmlformats.org/officeDocument/2006/relationships" id="300" r:id="R6bc3ee7bd4024d34"/>
    <p:sldId xmlns:r="http://schemas.openxmlformats.org/officeDocument/2006/relationships" id="301" r:id="Rce42a9cbc1814c6d"/>
    <p:sldId xmlns:r="http://schemas.openxmlformats.org/officeDocument/2006/relationships" id="302" r:id="R4e9b426db80a47e8"/>
    <p:sldId xmlns:r="http://schemas.openxmlformats.org/officeDocument/2006/relationships" id="303" r:id="R05743c60f19a4f14"/>
    <p:sldId xmlns:r="http://schemas.openxmlformats.org/officeDocument/2006/relationships" id="304" r:id="Raf0b3b3092a041d9"/>
    <p:sldId xmlns:r="http://schemas.openxmlformats.org/officeDocument/2006/relationships" id="305" r:id="R6d0b129e4de04e0b"/>
    <p:sldId xmlns:r="http://schemas.openxmlformats.org/officeDocument/2006/relationships" id="306" r:id="R566c37449de4429f"/>
    <p:sldId xmlns:r="http://schemas.openxmlformats.org/officeDocument/2006/relationships" id="307" r:id="R11e140c8b33948e9"/>
    <p:sldId xmlns:r="http://schemas.openxmlformats.org/officeDocument/2006/relationships" id="308" r:id="R54213ea8d59340be"/>
    <p:sldId xmlns:r="http://schemas.openxmlformats.org/officeDocument/2006/relationships" id="309" r:id="R9c41afe915f9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530b61cb5f41d7" /><Relationship Type="http://schemas.openxmlformats.org/officeDocument/2006/relationships/slideMaster" Target="/ppt/slideMasters/slideMaster1.xml" Id="R7c244dae27954984" /><Relationship Type="http://schemas.openxmlformats.org/officeDocument/2006/relationships/notesMaster" Target="/ppt/notesMasters/notesMaster1.xml" Id="R9a0a98fde8634fa0" /><Relationship Type="http://schemas.openxmlformats.org/officeDocument/2006/relationships/presProps" Target="/ppt/presProps.xml" Id="Rfd445ad988244c9a" /><Relationship Type="http://schemas.openxmlformats.org/officeDocument/2006/relationships/tableStyles" Target="/ppt/tableStyles.xml" Id="Rdeb84e798c27468c" /><Relationship Type="http://schemas.openxmlformats.org/officeDocument/2006/relationships/slide" Target="/ppt/slides/slide1.xml" Id="Rc64529a8eb434c72" /><Relationship Type="http://schemas.openxmlformats.org/officeDocument/2006/relationships/slide" Target="/ppt/slides/slide2.xml" Id="Rf1d16eaa018e4ad7" /><Relationship Type="http://schemas.openxmlformats.org/officeDocument/2006/relationships/slide" Target="/ppt/slides/slide3.xml" Id="R8ef555817faf442c" /><Relationship Type="http://schemas.openxmlformats.org/officeDocument/2006/relationships/slide" Target="/ppt/slides/slide4.xml" Id="Rdb48017d62dc4cff" /><Relationship Type="http://schemas.openxmlformats.org/officeDocument/2006/relationships/slide" Target="/ppt/slides/slide5.xml" Id="Rd1753eb2511b40e5" /><Relationship Type="http://schemas.openxmlformats.org/officeDocument/2006/relationships/slide" Target="/ppt/slides/slide6.xml" Id="R513a9d7f09c548e0" /><Relationship Type="http://schemas.openxmlformats.org/officeDocument/2006/relationships/slide" Target="/ppt/slides/slide7.xml" Id="Reb0fcde36a7e4592" /><Relationship Type="http://schemas.openxmlformats.org/officeDocument/2006/relationships/slide" Target="/ppt/slides/slide8.xml" Id="Rc9ee9fd034044ec5" /><Relationship Type="http://schemas.openxmlformats.org/officeDocument/2006/relationships/slide" Target="/ppt/slides/slide9.xml" Id="R1fee9ea7a14741dc" /><Relationship Type="http://schemas.openxmlformats.org/officeDocument/2006/relationships/slide" Target="/ppt/slides/slide10.xml" Id="R936e5c92604842f9" /><Relationship Type="http://schemas.openxmlformats.org/officeDocument/2006/relationships/slide" Target="/ppt/slides/slide11.xml" Id="R1f39c86b54b14ecf" /><Relationship Type="http://schemas.openxmlformats.org/officeDocument/2006/relationships/slide" Target="/ppt/slides/slide12.xml" Id="Rb0f677f7f0674180" /><Relationship Type="http://schemas.openxmlformats.org/officeDocument/2006/relationships/slide" Target="/ppt/slides/slide13.xml" Id="R1c5d3fa1b047420f" /><Relationship Type="http://schemas.openxmlformats.org/officeDocument/2006/relationships/slide" Target="/ppt/slides/slide14.xml" Id="Ree6df6b599f24c63" /><Relationship Type="http://schemas.openxmlformats.org/officeDocument/2006/relationships/slide" Target="/ppt/slides/slide15.xml" Id="R9bd500e89bd047b6" /><Relationship Type="http://schemas.openxmlformats.org/officeDocument/2006/relationships/slide" Target="/ppt/slides/slide16.xml" Id="Rfabf53e9f0d34197" /><Relationship Type="http://schemas.openxmlformats.org/officeDocument/2006/relationships/slide" Target="/ppt/slides/slide17.xml" Id="R0638f0885c2844c9" /><Relationship Type="http://schemas.openxmlformats.org/officeDocument/2006/relationships/slide" Target="/ppt/slides/slide18.xml" Id="Rddc8a16a197647e1" /><Relationship Type="http://schemas.openxmlformats.org/officeDocument/2006/relationships/slide" Target="/ppt/slides/slide19.xml" Id="R42ee8cb081d74f29" /><Relationship Type="http://schemas.openxmlformats.org/officeDocument/2006/relationships/slide" Target="/ppt/slides/slide20.xml" Id="Rd9de92a1cce3470c" /><Relationship Type="http://schemas.openxmlformats.org/officeDocument/2006/relationships/slide" Target="/ppt/slides/slide21.xml" Id="R228126b8fae54ddd" /><Relationship Type="http://schemas.openxmlformats.org/officeDocument/2006/relationships/slide" Target="/ppt/slides/slide22.xml" Id="Rdcfbba13add547f2" /><Relationship Type="http://schemas.openxmlformats.org/officeDocument/2006/relationships/slide" Target="/ppt/slides/slide23.xml" Id="R7226a532a58a42d7" /><Relationship Type="http://schemas.openxmlformats.org/officeDocument/2006/relationships/slide" Target="/ppt/slides/slide24.xml" Id="Rb16c022f89f2431b" /><Relationship Type="http://schemas.openxmlformats.org/officeDocument/2006/relationships/slide" Target="/ppt/slides/slide25.xml" Id="R24b44c4d63494768" /><Relationship Type="http://schemas.openxmlformats.org/officeDocument/2006/relationships/slide" Target="/ppt/slides/slide26.xml" Id="R7d71ca9124fc48c1" /><Relationship Type="http://schemas.openxmlformats.org/officeDocument/2006/relationships/slide" Target="/ppt/slides/slide27.xml" Id="R21fb76f3c3b04453" /><Relationship Type="http://schemas.openxmlformats.org/officeDocument/2006/relationships/slide" Target="/ppt/slides/slide28.xml" Id="Rfd640a174b144ec2" /><Relationship Type="http://schemas.openxmlformats.org/officeDocument/2006/relationships/slide" Target="/ppt/slides/slide29.xml" Id="R91b340ca6b9748b1" /><Relationship Type="http://schemas.openxmlformats.org/officeDocument/2006/relationships/slide" Target="/ppt/slides/slide30.xml" Id="R1f4d782523314875" /><Relationship Type="http://schemas.openxmlformats.org/officeDocument/2006/relationships/slide" Target="/ppt/slides/slide31.xml" Id="Ra87746c02f184bb2" /><Relationship Type="http://schemas.openxmlformats.org/officeDocument/2006/relationships/slide" Target="/ppt/slides/slide32.xml" Id="Rad8e44ba090744c6" /><Relationship Type="http://schemas.openxmlformats.org/officeDocument/2006/relationships/slide" Target="/ppt/slides/slide33.xml" Id="Rd129c69e5f214b3e" /><Relationship Type="http://schemas.openxmlformats.org/officeDocument/2006/relationships/slide" Target="/ppt/slides/slide34.xml" Id="Rd55c7dbefd434c77" /><Relationship Type="http://schemas.openxmlformats.org/officeDocument/2006/relationships/slide" Target="/ppt/slides/slide35.xml" Id="Rfa06edf1e96644af" /><Relationship Type="http://schemas.openxmlformats.org/officeDocument/2006/relationships/slide" Target="/ppt/slides/slide36.xml" Id="R267dd2634b93497c" /><Relationship Type="http://schemas.openxmlformats.org/officeDocument/2006/relationships/slide" Target="/ppt/slides/slide37.xml" Id="R05e4a745dd7240fe" /><Relationship Type="http://schemas.openxmlformats.org/officeDocument/2006/relationships/slide" Target="/ppt/slides/slide38.xml" Id="R1082fd7aac534c00" /><Relationship Type="http://schemas.openxmlformats.org/officeDocument/2006/relationships/slide" Target="/ppt/slides/slide39.xml" Id="Rc893e532bd2b47fe" /><Relationship Type="http://schemas.openxmlformats.org/officeDocument/2006/relationships/slide" Target="/ppt/slides/slide40.xml" Id="Reb13bcc46be94f0e" /><Relationship Type="http://schemas.openxmlformats.org/officeDocument/2006/relationships/slide" Target="/ppt/slides/slide41.xml" Id="Rd1ff5ff7795f4fd2" /><Relationship Type="http://schemas.openxmlformats.org/officeDocument/2006/relationships/slide" Target="/ppt/slides/slide42.xml" Id="R2eaf3256b2fa4090" /><Relationship Type="http://schemas.openxmlformats.org/officeDocument/2006/relationships/slide" Target="/ppt/slides/slide43.xml" Id="R695de3857c71423e" /><Relationship Type="http://schemas.openxmlformats.org/officeDocument/2006/relationships/slide" Target="/ppt/slides/slide44.xml" Id="Reab22c2b36b84921" /><Relationship Type="http://schemas.openxmlformats.org/officeDocument/2006/relationships/slide" Target="/ppt/slides/slide45.xml" Id="R6bc3ee7bd4024d34" /><Relationship Type="http://schemas.openxmlformats.org/officeDocument/2006/relationships/slide" Target="/ppt/slides/slide46.xml" Id="Rce42a9cbc1814c6d" /><Relationship Type="http://schemas.openxmlformats.org/officeDocument/2006/relationships/slide" Target="/ppt/slides/slide47.xml" Id="R4e9b426db80a47e8" /><Relationship Type="http://schemas.openxmlformats.org/officeDocument/2006/relationships/slide" Target="/ppt/slides/slide48.xml" Id="R05743c60f19a4f14" /><Relationship Type="http://schemas.openxmlformats.org/officeDocument/2006/relationships/slide" Target="/ppt/slides/slide49.xml" Id="Raf0b3b3092a041d9" /><Relationship Type="http://schemas.openxmlformats.org/officeDocument/2006/relationships/slide" Target="/ppt/slides/slide50.xml" Id="R6d0b129e4de04e0b" /><Relationship Type="http://schemas.openxmlformats.org/officeDocument/2006/relationships/slide" Target="/ppt/slides/slide51.xml" Id="R566c37449de4429f" /><Relationship Type="http://schemas.openxmlformats.org/officeDocument/2006/relationships/slide" Target="/ppt/slides/slide52.xml" Id="R11e140c8b33948e9" /><Relationship Type="http://schemas.openxmlformats.org/officeDocument/2006/relationships/slide" Target="/ppt/slides/slide53.xml" Id="R54213ea8d59340be" /><Relationship Type="http://schemas.openxmlformats.org/officeDocument/2006/relationships/slide" Target="/ppt/slides/slide54.xml" Id="R9c41afe915f9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73eb2f03f1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9b9d786252486c" /><Relationship Type="http://schemas.openxmlformats.org/officeDocument/2006/relationships/notesMaster" Target="/ppt/notesMasters/notesMaster1.xml" Id="Rca21dd756def40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40717b00aa43cb" /><Relationship Type="http://schemas.openxmlformats.org/officeDocument/2006/relationships/notesMaster" Target="/ppt/notesMasters/notesMaster1.xml" Id="Rd408031e3f9b45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347a8bed94aa0" /><Relationship Type="http://schemas.openxmlformats.org/officeDocument/2006/relationships/notesMaster" Target="/ppt/notesMasters/notesMaster1.xml" Id="Re6e9d34d62f641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700fc5e875468e" /><Relationship Type="http://schemas.openxmlformats.org/officeDocument/2006/relationships/notesMaster" Target="/ppt/notesMasters/notesMaster1.xml" Id="R0959649c246648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bb69b125445ba" /><Relationship Type="http://schemas.openxmlformats.org/officeDocument/2006/relationships/notesMaster" Target="/ppt/notesMasters/notesMaster1.xml" Id="R5a1f36652e24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d2596bcad43ed" /><Relationship Type="http://schemas.openxmlformats.org/officeDocument/2006/relationships/notesMaster" Target="/ppt/notesMasters/notesMaster1.xml" Id="Reb560b56c93b41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8810cf210745cd" /><Relationship Type="http://schemas.openxmlformats.org/officeDocument/2006/relationships/notesMaster" Target="/ppt/notesMasters/notesMaster1.xml" Id="R493bee5ee14e49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7db9ecb0e043af" /><Relationship Type="http://schemas.openxmlformats.org/officeDocument/2006/relationships/notesMaster" Target="/ppt/notesMasters/notesMaster1.xml" Id="Raf77977a0e4748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f42e59d0c342b6" /><Relationship Type="http://schemas.openxmlformats.org/officeDocument/2006/relationships/notesMaster" Target="/ppt/notesMasters/notesMaster1.xml" Id="Rff2f61f3f45945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9ea4c6d70f4f6d" /><Relationship Type="http://schemas.openxmlformats.org/officeDocument/2006/relationships/notesMaster" Target="/ppt/notesMasters/notesMaster1.xml" Id="Rbb9cf1919c814a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6677b9914e4341" /><Relationship Type="http://schemas.openxmlformats.org/officeDocument/2006/relationships/notesMaster" Target="/ppt/notesMasters/notesMaster1.xml" Id="R842030f5adbb4d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b9317a5b445fc" /><Relationship Type="http://schemas.openxmlformats.org/officeDocument/2006/relationships/notesMaster" Target="/ppt/notesMasters/notesMaster1.xml" Id="R2e8c6fba280549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24f3c7266b48ec" /><Relationship Type="http://schemas.openxmlformats.org/officeDocument/2006/relationships/notesMaster" Target="/ppt/notesMasters/notesMaster1.xml" Id="R89a21ca39c8245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70c3f864044979" /><Relationship Type="http://schemas.openxmlformats.org/officeDocument/2006/relationships/notesMaster" Target="/ppt/notesMasters/notesMaster1.xml" Id="R5d340b37b3364b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8a892eee0b49bc" /><Relationship Type="http://schemas.openxmlformats.org/officeDocument/2006/relationships/notesMaster" Target="/ppt/notesMasters/notesMaster1.xml" Id="R34b95d6df1044e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05308c1f6e4ef9" /><Relationship Type="http://schemas.openxmlformats.org/officeDocument/2006/relationships/notesMaster" Target="/ppt/notesMasters/notesMaster1.xml" Id="R776f66958f5740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22c9a562f24fab" /><Relationship Type="http://schemas.openxmlformats.org/officeDocument/2006/relationships/notesMaster" Target="/ppt/notesMasters/notesMaster1.xml" Id="Rbdf346fdcb854d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7bd3b226614712" /><Relationship Type="http://schemas.openxmlformats.org/officeDocument/2006/relationships/notesMaster" Target="/ppt/notesMasters/notesMaster1.xml" Id="Rd22a8606b6dd45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2b105f9ca34a42" /><Relationship Type="http://schemas.openxmlformats.org/officeDocument/2006/relationships/notesMaster" Target="/ppt/notesMasters/notesMaster1.xml" Id="R9273e728f7b648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bd469ec1564206" /><Relationship Type="http://schemas.openxmlformats.org/officeDocument/2006/relationships/notesMaster" Target="/ppt/notesMasters/notesMaster1.xml" Id="R236602cd68164d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c6d3adbfd44a1e" /><Relationship Type="http://schemas.openxmlformats.org/officeDocument/2006/relationships/notesMaster" Target="/ppt/notesMasters/notesMaster1.xml" Id="Rd1dc96cad86d42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09b774ef834b0d" /><Relationship Type="http://schemas.openxmlformats.org/officeDocument/2006/relationships/notesMaster" Target="/ppt/notesMasters/notesMaster1.xml" Id="Rfa0315bfe1b54f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097c3d0c0f4d5c" /><Relationship Type="http://schemas.openxmlformats.org/officeDocument/2006/relationships/notesMaster" Target="/ppt/notesMasters/notesMaster1.xml" Id="Ra84728d8d64b45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3c53c00bdd4b41" /><Relationship Type="http://schemas.openxmlformats.org/officeDocument/2006/relationships/notesMaster" Target="/ppt/notesMasters/notesMaster1.xml" Id="R6a2d22ef4f2a43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df734be8454ef6" /><Relationship Type="http://schemas.openxmlformats.org/officeDocument/2006/relationships/notesMaster" Target="/ppt/notesMasters/notesMaster1.xml" Id="R9a224404eb104f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ecbc79cfad4bcf" /><Relationship Type="http://schemas.openxmlformats.org/officeDocument/2006/relationships/notesMaster" Target="/ppt/notesMasters/notesMaster1.xml" Id="R1e14fafc7fb148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ebeb3e788745a6" /><Relationship Type="http://schemas.openxmlformats.org/officeDocument/2006/relationships/notesMaster" Target="/ppt/notesMasters/notesMaster1.xml" Id="Ra7e8ae40b4024df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2faa8b6ffc437b" /><Relationship Type="http://schemas.openxmlformats.org/officeDocument/2006/relationships/notesMaster" Target="/ppt/notesMasters/notesMaster1.xml" Id="R336ea587bab648f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48062639844e11" /><Relationship Type="http://schemas.openxmlformats.org/officeDocument/2006/relationships/notesMaster" Target="/ppt/notesMasters/notesMaster1.xml" Id="R6f49a0c7e754476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b4b0ce228848a7" /><Relationship Type="http://schemas.openxmlformats.org/officeDocument/2006/relationships/notesMaster" Target="/ppt/notesMasters/notesMaster1.xml" Id="R415b5c747fc64d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e069e793f05483e" /><Relationship Type="http://schemas.openxmlformats.org/officeDocument/2006/relationships/notesMaster" Target="/ppt/notesMasters/notesMaster1.xml" Id="R895f3c4e48ca49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56f572a003042a7" /><Relationship Type="http://schemas.openxmlformats.org/officeDocument/2006/relationships/notesMaster" Target="/ppt/notesMasters/notesMaster1.xml" Id="Rd348ab356e2b4b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9bbd81202654a1b" /><Relationship Type="http://schemas.openxmlformats.org/officeDocument/2006/relationships/notesMaster" Target="/ppt/notesMasters/notesMaster1.xml" Id="R49be17046cf445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b5f1bf4ebb34d41" /><Relationship Type="http://schemas.openxmlformats.org/officeDocument/2006/relationships/notesMaster" Target="/ppt/notesMasters/notesMaster1.xml" Id="Re61640c3ae81408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849a6b6d7a4db5" /><Relationship Type="http://schemas.openxmlformats.org/officeDocument/2006/relationships/notesMaster" Target="/ppt/notesMasters/notesMaster1.xml" Id="R8698d6d2bfea41a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8606572f9ee42e8" /><Relationship Type="http://schemas.openxmlformats.org/officeDocument/2006/relationships/notesMaster" Target="/ppt/notesMasters/notesMaster1.xml" Id="R56a74dc094c24d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24587642ba840c2" /><Relationship Type="http://schemas.openxmlformats.org/officeDocument/2006/relationships/notesMaster" Target="/ppt/notesMasters/notesMaster1.xml" Id="Rdc722e87f1ae44c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b2b6b2e04254e03" /><Relationship Type="http://schemas.openxmlformats.org/officeDocument/2006/relationships/notesMaster" Target="/ppt/notesMasters/notesMaster1.xml" Id="R938857c049f14e3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591d24063c74d22" /><Relationship Type="http://schemas.openxmlformats.org/officeDocument/2006/relationships/notesMaster" Target="/ppt/notesMasters/notesMaster1.xml" Id="R2c0b9ebf5ecb45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49b3a384134592" /><Relationship Type="http://schemas.openxmlformats.org/officeDocument/2006/relationships/notesMaster" Target="/ppt/notesMasters/notesMaster1.xml" Id="Ra8a7aad27e8b409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17cc5fc827a4372" /><Relationship Type="http://schemas.openxmlformats.org/officeDocument/2006/relationships/notesMaster" Target="/ppt/notesMasters/notesMaster1.xml" Id="Rb91fa1985cae41b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696cf6dd5914f92" /><Relationship Type="http://schemas.openxmlformats.org/officeDocument/2006/relationships/notesMaster" Target="/ppt/notesMasters/notesMaster1.xml" Id="R1bb3efb43580429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ec4e3d2f8e349b7" /><Relationship Type="http://schemas.openxmlformats.org/officeDocument/2006/relationships/notesMaster" Target="/ppt/notesMasters/notesMaster1.xml" Id="Raa52fcee12e24ec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4e138d689d34979" /><Relationship Type="http://schemas.openxmlformats.org/officeDocument/2006/relationships/notesMaster" Target="/ppt/notesMasters/notesMaster1.xml" Id="Rcd481c023ac84bd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26fa20f877d4adf" /><Relationship Type="http://schemas.openxmlformats.org/officeDocument/2006/relationships/notesMaster" Target="/ppt/notesMasters/notesMaster1.xml" Id="Rbbfd378d1495403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222440f4ef44416" /><Relationship Type="http://schemas.openxmlformats.org/officeDocument/2006/relationships/notesMaster" Target="/ppt/notesMasters/notesMaster1.xml" Id="R4caa197b18cc40e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02608b4886b40ed" /><Relationship Type="http://schemas.openxmlformats.org/officeDocument/2006/relationships/notesMaster" Target="/ppt/notesMasters/notesMaster1.xml" Id="Rbc032a9839a7472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6a5f7eef084455c" /><Relationship Type="http://schemas.openxmlformats.org/officeDocument/2006/relationships/notesMaster" Target="/ppt/notesMasters/notesMaster1.xml" Id="R99c45a34c5b7492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bc5e937b0574769" /><Relationship Type="http://schemas.openxmlformats.org/officeDocument/2006/relationships/notesMaster" Target="/ppt/notesMasters/notesMaster1.xml" Id="R2b28cee934314db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60b36b3969f4c08" /><Relationship Type="http://schemas.openxmlformats.org/officeDocument/2006/relationships/notesMaster" Target="/ppt/notesMasters/notesMaster1.xml" Id="R216b4ef6b92c440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b20b1b45dc94dca" /><Relationship Type="http://schemas.openxmlformats.org/officeDocument/2006/relationships/notesMaster" Target="/ppt/notesMasters/notesMaster1.xml" Id="R70b0cf7e4f07425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d4b7b9eb5c64952" /><Relationship Type="http://schemas.openxmlformats.org/officeDocument/2006/relationships/notesMaster" Target="/ppt/notesMasters/notesMaster1.xml" Id="Rd27eb6be3beb44d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09302f847d947fe" /><Relationship Type="http://schemas.openxmlformats.org/officeDocument/2006/relationships/notesMaster" Target="/ppt/notesMasters/notesMaster1.xml" Id="R58bb41e8593e4ce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1fefde9331a4740" /><Relationship Type="http://schemas.openxmlformats.org/officeDocument/2006/relationships/notesMaster" Target="/ppt/notesMasters/notesMaster1.xml" Id="R2d0ed83c293e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{"SARIMA": {"RMSE": 287.1979798046258, "MAE": 207.99915955320202, "R2": 0.997751639336172, "MAPE_%": 0.6775109995331485}, "Stacking": {"RMSE": 414.97953890376306, "MAE": 307.5499269570426, "R2": 0.9953058540911646, "MAPE_%": 0.9645291287691979}, "RandomForest": {"RMSE": 430.87681797686446, "MAE": 311.13570438253504, "R2": 0.9949393130299606, "MAPE_%": 0.9721756799684708}, "LightGBM": {"RMSE": 439.75645623956996, "MAE": 332.9425788076001, "R2": 0.9947285794465206, "MAPE_%": 1.0529744778326537}, "LightGBM (tuned)": {"RMSE": 439.75645623956996, "MAE": 332.9425788076001, "R2": 0.9947285794465206, "MAPE_%": 1.0529744778326537}, "CatBoost": {"RMSE": 451.1094796561299, "MAE": 338.66884543714883, "R2": 0.9944528855802729, "MAPE_%": 1.064651908792969}, "CatBoost (tuned)": {"RMSE": 451.1094796561299, "MAE": 338.66884543714883, "R2": 0.9944528855802729, "MAPE_%": 1.064651908792969}, "XGBoost": {"RMSE": 452.4238799319056, "MAE": 340.28600996182934, "R2": 0.9944205131689, "MAPE_%": 1.0708053893542864}, "XGBoost (tuned)": {"RMSE": 452.4238799319056, "MAE": 340.28600996182934, "R2": 0.9944205131689, "MAPE_%": 1.0708053893542864}, "RandomForest (tuned)": {"RMSE": 516.7157892592235, "MAE": 376.8811320594227, "R2": 0.9927220899776807, "MAPE_%": 1.177050411627558}, "MLP (tuned)": {"RMSE": 524.4235012182093, "MAE": 389.0859302919412, "R2": 0.9925033452824397, "MAPE_%": 1.2168820038907866}, "MLP": {"RMSE": 534.6546175610881, "MAE": 395.4071632293288, "R2": 0.9922079835438689, "MAPE_%": 1.2396926300012194}, "ARIMA": {"RMSE": 551.3531326283294, "MAE": 399.35703620210495, "R2": 0.9917136569282337, "MAPE_%": 1.2641890633216328}, "KNN": {"RMSE": 1134.2243155696647, "MAE": 869.4104217793458, "R2": 0.9649327972711288, "MAPE_%": 2.7828412346024756}, "KNN (tuned)": {"RMSE": 1134.2243155696647, "MAE": 869.4104217793458, "R2": 0.9649327972711288, "MAPE_%": 2.7828412346024756}, "Lasso": {"RMSE": 1228.9328051743244, "MAE": 964.7855253975243, "R2": 0.9588320262427147, "MAPE_%": 3.1071453346171305}, "LinearRegression": {"RMSE": 1228.9368009441957, "MAE": 964.7891571510552, "R2": 0.9588317585339905, "MAPE_%": 3.1071600414007543}, "Ridge": {"RMSE": 1228.9369338801916, "MAE": 964.7892454447995, "R2": 0.9588317496275253, "MAPE_%": 3.107160248753797}, "ElasticNet": {"RMSE": 1238.6586891881454, "MAE": 971.0576743519155, "R2": 0.958177833732254, "MAPE_%": 3.1222296481532297}}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figures/notebook/pjm_energy/cell_007_figure_1.png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a5325d5e.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figures/notebook/pjm_energy/cell_008_figure_1.png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69769fd3.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Ridge(alpha=1.0).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The notebook uses ordinary folds for stacking, rather than forward-only time splits.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figures/pjm_energy/comparison.png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paired circular block bootstrap, 168 hours. 1,000 paired resamples. Fitted models remain fixed.</a:t>
            </a:r>
          </a:p>
          <a:p xmlns:a="http://schemas.openxmlformats.org/drawingml/2006/main">
            <a:r>
              <a:t>[{"comparison": "SARIMA versus Stacking", "other": "Stacking", "advantage": 127.78155909913727, "ci_low": 107.9991436708712, "ci_high": 149.2837980845288}, {"comparison": "SARIMA versus OLS", "other": "OLS", "advantage": 941.73882113957, "ci_low": 871.341767296107, "ci_high": 1016.0332964923774}]</a:t>
            </a:r>
          </a:p>
          <a:p xmlns:a="http://schemas.openxmlformats.org/drawingml/2006/main">
            <a:r>
              <a:t>Figure: figures/pjm_energy/ranking_stability.png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figures/notebook/pjm_energy/cell_067_figure_1.png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be9c00c0.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figures/pjm_energy/winner_diagnostics.png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Diagnostics use SARIMA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figures/notebook/pjm_energy/cell_063_figure_1.png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41bbb10a.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{"SARIMA": {"RMSE": 287.1979798046258, "MAE": 207.99915955320202, "R2": 0.997751639336172, "MAPE_%": 0.6775109995331485}, "Stacking": {"RMSE": 414.97953890376306, "MAE": 307.5499269570426, "R2": 0.9953058540911646, "MAPE_%": 0.9645291287691979}, "RandomForest": {"RMSE": 430.87681797686446, "MAE": 311.13570438253504, "R2": 0.9949393130299606, "MAPE_%": 0.9721756799684708}, "LightGBM": {"RMSE": 439.75645623956996, "MAE": 332.9425788076001, "R2": 0.9947285794465206, "MAPE_%": 1.0529744778326537}, "LightGBM (tuned)": {"RMSE": 439.75645623956996, "MAE": 332.9425788076001, "R2": 0.9947285794465206, "MAPE_%": 1.0529744778326537}, "CatBoost": {"RMSE": 451.1094796561299, "MAE": 338.66884543714883, "R2": 0.9944528855802729, "MAPE_%": 1.064651908792969}, "CatBoost (tuned)": {"RMSE": 451.1094796561299, "MAE": 338.66884543714883, "R2": 0.9944528855802729, "MAPE_%": 1.064651908792969}, "XGBoost": {"RMSE": 452.4238799319056, "MAE": 340.28600996182934, "R2": 0.9944205131689, "MAPE_%": 1.0708053893542864}, "XGBoost (tuned)": {"RMSE": 452.4238799319056, "MAE": 340.28600996182934, "R2": 0.9944205131689, "MAPE_%": 1.0708053893542864}, "RandomForest (tuned)": {"RMSE": 516.7157892592235, "MAE": 376.8811320594227, "R2": 0.9927220899776807, "MAPE_%": 1.177050411627558}, "MLP (tuned)": {"RMSE": 524.4235012182093, "MAE": 389.0859302919412, "R2": 0.9925033452824397, "MAPE_%": 1.2168820038907866}, "MLP": {"RMSE": 534.6546175610881, "MAE": 395.4071632293288, "R2": 0.9922079835438689, "MAPE_%": 1.2396926300012194}, "ARIMA": {"RMSE": 551.3531326283294, "MAE": 399.35703620210495, "R2": 0.9917136569282337, "MAPE_%": 1.2641890633216328}, "KNN": {"RMSE": 1134.2243155696647, "MAE": 869.4104217793458, "R2": 0.9649327972711288, "MAPE_%": 2.7828412346024756}, "KNN (tuned)": {"RMSE": 1134.2243155696647, "MAE": 869.4104217793458, "R2": 0.9649327972711288, "MAPE_%": 2.7828412346024756}, "Lasso": {"RMSE": 1228.9328051743244, "MAE": 964.7855253975243, "R2": 0.9588320262427147, "MAPE_%": 3.1071453346171305}, "LinearRegression": {"RMSE": 1228.9368009441957, "MAE": 964.7891571510552, "R2": 0.9588317585339905, "MAPE_%": 3.1071600414007543}, "Ridge": {"RMSE": 1228.9369338801916, "MAE": 964.7892454447995, "R2": 0.9588317496275253, "MAPE_%": 3.107160248753797}, "ElasticNet": {"RMSE": 1238.6586891881454, "MAE": 971.0576743519155, "R2": 0.958177833732254, "MAPE_%": 3.1222296481532297}}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{"SARIMA": {"RMSE": 287.1979798046258, "MAE": 207.99915955320202, "R2": 0.997751639336172, "MAPE_%": 0.6775109995331485}, "Stacking": {"RMSE": 414.97953890376306, "MAE": 307.5499269570426, "R2": 0.9953058540911646, "MAPE_%": 0.9645291287691979}, "RandomForest": {"RMSE": 430.87681797686446, "MAE": 311.13570438253504, "R2": 0.9949393130299606, "MAPE_%": 0.9721756799684708}, "LightGBM": {"RMSE": 439.75645623956996, "MAE": 332.9425788076001, "R2": 0.9947285794465206, "MAPE_%": 1.0529744778326537}, "LightGBM (tuned)": {"RMSE": 439.75645623956996, "MAE": 332.9425788076001, "R2": 0.9947285794465206, "MAPE_%": 1.0529744778326537}, "CatBoost": {"RMSE": 451.1094796561299, "MAE": 338.66884543714883, "R2": 0.9944528855802729, "MAPE_%": 1.064651908792969}, "CatBoost (tuned)": {"RMSE": 451.1094796561299, "MAE": 338.66884543714883, "R2": 0.9944528855802729, "MAPE_%": 1.064651908792969}, "XGBoost": {"RMSE": 452.4238799319056, "MAE": 340.28600996182934, "R2": 0.9944205131689, "MAPE_%": 1.0708053893542864}, "XGBoost (tuned)": {"RMSE": 452.4238799319056, "MAE": 340.28600996182934, "R2": 0.9944205131689, "MAPE_%": 1.0708053893542864}, "RandomForest (tuned)": {"RMSE": 516.7157892592235, "MAE": 376.8811320594227, "R2": 0.9927220899776807, "MAPE_%": 1.177050411627558}, "MLP (tuned)": {"RMSE": 524.4235012182093, "MAE": 389.0859302919412, "R2": 0.9925033452824397, "MAPE_%": 1.2168820038907866}, "MLP": {"RMSE": 534.6546175610881, "MAE": 395.4071632293288, "R2": 0.9922079835438689, "MAPE_%": 1.2396926300012194}, "ARIMA": {"RMSE": 551.3531326283294, "MAE": 399.35703620210495, "R2": 0.9917136569282337, "MAPE_%": 1.2641890633216328}, "KNN": {"RMSE": 1134.2243155696647, "MAE": 869.4104217793458, "R2": 0.9649327972711288, "MAPE_%": 2.7828412346024756}, "KNN (tuned)": {"RMSE": 1134.2243155696647, "MAE": 869.4104217793458, "R2": 0.9649327972711288, "MAPE_%": 2.7828412346024756}, "Lasso": {"RMSE": 1228.9328051743244, "MAE": 964.7855253975243, "R2": 0.9588320262427147, "MAPE_%": 3.1071453346171305}, "LinearRegression": {"RMSE": 1228.9368009441957, "MAE": 964.7891571510552, "R2": 0.9588317585339905, "MAPE_%": 3.1071600414007543}, "Ridge": {"RMSE": 1228.9369338801916, "MAE": 964.7892454447995, "R2": 0.9588317496275253, "MAPE_%": 3.107160248753797}, "ElasticNet": {"RMSE": 1238.6586891881454, "MAE": 971.0576743519155, "R2": 0.958177833732254, "MAPE_%": 3.1222296481532297}}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figures/notebook/pjm_energy/cell_012_figure_1.png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8ead2f00.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{"SARIMA": {"RMSE": 287.1979798046258, "MAE": 207.99915955320202, "R2": 0.997751639336172, "MAPE_%": 0.6775109995331485}, "Stacking": {"RMSE": 414.97953890376306, "MAE": 307.5499269570426, "R2": 0.9953058540911646, "MAPE_%": 0.9645291287691979}, "RandomForest": {"RMSE": 430.87681797686446, "MAE": 311.13570438253504, "R2": 0.9949393130299606, "MAPE_%": 0.9721756799684708}, "LightGBM": {"RMSE": 439.75645623956996, "MAE": 332.9425788076001, "R2": 0.9947285794465206, "MAPE_%": 1.0529744778326537}, "LightGBM (tuned)": {"RMSE": 439.75645623956996, "MAE": 332.9425788076001, "R2": 0.9947285794465206, "MAPE_%": 1.0529744778326537}, "CatBoost": {"RMSE": 451.1094796561299, "MAE": 338.66884543714883, "R2": 0.9944528855802729, "MAPE_%": 1.064651908792969}, "CatBoost (tuned)": {"RMSE": 451.1094796561299, "MAE": 338.66884543714883, "R2": 0.9944528855802729, "MAPE_%": 1.064651908792969}, "XGBoost": {"RMSE": 452.4238799319056, "MAE": 340.28600996182934, "R2": 0.9944205131689, "MAPE_%": 1.0708053893542864}, "XGBoost (tuned)": {"RMSE": 452.4238799319056, "MAE": 340.28600996182934, "R2": 0.9944205131689, "MAPE_%": 1.0708053893542864}, "RandomForest (tuned)": {"RMSE": 516.7157892592235, "MAE": 376.8811320594227, "R2": 0.9927220899776807, "MAPE_%": 1.177050411627558}, "MLP (tuned)": {"RMSE": 524.4235012182093, "MAE": 389.0859302919412, "R2": 0.9925033452824397, "MAPE_%": 1.2168820038907866}, "MLP": {"RMSE": 534.6546175610881, "MAE": 395.4071632293288, "R2": 0.9922079835438689, "MAPE_%": 1.2396926300012194}, "ARIMA": {"RMSE": 551.3531326283294, "MAE": 399.35703620210495, "R2": 0.9917136569282337, "MAPE_%": 1.2641890633216328}, "KNN": {"RMSE": 1134.2243155696647, "MAE": 869.4104217793458, "R2": 0.9649327972711288, "MAPE_%": 2.7828412346024756}, "KNN (tuned)": {"RMSE": 1134.2243155696647, "MAE": 869.4104217793458, "R2": 0.9649327972711288, "MAPE_%": 2.7828412346024756}, "Lasso": {"RMSE": 1228.9328051743244, "MAE": 964.7855253975243, "R2": 0.9588320262427147, "MAPE_%": 3.1071453346171305}, "LinearRegression": {"RMSE": 1228.9368009441957, "MAE": 964.7891571510552, "R2": 0.9588317585339905, "MAPE_%": 3.1071600414007543}, "Ridge": {"RMSE": 1228.9369338801916, "MAE": 964.7892454447995, "R2": 0.9588317496275253, "MAPE_%": 3.107160248753797}, "ElasticNet": {"RMSE": 1238.6586891881454, "MAE": 971.0576743519155, "R2": 0.958177833732254, "MAPE_%": 3.1222296481532297}}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figures/notebook/pjm_energy/cell_019_figure_1.png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55ad4b11.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figures/notebook/pjm_energy/cell_024_figure_1.png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33657b38.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figures/notebook/pjm_energy/cell_033_figure_1.png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27e50985.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figures/notebook/pjm_energy/cell_039_figure_1.png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f6556cc8.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figures/notebook/pjm_energy/cell_045_figure_1.png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f5ba027a.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figures/notebook/pjm_energy/cell_051_figure_1.png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7f5ac0f3.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figures/notebook/pjm_energy/cell_057_figure_1.png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a3aa57b9.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figures/pjm_energy/calendar_errors.png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Figure: figures/notebook/pjm_energy/cell_066_figure_1.png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Notebook cell ID: 053de118.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{"SARIMA": {"RMSE": 287.1979798046258, "MAE": 207.99915955320202, "R2": 0.997751639336172, "MAPE_%": 0.6775109995331485}, "Stacking": {"RMSE": 414.97953890376306, "MAE": 307.5499269570426, "R2": 0.9953058540911646, "MAPE_%": 0.9645291287691979}, "RandomForest": {"RMSE": 430.87681797686446, "MAE": 311.13570438253504, "R2": 0.9949393130299606, "MAPE_%": 0.9721756799684708}, "LightGBM": {"RMSE": 439.75645623956996, "MAE": 332.9425788076001, "R2": 0.9947285794465206, "MAPE_%": 1.0529744778326537}, "LightGBM (tuned)": {"RMSE": 439.75645623956996, "MAE": 332.9425788076001, "R2": 0.9947285794465206, "MAPE_%": 1.0529744778326537}, "CatBoost": {"RMSE": 451.1094796561299, "MAE": 338.66884543714883, "R2": 0.9944528855802729, "MAPE_%": 1.064651908792969}, "CatBoost (tuned)": {"RMSE": 451.1094796561299, "MAE": 338.66884543714883, "R2": 0.9944528855802729, "MAPE_%": 1.064651908792969}, "XGBoost": {"RMSE": 452.4238799319056, "MAE": 340.28600996182934, "R2": 0.9944205131689, "MAPE_%": 1.0708053893542864}, "XGBoost (tuned)": {"RMSE": 452.4238799319056, "MAE": 340.28600996182934, "R2": 0.9944205131689, "MAPE_%": 1.0708053893542864}, "RandomForest (tuned)": {"RMSE": 516.7157892592235, "MAE": 376.8811320594227, "R2": 0.9927220899776807, "MAPE_%": 1.177050411627558}, "MLP (tuned)": {"RMSE": 524.4235012182093, "MAE": 389.0859302919412, "R2": 0.9925033452824397, "MAPE_%": 1.2168820038907866}, "MLP": {"RMSE": 534.6546175610881, "MAE": 395.4071632293288, "R2": 0.9922079835438689, "MAPE_%": 1.2396926300012194}, "ARIMA": {"RMSE": 551.3531326283294, "MAE": 399.35703620210495, "R2": 0.9917136569282337, "MAPE_%": 1.2641890633216328}, "KNN": {"RMSE": 1134.2243155696647, "MAE": 869.4104217793458, "R2": 0.9649327972711288, "MAPE_%": 2.7828412346024756}, "KNN (tuned)": {"RMSE": 1134.2243155696647, "MAE": 869.4104217793458, "R2": 0.9649327972711288, "MAPE_%": 2.7828412346024756}, "Lasso": {"RMSE": 1228.9328051743244, "MAE": 964.7855253975243, "R2": 0.9588320262427147, "MAPE_%": 3.1071453346171305}, "LinearRegression": {"RMSE": 1228.9368009441957, "MAE": 964.7891571510552, "R2": 0.9588317585339905, "MAPE_%": 3.1071600414007543}, "Ridge": {"RMSE": 1228.9369338801916, "MAE": 964.7892454447995, "R2": 0.9588317496275253, "MAPE_%": 3.107160248753797}, "ElasticNet": {"RMSE": 1238.6586891881454, "MAE": 971.0576743519155, "R2": 0.958177833732254, "MAPE_%": 3.1222296481532297}}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  <a:p xmlns:a="http://schemas.openxmlformats.org/drawingml/2006/main">
            <a:r>
              <a:t>{"SARIMA": {"RMSE": 287.1979798046258, "MAE": 207.99915955320202, "R2": 0.997751639336172, "MAPE_%": 0.6775109995331485}, "Stacking": {"RMSE": 414.97953890376306, "MAE": 307.5499269570426, "R2": 0.9953058540911646, "MAPE_%": 0.9645291287691979}, "RandomForest": {"RMSE": 430.87681797686446, "MAE": 311.13570438253504, "R2": 0.9949393130299606, "MAPE_%": 0.9721756799684708}, "LightGBM": {"RMSE": 439.75645623956996, "MAE": 332.9425788076001, "R2": 0.9947285794465206, "MAPE_%": 1.0529744778326537}, "LightGBM (tuned)": {"RMSE": 439.75645623956996, "MAE": 332.9425788076001, "R2": 0.9947285794465206, "MAPE_%": 1.0529744778326537}, "CatBoost": {"RMSE": 451.1094796561299, "MAE": 338.66884543714883, "R2": 0.9944528855802729, "MAPE_%": 1.064651908792969}, "CatBoost (tuned)": {"RMSE": 451.1094796561299, "MAE": 338.66884543714883, "R2": 0.9944528855802729, "MAPE_%": 1.064651908792969}, "XGBoost": {"RMSE": 452.4238799319056, "MAE": 340.28600996182934, "R2": 0.9944205131689, "MAPE_%": 1.0708053893542864}, "XGBoost (tuned)": {"RMSE": 452.4238799319056, "MAE": 340.28600996182934, "R2": 0.9944205131689, "MAPE_%": 1.0708053893542864}, "RandomForest (tuned)": {"RMSE": 516.7157892592235, "MAE": 376.8811320594227, "R2": 0.9927220899776807, "MAPE_%": 1.177050411627558}, "MLP (tuned)": {"RMSE": 524.4235012182093, "MAE": 389.0859302919412, "R2": 0.9925033452824397, "MAPE_%": 1.2168820038907866}, "MLP": {"RMSE": 534.6546175610881, "MAE": 395.4071632293288, "R2": 0.9922079835438689, "MAPE_%": 1.2396926300012194}, "ARIMA": {"RMSE": 551.3531326283294, "MAE": 399.35703620210495, "R2": 0.9917136569282337, "MAPE_%": 1.2641890633216328}, "KNN": {"RMSE": 1134.2243155696647, "MAE": 869.4104217793458, "R2": 0.9649327972711288, "MAPE_%": 2.7828412346024756}, "KNN (tuned)": {"RMSE": 1134.2243155696647, "MAE": 869.4104217793458, "R2": 0.9649327972711288, "MAPE_%": 2.7828412346024756}, "Lasso": {"RMSE": 1228.9328051743244, "MAE": 964.7855253975243, "R2": 0.9588320262427147, "MAPE_%": 3.1071453346171305}, "LinearRegression": {"RMSE": 1228.9368009441957, "MAE": 964.7891571510552, "R2": 0.9588317585339905, "MAPE_%": 3.1071600414007543}, "Ridge": {"RMSE": 1228.9369338801916, "MAE": 964.7892454447995, "R2": 0.9588317496275253, "MAPE_%": 3.107160248753797}, "ElasticNet": {"RMSE": 1238.6586891881454, "MAE": 971.0576743519155, "R2": 0.958177833732254, "MAPE_%": 3.1222296481532297}}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pjm_energy_tutorial.ipynb.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run_results/pjm_energy_tutorial/results.json.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7fef2c9564f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85d8569d64f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7c310707d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32e59b9a742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ae3549e1640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c2eec7ae7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BA6AAD-1B04-441D-93A7-CFB03A8AC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DC9BA7-B254-4379-ADEE-949F5B0479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AE73BC-3AE2-49E4-8201-B8D9A7FAB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473E4C-F9A7-45C5-91DA-5712DABAA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36663F-2DBB-4210-808B-BA94F9FA55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98E988-C6C0-4E38-8DC6-2B9B54F08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9BFFD1-C8B0-44D0-9516-9CADAFF00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309CD4-C4C5-4F17-AC0A-A052E00511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F52854-2E48-4C33-A438-7CE8504B9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E023B4-076D-4B48-9321-743B5AD93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7e3144f544598" /><Relationship Type="http://schemas.openxmlformats.org/officeDocument/2006/relationships/slideLayout" Target="/ppt/slideLayouts/slideLayout1.xml" Id="Rd72ececcd0f24384" /><Relationship Type="http://schemas.openxmlformats.org/officeDocument/2006/relationships/slideLayout" Target="/ppt/slideLayouts/slideLayout2.xml" Id="R1760168c178d4df9" /><Relationship Type="http://schemas.openxmlformats.org/officeDocument/2006/relationships/slideLayout" Target="/ppt/slideLayouts/slideLayout3.xml" Id="Rb4cf2d2a72b84a4e" /><Relationship Type="http://schemas.openxmlformats.org/officeDocument/2006/relationships/slideLayout" Target="/ppt/slideLayouts/slideLayout4.xml" Id="R849e783f42b04af5" /><Relationship Type="http://schemas.openxmlformats.org/officeDocument/2006/relationships/slideLayout" Target="/ppt/slideLayouts/slideLayout5.xml" Id="R47d70c6dad9a42c4" /><Relationship Type="http://schemas.openxmlformats.org/officeDocument/2006/relationships/slideLayout" Target="/ppt/slideLayouts/slideLayout6.xml" Id="R6e7ebafa136e48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2ececcd0f24384"/>
    <p:sldLayoutId xmlns:r="http://schemas.openxmlformats.org/officeDocument/2006/relationships" id="2147483650" r:id="R1760168c178d4df9"/>
    <p:sldLayoutId xmlns:r="http://schemas.openxmlformats.org/officeDocument/2006/relationships" id="2147483651" r:id="Rb4cf2d2a72b84a4e"/>
    <p:sldLayoutId xmlns:r="http://schemas.openxmlformats.org/officeDocument/2006/relationships" id="2147483652" r:id="R849e783f42b04af5"/>
    <p:sldLayoutId xmlns:r="http://schemas.openxmlformats.org/officeDocument/2006/relationships" id="2147483653" r:id="R47d70c6dad9a42c4"/>
    <p:sldLayoutId xmlns:r="http://schemas.openxmlformats.org/officeDocument/2006/relationships" id="2147483654" r:id="R6e7ebafa136e48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3341c871942b2" /><Relationship Type="http://schemas.openxmlformats.org/officeDocument/2006/relationships/notesSlide" Target="/ppt/notesSlides/notesSlide1.xml" Id="R247b32fbdb63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0153609de4a1b" /><Relationship Type="http://schemas.openxmlformats.org/officeDocument/2006/relationships/notesSlide" Target="/ppt/notesSlides/notesSlide2.xml" Id="Rb7eca3714f0b4d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8a255fe2c4de7" /><Relationship Type="http://schemas.openxmlformats.org/officeDocument/2006/relationships/notesSlide" Target="/ppt/notesSlides/notesSlide3.xml" Id="Rd69bfe2b7368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652ed26394392" /><Relationship Type="http://schemas.openxmlformats.org/officeDocument/2006/relationships/notesSlide" Target="/ppt/notesSlides/notesSlide4.xml" Id="R39208ec120164c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161e4996943c7" /><Relationship Type="http://schemas.openxmlformats.org/officeDocument/2006/relationships/notesSlide" Target="/ppt/notesSlides/notesSlide5.xml" Id="R3d553761efd4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93af969a3480f" /><Relationship Type="http://schemas.openxmlformats.org/officeDocument/2006/relationships/image" Target="/ppt/media/image.png" Id="R91d2c2b59b324886" /><Relationship Type="http://schemas.openxmlformats.org/officeDocument/2006/relationships/notesSlide" Target="/ppt/notesSlides/notesSlide6.xml" Id="Rbf5582f0080d40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c8752c88444b0" /><Relationship Type="http://schemas.openxmlformats.org/officeDocument/2006/relationships/image" Target="/ppt/media/image2.png" Id="R5de7e1d131104a7a" /><Relationship Type="http://schemas.openxmlformats.org/officeDocument/2006/relationships/notesSlide" Target="/ppt/notesSlides/notesSlide7.xml" Id="Rebdf40acc77443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b4725db004ec8" /><Relationship Type="http://schemas.openxmlformats.org/officeDocument/2006/relationships/notesSlide" Target="/ppt/notesSlides/notesSlide8.xml" Id="R8861801ad5f94e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dbaadb6754dbf" /><Relationship Type="http://schemas.openxmlformats.org/officeDocument/2006/relationships/notesSlide" Target="/ppt/notesSlides/notesSlide9.xml" Id="Rf54c1db9d43643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fed44d9b9481c" /><Relationship Type="http://schemas.openxmlformats.org/officeDocument/2006/relationships/notesSlide" Target="/ppt/notesSlides/notesSlide10.xml" Id="R4b6794a13310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be4090ace4b02" /><Relationship Type="http://schemas.openxmlformats.org/officeDocument/2006/relationships/notesSlide" Target="/ppt/notesSlides/notesSlide11.xml" Id="R7848f48c00de4f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00ec219c245f8" /><Relationship Type="http://schemas.openxmlformats.org/officeDocument/2006/relationships/notesSlide" Target="/ppt/notesSlides/notesSlide12.xml" Id="Rf4245aefc08243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1ea6f96bc432f" /><Relationship Type="http://schemas.openxmlformats.org/officeDocument/2006/relationships/notesSlide" Target="/ppt/notesSlides/notesSlide13.xml" Id="Rc2729f6f9d8447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d3e7d75c64f00" /><Relationship Type="http://schemas.openxmlformats.org/officeDocument/2006/relationships/notesSlide" Target="/ppt/notesSlides/notesSlide14.xml" Id="Rbafb00c0b22644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ba195f94d441e" /><Relationship Type="http://schemas.openxmlformats.org/officeDocument/2006/relationships/notesSlide" Target="/ppt/notesSlides/notesSlide15.xml" Id="R5d24cf488dab4d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34d2fddbb42cc" /><Relationship Type="http://schemas.openxmlformats.org/officeDocument/2006/relationships/image" Target="/ppt/media/image3.png" Id="R656222f74c4b42e6" /><Relationship Type="http://schemas.openxmlformats.org/officeDocument/2006/relationships/notesSlide" Target="/ppt/notesSlides/notesSlide16.xml" Id="R7755847fa0ed45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ce9747f4648d9" /><Relationship Type="http://schemas.openxmlformats.org/officeDocument/2006/relationships/image" Target="/ppt/media/image4.png" Id="R3b438805a331402f" /><Relationship Type="http://schemas.openxmlformats.org/officeDocument/2006/relationships/notesSlide" Target="/ppt/notesSlides/notesSlide17.xml" Id="R058d74691e5043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070d0d12742c3" /><Relationship Type="http://schemas.openxmlformats.org/officeDocument/2006/relationships/image" Target="/ppt/media/image5.png" Id="R3006e814f51e4233" /><Relationship Type="http://schemas.openxmlformats.org/officeDocument/2006/relationships/notesSlide" Target="/ppt/notesSlides/notesSlide18.xml" Id="Rd764075e69ba4e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51c2c865f47e3" /><Relationship Type="http://schemas.openxmlformats.org/officeDocument/2006/relationships/image" Target="/ppt/media/image6.png" Id="R97a155b90887484c" /><Relationship Type="http://schemas.openxmlformats.org/officeDocument/2006/relationships/notesSlide" Target="/ppt/notesSlides/notesSlide19.xml" Id="R9bc24e84c7704a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a550b5bbf4e3f" /><Relationship Type="http://schemas.openxmlformats.org/officeDocument/2006/relationships/notesSlide" Target="/ppt/notesSlides/notesSlide20.xml" Id="Re8ae179fd12643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4bbaabac649ee" /><Relationship Type="http://schemas.openxmlformats.org/officeDocument/2006/relationships/image" Target="/ppt/media/image7.png" Id="Re40b755b8d414c75" /><Relationship Type="http://schemas.openxmlformats.org/officeDocument/2006/relationships/notesSlide" Target="/ppt/notesSlides/notesSlide21.xml" Id="R7c77066b308f43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4ae7adaa14e5d" /><Relationship Type="http://schemas.openxmlformats.org/officeDocument/2006/relationships/notesSlide" Target="/ppt/notesSlides/notesSlide22.xml" Id="R6886b2fedb3248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9c3875bda4da7" /><Relationship Type="http://schemas.openxmlformats.org/officeDocument/2006/relationships/notesSlide" Target="/ppt/notesSlides/notesSlide23.xml" Id="R0a862bc51e7249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333403f6541d2" /><Relationship Type="http://schemas.openxmlformats.org/officeDocument/2006/relationships/notesSlide" Target="/ppt/notesSlides/notesSlide24.xml" Id="R27c1f53d1fd64a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cb41eb1ed4af9" /><Relationship Type="http://schemas.openxmlformats.org/officeDocument/2006/relationships/notesSlide" Target="/ppt/notesSlides/notesSlide25.xml" Id="R785a8c8f36cc49a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b22a9fe18489c" /><Relationship Type="http://schemas.openxmlformats.org/officeDocument/2006/relationships/image" Target="/ppt/media/image8.png" Id="R2fb41ae17e734477" /><Relationship Type="http://schemas.openxmlformats.org/officeDocument/2006/relationships/notesSlide" Target="/ppt/notesSlides/notesSlide26.xml" Id="R77040d675e124d1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31b1e95c04f78" /><Relationship Type="http://schemas.openxmlformats.org/officeDocument/2006/relationships/notesSlide" Target="/ppt/notesSlides/notesSlide27.xml" Id="Rb4edd169b0394c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1bf2988254ad3" /><Relationship Type="http://schemas.openxmlformats.org/officeDocument/2006/relationships/notesSlide" Target="/ppt/notesSlides/notesSlide28.xml" Id="R33b2fa0bfc3a424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4fc06be1746c9" /><Relationship Type="http://schemas.openxmlformats.org/officeDocument/2006/relationships/notesSlide" Target="/ppt/notesSlides/notesSlide29.xml" Id="R143da321e07049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fdc781fe547df" /><Relationship Type="http://schemas.openxmlformats.org/officeDocument/2006/relationships/notesSlide" Target="/ppt/notesSlides/notesSlide30.xml" Id="R7869550c81fb47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634a26f1848fc" /><Relationship Type="http://schemas.openxmlformats.org/officeDocument/2006/relationships/image" Target="/ppt/media/image9.png" Id="Rb96d0193d23e4e46" /><Relationship Type="http://schemas.openxmlformats.org/officeDocument/2006/relationships/notesSlide" Target="/ppt/notesSlides/notesSlide31.xml" Id="R55f729a352cc45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b35692ea548ba" /><Relationship Type="http://schemas.openxmlformats.org/officeDocument/2006/relationships/image" Target="/ppt/media/image10.png" Id="Rf002ccdf5a25447b" /><Relationship Type="http://schemas.openxmlformats.org/officeDocument/2006/relationships/notesSlide" Target="/ppt/notesSlides/notesSlide32.xml" Id="R9d0be32bb3254cc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1954b7e1547ea" /><Relationship Type="http://schemas.openxmlformats.org/officeDocument/2006/relationships/image" Target="/ppt/media/image11.png" Id="R1d45676df16549af" /><Relationship Type="http://schemas.openxmlformats.org/officeDocument/2006/relationships/notesSlide" Target="/ppt/notesSlides/notesSlide33.xml" Id="Ra180e47e4cd344a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0b7ac60a942ae" /><Relationship Type="http://schemas.openxmlformats.org/officeDocument/2006/relationships/notesSlide" Target="/ppt/notesSlides/notesSlide34.xml" Id="Rf5a4c83aafb0427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a54902c144375" /><Relationship Type="http://schemas.openxmlformats.org/officeDocument/2006/relationships/notesSlide" Target="/ppt/notesSlides/notesSlide35.xml" Id="Rb17ac12f58494ec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9e6c6703045b1" /><Relationship Type="http://schemas.openxmlformats.org/officeDocument/2006/relationships/image" Target="/ppt/media/image12.png" Id="Rf610c55f13da4e64" /><Relationship Type="http://schemas.openxmlformats.org/officeDocument/2006/relationships/notesSlide" Target="/ppt/notesSlides/notesSlide36.xml" Id="Rb08afca4a0b043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58f65762949fd" /><Relationship Type="http://schemas.openxmlformats.org/officeDocument/2006/relationships/image" Target="/ppt/media/image13.png" Id="R811de5afb1864ba4" /><Relationship Type="http://schemas.openxmlformats.org/officeDocument/2006/relationships/notesSlide" Target="/ppt/notesSlides/notesSlide37.xml" Id="Rc1bec30e9ae84b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b9261e6974cc3" /><Relationship Type="http://schemas.openxmlformats.org/officeDocument/2006/relationships/image" Target="/ppt/media/image14.png" Id="Ra1f33069651f4c74" /><Relationship Type="http://schemas.openxmlformats.org/officeDocument/2006/relationships/notesSlide" Target="/ppt/notesSlides/notesSlide38.xml" Id="R24511d843ae14b5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6de29242e4a32" /><Relationship Type="http://schemas.openxmlformats.org/officeDocument/2006/relationships/image" Target="/ppt/media/image15.png" Id="R9e41fab6735b4235" /><Relationship Type="http://schemas.openxmlformats.org/officeDocument/2006/relationships/notesSlide" Target="/ppt/notesSlides/notesSlide39.xml" Id="R5d9f36657580494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d3f65dae942c8" /><Relationship Type="http://schemas.openxmlformats.org/officeDocument/2006/relationships/image" Target="/ppt/media/image16.png" Id="R3f2c049d4af94e42" /><Relationship Type="http://schemas.openxmlformats.org/officeDocument/2006/relationships/notesSlide" Target="/ppt/notesSlides/notesSlide40.xml" Id="R54847a87b9da44b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b431bf46c406a" /><Relationship Type="http://schemas.openxmlformats.org/officeDocument/2006/relationships/notesSlide" Target="/ppt/notesSlides/notesSlide41.xml" Id="R6e3c1ce3a39a426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bf2c4336647f5" /><Relationship Type="http://schemas.openxmlformats.org/officeDocument/2006/relationships/notesSlide" Target="/ppt/notesSlides/notesSlide42.xml" Id="Rc10dfe190d864f3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50fc8f9424df4" /><Relationship Type="http://schemas.openxmlformats.org/officeDocument/2006/relationships/notesSlide" Target="/ppt/notesSlides/notesSlide43.xml" Id="Rb8000095b6c649c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1fabf8f6d446e" /><Relationship Type="http://schemas.openxmlformats.org/officeDocument/2006/relationships/notesSlide" Target="/ppt/notesSlides/notesSlide44.xml" Id="Rfab721476ab14e0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43d7c1c784101" /><Relationship Type="http://schemas.openxmlformats.org/officeDocument/2006/relationships/notesSlide" Target="/ppt/notesSlides/notesSlide45.xml" Id="R3c6eb8891329467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137acce254d1e" /><Relationship Type="http://schemas.openxmlformats.org/officeDocument/2006/relationships/notesSlide" Target="/ppt/notesSlides/notesSlide46.xml" Id="Ra39c20551565436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a3b9a87804f63" /><Relationship Type="http://schemas.openxmlformats.org/officeDocument/2006/relationships/notesSlide" Target="/ppt/notesSlides/notesSlide47.xml" Id="R5ae9719b0385485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f876d1ad0433e" /><Relationship Type="http://schemas.openxmlformats.org/officeDocument/2006/relationships/image" Target="/ppt/media/image17.png" Id="Ra483dbe17b0547d2" /><Relationship Type="http://schemas.openxmlformats.org/officeDocument/2006/relationships/notesSlide" Target="/ppt/notesSlides/notesSlide48.xml" Id="Re920596ac89f4f0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253f8a4f148af" /><Relationship Type="http://schemas.openxmlformats.org/officeDocument/2006/relationships/notesSlide" Target="/ppt/notesSlides/notesSlide49.xml" Id="R0243cc74fbdd4d0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526f9cd7c474b" /><Relationship Type="http://schemas.openxmlformats.org/officeDocument/2006/relationships/notesSlide" Target="/ppt/notesSlides/notesSlide50.xml" Id="R476da34a55774d6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f30f6b5754bcd" /><Relationship Type="http://schemas.openxmlformats.org/officeDocument/2006/relationships/notesSlide" Target="/ppt/notesSlides/notesSlide51.xml" Id="R673226640f1f42b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e7467cb754f9c" /><Relationship Type="http://schemas.openxmlformats.org/officeDocument/2006/relationships/notesSlide" Target="/ppt/notesSlides/notesSlide52.xml" Id="R9824ab54693b4a5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1ad5fd2054f7f" /><Relationship Type="http://schemas.openxmlformats.org/officeDocument/2006/relationships/notesSlide" Target="/ppt/notesSlides/notesSlide53.xml" Id="Rdadb184df4c648b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bedc20bcc4dc1" /><Relationship Type="http://schemas.openxmlformats.org/officeDocument/2006/relationships/notesSlide" Target="/ppt/notesSlides/notesSlide54.xml" Id="R746c9f6491d042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D0F7AD3-4DE8-4135-84E4-5BDC02B3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AED05C-0987-4746-851C-A35DB4B3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2D5922-4722-4766-BDC5-EB78F56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Forecasting hourly electricity demand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AF4E12-7B7B-4B3B-BC14-09BEC48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2143720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32CFC9D9-1B4F-44D2-8E05-665F6BBA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8CD3DD-AF27-46A5-BBDB-D5EC8F70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9CE478-DE86-44C1-AC14-4B709A92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AC90B74-8C81-48BD-A47D-39982DC1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0BEA57B-30E4-404E-BB72-CE05D312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287.1980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474EDA7-F4D2-42D4-9C8F-CF950C18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85DA699-DAFF-46A1-AA77-B8C192A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model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846D29C-999A-4A05-9869-A9F2E46E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SARIMA has one-step RMSE 287.2 MW and MAE 208.0 MW.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8F726CB-01AF-4B1E-98AA-3DE1D925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0246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Comparison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BD1D40C-A9AD-411E-B8F4-6A953EE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4101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is 30.8% below stacking, the strongest tabular approach.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E0D1932-2661-480A-9ED9-904C4D6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3533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Forecast horizon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3E325B9-34EF-4A89-9E54-F3BDF6D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7388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one-step test uses observed load updates. Longer forecasts need a separate evaluation at their intended lead time.</a:t>
            </a:r>
          </a:p>
        </p:txBody>
      </p:sp>
    </p:spTree>
    <p:extLst>
      <p:ext uri="{BB962C8B-B14F-4D97-AF65-F5344CB8AC3E}">
        <p14:creationId xmlns:p14="http://schemas.microsoft.com/office/powerpoint/2010/main" val="756854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2FD03DEA-364B-4DC6-AA95-2364C577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67EF56-8DB4-4247-B506-D95EF8B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AC41D9-82BA-4558-BEA1-55084DE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DAB40E4-374E-4747-8690-88B7608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9E984EC-8C13-47ED-96F9-518D4A36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C5615BA-0AE0-4CD3-AD63-EDC72B0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Forecast the next hour of PJM East electricity demand using recent load and calendar information.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6E882FA-CBDA-4931-9DF1-335F14A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E5F2E6E-AFF0-47D2-AA18-E628621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hourly forecast. Demand and prediction errors are measured in megawatts.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0A852EF-0247-4C7E-9E59-0CB5FA92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46C4AE4-F55B-4E22-BEA0-F8D95AB8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for model ranking, MAE for typical error, and R² for explained variation.</a:t>
            </a:r>
          </a:p>
        </p:txBody>
      </p:sp>
    </p:spTree>
    <p:extLst>
      <p:ext uri="{BB962C8B-B14F-4D97-AF65-F5344CB8AC3E}">
        <p14:creationId xmlns:p14="http://schemas.microsoft.com/office/powerpoint/2010/main" val="790998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A28959E-6F18-4C4D-8BCD-392C9A1A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495B6C-2F55-4D0C-A020-62A7718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9FB809-0ABD-4554-8395-5FC1F1AB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0379E11-222D-4D5E-9FBF-C2D81073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158A7-9223-49F3-8154-98B32C17E6E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145,366 source records, regularized to 145,392 hourly timestamps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January 2002 to 3 August 2018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Modeling rows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145,224 hours after the initial 168-hour lag window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historical-load and calendar variables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497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DB82ECF-A8A4-4839-8E4D-070D693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1EEDB5-843A-4B15-98C9-2048CC8A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2F1E8D-A1C0-4CDF-AB7D-D6269CF7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A5CAFB-E49D-40A8-A3CA-F22C777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857A4-4A4B-4CF8-B3BF-971F87CEACB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Timestamps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Sort observations and create a regular hourly index.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Duplicate hours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 the four duplicate timestamps.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hours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Interpolate the 30 missing hourly observations.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History 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Shift rolling statistics by one hour so they use earlier load values.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345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27735B7-CB10-4A2D-8CEF-F4628AC9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AC4B63-27ED-4CB6-B1C8-6CAB624E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Hourly load history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8A7B63-BC9F-4B2C-9110-B7A4222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F73560-F774-47B3-BE4D-2AB435FA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BC38E-24BD-46E6-9689-765891951F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2c2b59b324886"/>
          <a:stretch xmlns:a="http://schemas.openxmlformats.org/drawingml/2006/main"/>
        </p:blipFill>
        <p:spPr>
          <a:xfrm xmlns:a="http://schemas.openxmlformats.org/drawingml/2006/main">
            <a:off x="2312728" y="1762125"/>
            <a:ext cx="7566543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14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59E2E2B-C57F-4BD1-A415-10649DA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0FBD63-F6BA-4000-9F74-67C680A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Daily and seasonal demand patterns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AFFF49-2159-4C32-8F5E-679522A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259E47-DD8A-48DB-AB81-B2B8CEE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21B09-CCA7-4598-B35B-A30A9CDE7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7e1d131104a7a"/>
          <a:stretch xmlns:a="http://schemas.openxmlformats.org/drawingml/2006/main"/>
        </p:blipFill>
        <p:spPr>
          <a:xfrm xmlns:a="http://schemas.openxmlformats.org/drawingml/2006/main">
            <a:off x="514350" y="2375934"/>
            <a:ext cx="11163300" cy="30586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14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D702A7B-68E5-4FF8-8D68-4CBB27D7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DA0C81B-7743-4572-9B0C-25C73AF2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9C42F4-EC37-46FE-98EB-F0390FE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FB44EE-9230-44F6-AD06-06063FD4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7C47E8F-94BF-40CA-BAE1-B2EE6A0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Daily pattern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61562F5-2B95-4416-9B56-52B566F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Load changes substantially by hour of day.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18D9C1-3693-4154-914C-6BC688FC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Seasonality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578AB78-C4D3-4750-A7DA-FC15890D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Weekday and monthly patterns support daily and weekly lag features.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0ED9B21-7D03-4B33-99DB-76002D2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8563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Short-term dependence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12F08AA-42AE-4381-AAC4-F407A7EB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previous hour is the strongest linear predictor. Longer lags provide seasonal context.</a:t>
            </a:r>
          </a:p>
        </p:txBody>
      </p:sp>
    </p:spTree>
    <p:extLst>
      <p:ext uri="{BB962C8B-B14F-4D97-AF65-F5344CB8AC3E}">
        <p14:creationId xmlns:p14="http://schemas.microsoft.com/office/powerpoint/2010/main" val="1186181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16A0B10-95E7-41B4-8A76-25E15B0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F40140-5D8A-43B0-BBA5-84F4FD60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74202A6-7BC1-4D3D-B3C1-B8908835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678E29-3BB8-422F-86D8-EA511551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D1F26-1DF9-46EA-BDF0-191552161CD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Calendar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Hour, weekday, month and weekend indicator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 lags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 from 1, 24 and 168 hours earlier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Daily history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Previous 24-hour mean and standard deviation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Weekly history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Previous 168-hour mean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051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0DFF7581-5EAD-4EA8-A704-4CA4FF7B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823BD40-945D-4B4A-BC49-A6203565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5DF11C2-7423-4501-B660-6685DC3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DFB41A2-7A73-4B04-BBB4-F1461990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A0C1DE8-D82A-4032-A7EE-E9316E5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EA2C09-AAEF-4395-B078-C82CC31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 on 136,464 hours through 3 August 2017 00:00. Test on the final 8,760 hours through 3 August 2018 00:00. TimeSeriesSplit uses two folds for tuning.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00DC10E-DFD2-45CB-95F7-3A032C61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FCCC4-3D16-432A-86C7-A6D0119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feature scaling on training rows, then apply the same transformation to the test partition.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98C9C01-1539-48FD-BC20-199DBA2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BBB7938-2F21-42AD-950E-BCDF6E5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 chronological holdout evaluates later observations.</a:t>
            </a:r>
          </a:p>
        </p:txBody>
      </p:sp>
    </p:spTree>
    <p:extLst>
      <p:ext uri="{BB962C8B-B14F-4D97-AF65-F5344CB8AC3E}">
        <p14:creationId xmlns:p14="http://schemas.microsoft.com/office/powerpoint/2010/main" val="8289314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12EEACA-9B2F-4F3D-8876-3B0B9D05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FCB40E-8B51-455E-8126-2FCD1959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2D2180-80C5-487A-972D-8AD44402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2D7571-7147-48AC-A6AD-E3E2F24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079E0-76D1-4E54-9BF5-CFCFF363AF7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OLS, Ridge, Lasso and Elastic Net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series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ARIMA and SARIMA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serial and seasonal dependence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21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AF25161-FCE7-488F-9CDD-AB34F1EE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DB7094-301E-4ABB-A9D1-EEBE7BE7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F1CF3E-0728-424A-8D74-7E5001B6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DCFA9C-9ABD-48BF-A72A-47F23B32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00727-D407-4861-B080-F67BA858277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289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1FB5F18-FDB9-4482-AAEB-B162C707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ED8667A-CA9D-46B8-A230-0DE99146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41F211-923C-4A19-B823-DE0429C7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521B302-9178-4FEE-B94B-EC80B78A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E0874-2CA0-4279-8C9C-AFAF458EA88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700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24C3180-71ED-42F3-BAE8-FDCC9F89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2F45FC2-F03A-4C97-8181-93A3C0C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E8ECFD-8AB9-4C6C-89FA-D4604D4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2A60ED-B21D-4719-B64A-5DE93FF6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8D341-4F26-4428-BF8B-0FB8FA33FB9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593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7110D451-DA71-4D66-9A2D-09C98603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8F965E-76BA-4D88-9834-0373A204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09D427C-EAF5-4D31-AA25-9F498D88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AB1EE9-74EF-4C7A-A03B-D54C08B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DB74EC-E88B-4304-B22C-561206D7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Ridge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60873C4-24F9-471E-A311-8E8C2C0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DE582D9-934A-43BC-B8FD-C637A069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F191724-9C87-41D0-80A8-4B77A2C0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9E02E56-A78B-4294-A3BF-8B54427B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 Forward-only folds are needed for temporal meta-training.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72EBDC4-C892-4D12-A783-37D627C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E69266D-1A96-46CE-A66E-3092E367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414.9795 and MAE 307.5499. It does not exceed the best individual model on the primary metric.</a:t>
            </a:r>
          </a:p>
        </p:txBody>
      </p:sp>
    </p:spTree>
    <p:extLst>
      <p:ext uri="{BB962C8B-B14F-4D97-AF65-F5344CB8AC3E}">
        <p14:creationId xmlns:p14="http://schemas.microsoft.com/office/powerpoint/2010/main" val="1761966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0FCAED7-04F0-4D36-BB76-C080953E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634F65-BB6C-42D5-9A6F-16E3F0F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0D73A3-088C-48FE-A387-F13A5FE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9F75EF-9405-4355-B936-48E79A0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B3365-C64C-4574-A7E1-A70F3AC43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222f74c4b42e6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2656C6B-956B-444C-8DF0-B9EAD9EE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17772524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C4D3EDE-1836-42DF-955A-3B166C5F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DD0478-C340-46C5-AF04-D1F26FD6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A3F8FB2-A9C7-49F3-892F-BFFD7F4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2120F4-EB51-4A95-A743-E8107024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C72F-FF04-48C3-B2A3-42240C5054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38805a331402f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AD8D183-432D-4CF5-993B-824CB8F7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SARIMA has lower RMSE than Stacking across the 95% resampling interval.</a:t>
            </a:r>
          </a:p>
        </p:txBody>
      </p:sp>
    </p:spTree>
    <p:extLst>
      <p:ext uri="{BB962C8B-B14F-4D97-AF65-F5344CB8AC3E}">
        <p14:creationId xmlns:p14="http://schemas.microsoft.com/office/powerpoint/2010/main" val="5179789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166EE93-3405-4513-90E3-0FD348DA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AE8A78-D8B0-46CE-A6CB-02DC88E8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Predictions at the start of the holdout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319EAA-7375-4309-9467-2CF4EE2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53BAAF-EAFD-4F46-A6AF-870D08F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135C3-568C-4912-AFF6-857522D9A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6e814f51e4233"/>
          <a:stretch xmlns:a="http://schemas.openxmlformats.org/drawingml/2006/main"/>
        </p:blipFill>
        <p:spPr>
          <a:xfrm xmlns:a="http://schemas.openxmlformats.org/drawingml/2006/main">
            <a:off x="514350" y="1800886"/>
            <a:ext cx="11163300" cy="390392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BED3D52-1DF6-4AD0-8381-9E06550C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9511049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286EE76-B896-4580-AC79-85CCCE8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A45026-D1E7-4E4D-A386-9250CB14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demand level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F4CE16-A48E-4303-9CF8-8EBBE43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73AC108-46E8-40B4-BEF0-7A03E024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A0C06-554B-4699-BDC4-A8A4EE2C6D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155b90887484c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572D623-8536-4D8D-9723-0CDB0BE5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SARIMA: prediction error across observed demand levels. Residual = prediction − actual.</a:t>
            </a:r>
          </a:p>
        </p:txBody>
      </p:sp>
    </p:spTree>
    <p:extLst>
      <p:ext uri="{BB962C8B-B14F-4D97-AF65-F5344CB8AC3E}">
        <p14:creationId xmlns:p14="http://schemas.microsoft.com/office/powerpoint/2010/main" val="6528174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B0255D0-EE60-4820-B310-7B8FC9C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4F0082-36F5-43BC-B098-F5AD615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Simple baselines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2D59F8-ABC8-452C-A140-FFFFA56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75867B-1E0B-40DC-8921-2E1C45D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FC200-AAA4-48EB-82B3-2572768E4C3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2772"/>
                <a:gridCol w="2055876"/>
                <a:gridCol w="2055876"/>
                <a:gridCol w="2055876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mean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6,128.8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4,903.5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-0.0239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lag_1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1,319.4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1,036.1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0.9525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lag_24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3,146.2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2,306.8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0.7302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lag_168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4,852.3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3,581.8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0.3582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SARIMA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287.1980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207.9992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D39BB87-0D51-4980-929F-16B9BC2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Same test targets for every row. Error units: MW.</a:t>
            </a:r>
          </a:p>
        </p:txBody>
      </p:sp>
    </p:spTree>
    <p:extLst>
      <p:ext uri="{BB962C8B-B14F-4D97-AF65-F5344CB8AC3E}">
        <p14:creationId xmlns:p14="http://schemas.microsoft.com/office/powerpoint/2010/main" val="20181408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043BCDC-AB31-4141-A126-EE60732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075CA9-8E7C-4288-82B0-7C0B69A4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14-day SARIMA forecast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A2EA39-C9D8-4D2C-AF19-1430EE8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EECCCB-96A2-4235-AEB7-E74C4DAC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F93BF-4776-443A-B89B-F8101BEA3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b755b8d414c75"/>
          <a:stretch xmlns:a="http://schemas.openxmlformats.org/drawingml/2006/main"/>
        </p:blipFill>
        <p:spPr>
          <a:xfrm xmlns:a="http://schemas.openxmlformats.org/drawingml/2006/main">
            <a:off x="514350" y="1800886"/>
            <a:ext cx="11163300" cy="390392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48FE092-E1EC-4DD0-8421-E51ABF65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forecast covers the first 336 test hours and uses no future observed load updates.</a:t>
            </a:r>
          </a:p>
        </p:txBody>
      </p:sp>
    </p:spTree>
    <p:extLst>
      <p:ext uri="{BB962C8B-B14F-4D97-AF65-F5344CB8AC3E}">
        <p14:creationId xmlns:p14="http://schemas.microsoft.com/office/powerpoint/2010/main" val="3660719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B266407-59FA-49B9-BD8F-33AC721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516D093-C4A7-4DB7-8CD0-381486C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6BC10DD-875D-48E4-B760-1C542EA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E2BE81-6159-41C7-8537-42AA5FDF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62EAC8-06CC-44F5-B9C2-05765E3A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One-step accuracy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CF0ECC-08F2-4BF9-BFDC-853FB0BE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SARIMA leads with RMSE 287.2 MW. Stacking improves on the individual tabular models at 415.0 MW.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9F26B43-CDE2-4A11-BEA4-87EC088C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Longer forecasts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DDD1CB1-BC80-4BD5-ADAA-B2E7A2CE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first 14-day open-loop forecast has RMSE 4,426.7 MW. It receives no future observed load.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9031400-CE1E-4CC5-86F6-ADCCF516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Next 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85CD429-C1F8-4CD6-997E-25EB8516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Compare 1-hour and 24-hour forecasts over several rolling origins, using inputs available at each issue time.</a:t>
            </a:r>
          </a:p>
        </p:txBody>
      </p:sp>
    </p:spTree>
    <p:extLst>
      <p:ext uri="{BB962C8B-B14F-4D97-AF65-F5344CB8AC3E}">
        <p14:creationId xmlns:p14="http://schemas.microsoft.com/office/powerpoint/2010/main" val="13885766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CACF643-E996-46F6-B3B7-76DE3D16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682B688-20F4-4F8A-8F9C-474A0E8F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8D69B7-1D6A-4AE9-8AD2-DA2B1D7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25706CB-D4AA-4E45-A0C5-EDFD9B8E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CDB1-4260-4FB9-BF16-E445449A62F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Forecast horizon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One-step accuracy does not establish day-ahead accuracy.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hours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Retrospective interpolation can use later observations.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period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year does not show performance across earlier operating regimes.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Peak conditions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Peak-load and unusual-calendar errors need separate assessment.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folds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notebook uses two ordinary training folds. Temporal meta-training needs a forward-only evaluation.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1092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3C217AF-E078-4C95-94AC-7BC8D4F5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21A9B45-EC91-499C-AE72-CD169158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7C1C6A-92EF-457E-BC47-70393EF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2593E0-1FA1-42EE-A7B9-DF1723DB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BE87D-94F1-4121-BDAC-7CFD3D1B5DD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Seasonal baselines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previous hour, previous day and previous week on the same test period.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Forecast skill relative to persistence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Rolling origins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Evaluate several consecutive years with strictly past training data.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seasonal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Horizon-specific 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Build separate 1-hour and 24-hour tasks with valid information sets.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Comparable error by lead time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 weather forecasts and holiday calendars known at prediction time.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during peak demand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439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555948B-3C87-485B-9E2C-E985313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24F6EC-D834-4B87-AF27-6AF85EF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DC4EA4-F961-4DEE-A5F4-37379854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C0A94A0-44C6-49CB-A00C-F9AF07D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E67DF6-3205-4498-9F9C-584DC299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SARIMA leads one-step forecasting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E05DDAD-3202-4F75-ADD9-F848A28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RMSE 287.1980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6B054D2-7DCA-47E6-8F7B-18FAADF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Its advantage applies when observed load updates the state each hour. Day-ahead scheduling needs validation at a fixed issue time.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6EB610F-A2E4-49C1-9E65-47615E6C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23398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2715CC3-C2FB-43E2-9190-6474293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934EFE-554A-4525-8B9A-2C77C2C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Load autocorrelation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621CB8-3F39-4661-9232-920AAE29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F56C074-0051-48F4-8C96-07B4352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AD2E0-B9A7-462A-8EB6-498072AB2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41ae17e734477"/>
          <a:stretch xmlns:a="http://schemas.openxmlformats.org/drawingml/2006/main"/>
        </p:blipFill>
        <p:spPr>
          <a:xfrm xmlns:a="http://schemas.openxmlformats.org/drawingml/2006/main">
            <a:off x="1720453" y="1762125"/>
            <a:ext cx="875109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857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54DFE30-C39E-48B4-980F-EA055269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85CA64-F580-4EF3-9371-C876448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D86BCE-682C-445C-A59C-FD99F19F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9E42FB-39E7-4512-A51C-D129F91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CED2A-B987-4378-8E22-B5CA9F8E783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 root of mean 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Ranks models and emphasizes large misses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absolute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Describes typical error magnitude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over predicting the test mean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Measures explained variation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errors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by target range or time group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Locates concentrated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8669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D327237-C487-4413-A549-BC224A1A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D13A89E-720D-4085-A800-F6873392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DAB4C5-A42E-4152-9B1F-FD56F65A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C873BC-7B7C-4398-BF21-228EB82D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9C5D8-41AA-4822-A818-A4358F1F61C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Fits an additive linear relationship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L2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set coefficients to zero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and L2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1713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395AA70-8476-4E39-A79D-90B4F7B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A9BB24-0760-4E20-B88E-A9265BA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3B55A1-BB91-4D7E-B17E-5E3E08C5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E37166-0335-4EFA-920E-EEEA601F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AD7E8-9665-4EFC-ADB6-557F22D64B7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2380488"/>
                <a:gridCol w="2380488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1,228.9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964.7892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1,228.9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964.7892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1,228.9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964.7855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1,238.7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971.0577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6971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8E7B4CD-833E-4E9C-A119-504651F3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B8253E-3463-49FA-9EEF-97790279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DC48A1-B421-4BCA-8BD5-A162F73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456D46-3509-421D-A675-B320E2E7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B4C3D28-CCF5-4C7D-99BC-AE5C0B9F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730EA65-C726-4908-A2DE-34F249ED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OLS, Ridge and Lasso have nearly identical RMSE. Elastic Net is slightly worse under the selected penalty.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87B844B-E73C-4B19-B58C-9C5A5077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1524683-706F-45AA-8453-586F3B1A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Recent load and daily and weekly lags contain overlapping information. Shrinkage changes coefficients more than prediction accuracy here.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DCD2DC-6D7D-414B-836D-7C297F8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84B6755-1B8D-47E6-BD98-D563E3B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Check residual autocorrelation and add issue-time weather forecasts and holiday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560683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AC4EDAE-7BE7-4764-9DEC-3BDEAAF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2D57863-95C6-401A-A30A-F9BA2ED8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117750-5A5E-48A7-96EF-9E84CEB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20F265-131F-4652-A869-05890088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B91BB-4DE6-4207-829E-11EA35E60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d0193d23e4e46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486AE95-B66F-45AC-B2E3-2A5450BD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2331877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EDFDBD6-C9D7-4500-9C76-34670B0B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0BCF38-1C3C-4B98-90C1-83E4AE8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Regularized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B18091-DBBB-494B-8B76-519AE28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F7947B-594C-438D-B732-195D279B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FF3C9-E71C-4911-98A5-C66710EC7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2ccdf5a25447b"/>
          <a:stretch xmlns:a="http://schemas.openxmlformats.org/drawingml/2006/main"/>
        </p:blipFill>
        <p:spPr>
          <a:xfrm xmlns:a="http://schemas.openxmlformats.org/drawingml/2006/main">
            <a:off x="3086051" y="1762125"/>
            <a:ext cx="601989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D90307E-9CBC-4E10-B076-F00C2E8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2158919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F55B9FC-4EF2-4FF2-A517-2665DAD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0B86CC-752A-4913-BD7A-AE0BFADC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C57650-5F21-4887-AF46-CAEEF0F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58276E-0494-42D0-AD16-FE311E4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95934-DF39-441C-94AE-A82312AC7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5676df16549af"/>
          <a:stretch xmlns:a="http://schemas.openxmlformats.org/drawingml/2006/main"/>
        </p:blipFill>
        <p:spPr>
          <a:xfrm xmlns:a="http://schemas.openxmlformats.org/drawingml/2006/main">
            <a:off x="3231708" y="1762125"/>
            <a:ext cx="5728584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79EDF07-A397-4926-98AD-823F6C3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17522896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C63BD47-2342-4EB5-BED9-2327D1DC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9A8D045-8F7B-4C74-B617-AABFEC57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ARIMA and SARIMA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53DF02-77DA-459C-A809-A87B1AC6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166E98-BE53-4A89-B1D9-6F2150DF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BDE72A-5A29-4826-9367-FBD479B9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ARIMA fits autoregressive and moving-average dynamics after differencing. SARIMA adds seasonal terms.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CC67F0-5AF7-4EA1-911A-DAEBF165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FE4B5A4-55AF-404C-9C1D-95C4C6C9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Models serial dependence directly and supports sequential updates as new observations arrive.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69DA504-A7C9-4625-9546-612DC77E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49225C8-3CE0-4C75-B85C-F9049AAC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Seasonal assumptions and order selection affect accuracy. Errors can accumulate over longer forecast horizons.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E1E76F5-9F9E-4701-AE06-5616FC6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9B8E38-1BB3-4FB0-91A0-A588DD33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SARIMA: RMSE 287.2 MW and MAE 208.0 MW. All 136,464 training hours enter fitting. Observed test hours update each next-hour prediction.</a:t>
            </a:r>
          </a:p>
        </p:txBody>
      </p:sp>
    </p:spTree>
    <p:extLst>
      <p:ext uri="{BB962C8B-B14F-4D97-AF65-F5344CB8AC3E}">
        <p14:creationId xmlns:p14="http://schemas.microsoft.com/office/powerpoint/2010/main" val="13717330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C6F8C18-5874-4697-AE6C-54135E5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DC8B50-BF4D-48FF-8FC0-DAE8B6C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SARIMA order selection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EE2A9A-EA6E-4459-97B8-2E410FA9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3BDDBB7-D1D8-45A3-9564-6081B02B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77942-C95C-40E6-8F6B-11DA054C831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6120"/>
                <a:gridCol w="4328160"/>
                <a:gridCol w="3246120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Order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Seasonal order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AIC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(2, 1, 2)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(1, 1, 1, 24)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1,963,436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(1, 1, 1)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(1, 0, 1, 24)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1,977,220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8D7D7BB-7848-426A-95DF-21CDF166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Lower training AIC selects (2,1,2) × (1,1,1,24). Both candidates use 136,464 training hours.</a:t>
            </a:r>
          </a:p>
        </p:txBody>
      </p:sp>
    </p:spTree>
    <p:extLst>
      <p:ext uri="{BB962C8B-B14F-4D97-AF65-F5344CB8AC3E}">
        <p14:creationId xmlns:p14="http://schemas.microsoft.com/office/powerpoint/2010/main" val="7712394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862DD80-5F8A-488F-9BD9-447FDC88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2BF85EA-5B41-4D18-9E19-3AACEBC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E8B2C7-0AD1-4D23-9766-586E127B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FA0A64-4C91-448B-A719-8ED4FB8B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EF3E3-C584-4F2D-862A-E6ACDB36DE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0c55f13da4e64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E5CFD74-D985-4B79-9855-D48F749C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Recent load is central to short-horizon prediction. Calendar variables and longer lags add information about seasonal patterns.</a:t>
            </a:r>
          </a:p>
        </p:txBody>
      </p:sp>
    </p:spTree>
    <p:extLst>
      <p:ext uri="{BB962C8B-B14F-4D97-AF65-F5344CB8AC3E}">
        <p14:creationId xmlns:p14="http://schemas.microsoft.com/office/powerpoint/2010/main" val="17425193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851F238-7EE6-4FC1-BB60-F24D83E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96D920-C9B7-492A-B0E4-9404A95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AC4ED7-1892-444B-BB7D-6B3C6A70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99ECBAC-DD16-40EE-9076-D9F1022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59576-702B-4435-933A-C8CF804051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de5afb1864ba4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86E9653-E567-4997-9A25-036B4BE1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Recent load is central to short-horizon prediction. Calendar variables and longer lags add information about seasonal patterns.</a:t>
            </a:r>
          </a:p>
        </p:txBody>
      </p:sp>
    </p:spTree>
    <p:extLst>
      <p:ext uri="{BB962C8B-B14F-4D97-AF65-F5344CB8AC3E}">
        <p14:creationId xmlns:p14="http://schemas.microsoft.com/office/powerpoint/2010/main" val="11888911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A7D6A4E-15E5-4A3C-B687-F30A7C94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EA9FB60-F75F-4C6B-810C-571D60D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F09837-A12F-4245-A53D-BABBFFF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1A2D48-7A26-42E1-B5AB-A7D3CD34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00B7-F215-4610-A013-249C4D3B54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33069651f4c74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DA3EC34-B0F9-4BB7-8ACA-65E93FC3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Recent load is central to short-horizon prediction. Calendar variables and longer lags add information about seasonal patterns.</a:t>
            </a:r>
          </a:p>
        </p:txBody>
      </p:sp>
    </p:spTree>
    <p:extLst>
      <p:ext uri="{BB962C8B-B14F-4D97-AF65-F5344CB8AC3E}">
        <p14:creationId xmlns:p14="http://schemas.microsoft.com/office/powerpoint/2010/main" val="511931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30B075D-6294-45F4-AC40-1216E15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9BB513-07B0-4E86-AC60-219C0F81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B5438F-DBB1-4CB2-9B55-5C817091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77991A-2F65-420E-9DB9-FA335F97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5B016-CD0B-42D7-B487-011F59DD15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1fab6735b4235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99B76C3-0669-4748-B0B3-5CEA8CD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Recent load is central to short-horizon prediction. Calendar variables and longer lags add information about seasonal patterns.</a:t>
            </a:r>
          </a:p>
        </p:txBody>
      </p:sp>
    </p:spTree>
    <p:extLst>
      <p:ext uri="{BB962C8B-B14F-4D97-AF65-F5344CB8AC3E}">
        <p14:creationId xmlns:p14="http://schemas.microsoft.com/office/powerpoint/2010/main" val="3665087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72A0092-8D7F-461D-ABA7-C8ABB3D4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8906D82-2D5D-4842-A4C8-D1545434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month and weekday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0C42D0-3AC3-4E2A-A14B-0EE7A57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713B92-F666-448A-9FEF-7B3943A7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6124D-9D34-49AB-BC73-DCBD15E2E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c049d4af94e42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3210BC3-F9A1-4DF8-942E-4300534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Calendar slices show how prediction error varies across operating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95809632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EF564ED-59AA-407C-8F31-5ABD03D8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72C122-E080-4FA2-8704-85F789F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target range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882FF4-D420-416A-BAF1-F9DF8F89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4BA12D-C817-4E01-B820-08F2BC76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5FDF3-61F8-40CA-A810-070F4DDAAB4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3548"/>
                <a:gridCol w="1406652"/>
                <a:gridCol w="2488692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target band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Q1: (19366.999, 27004.0]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181.2254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-9.8971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Q2: (27004.0, 30398.0]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196.8711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-7.6518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Q3: (30398.0, 34545.75]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216.3743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-8.7432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Q4: (34545.75, 56609.0]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237.5331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25.8294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4136ED1-AA83-448B-A591-257F65F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Errors for SARIMA. Mean error = prediction − actual. Units: MW.</a:t>
            </a:r>
          </a:p>
        </p:txBody>
      </p:sp>
    </p:spTree>
    <p:extLst>
      <p:ext uri="{BB962C8B-B14F-4D97-AF65-F5344CB8AC3E}">
        <p14:creationId xmlns:p14="http://schemas.microsoft.com/office/powerpoint/2010/main" val="7779204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7618979-53B2-4F3A-9784-DB45475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531DD1-670C-40C4-BBA0-EC4F95C7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3E1761-8C2B-41CE-998D-9400D9F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D4150F-FD6F-4A08-8DB8-F671D3CF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7051E-D6A8-4E21-8A39-9ADA3C70994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Hourly updates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recent observed load when issuing each next-hour prediction.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Longer horizons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day-ahead forecast cannot use future load observations.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Evaluation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methods using the same issue time, horizon and available inputs.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4176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CD6787C-BB55-4BF3-8E1A-B6531466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EF5D37-D1BA-4D2D-885F-F7EEBDE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Forecast horizons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EB12EE0-6247-4DD6-85C1-F5970634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17CD263-AA41-472C-9D7F-EE0A52A6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248387-BA6D-49F5-9C25-EB54EE2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Next hour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D80AF69-92FB-4BDA-B4F2-7E8A6663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SARIMA reaches RMSE 287.2 MW over the final test year with hourly observed updates.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2A349A6-E2EC-4BA6-AFD9-0A3AE51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Next 14 days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A1A40EC-369F-455C-B25C-993EAD86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first 336-hour forecast has RMSE 4,426.7 MW without future load observations.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1AFDEAF-FE8D-4390-BFBB-C2AF6BF3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8563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575D736-6E7E-478E-9574-F66077CC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These scores use different horizons and windows. Compare models at common issue times and lead times.</a:t>
            </a:r>
          </a:p>
        </p:txBody>
      </p:sp>
    </p:spTree>
    <p:extLst>
      <p:ext uri="{BB962C8B-B14F-4D97-AF65-F5344CB8AC3E}">
        <p14:creationId xmlns:p14="http://schemas.microsoft.com/office/powerpoint/2010/main" val="63027510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2CA696E-ACC4-424B-8AAA-999B8FA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7247DB-FACD-4F00-AB8A-E639893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8A3AFE3-9916-4F3F-BF4C-9113DD2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40F69E-7F51-41E0-8E9E-F2C50DE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7F073A-D1D5-41FA-A77F-54AF25FE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DDB7159-75BD-4B3A-A9CA-D6AC1D6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78E9E7E-9B54-42B9-8EDA-5EA83368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3D3661E-CE91-4B0F-AE03-4528E17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BC9217A-A020-4C66-BD9E-D30EF6F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9DB6286-418B-44FE-AAA8-1BEBF1CD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does not improve the leading individual model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502332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1428550-773B-415A-B5AA-C8828C1A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59B83DE-FDC1-4F43-A25A-C255295D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A7A0CC-52C6-4119-A043-E8F157EE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4EAF5EA-F543-4606-92AD-EAD71D61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2A2F2F2-A7AE-429F-87E2-0CA3BDB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A990F8-F223-4277-B292-870E21B2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579CE6-8F95-46F5-91A5-5374EF6E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D796549-6D98-44A0-ACB4-929187E7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F14C776-0E78-46AD-BA4D-EE65482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DC2E7CE-63C5-447A-B099-A47C749B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17600270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3424885-D487-40CB-A35D-1C8FF242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FE113C8-542D-4D8D-8B12-5933A0E0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448A51-9B22-4151-B893-6E4B61C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CF5944E-85C9-4B2B-8FD9-27640778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F3BC6A-F9C9-409C-83EE-DB7B9B39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is next-hour accuracy strong?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F3573D4-C256-412C-A80A-CC296352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Recent load is highly informative. SARIMA updates its state with each observed test value before predicting the next hour.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58F9574-B653-4493-AEF3-DE20FAA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Does this establish day-ahead accuracy?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E99A0AF-B145-4B84-B3FC-599DC93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 day-ahead forecast uses one issue time and cannot access future actual load. Score that task separately at each lead time.</a:t>
            </a:r>
          </a:p>
        </p:txBody>
      </p:sp>
    </p:spTree>
    <p:extLst>
      <p:ext uri="{BB962C8B-B14F-4D97-AF65-F5344CB8AC3E}">
        <p14:creationId xmlns:p14="http://schemas.microsoft.com/office/powerpoint/2010/main" val="151125667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55CBE9D-0B5D-44FC-A5AC-B33B86E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50BEE1-D03A-4296-89C2-CEA22FEA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9A0D9E8-13E0-45B1-B108-589222FC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403A754-436F-4DFC-AAB3-17E58930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3EA4AF3-5E1D-41AC-9ACF-59B94195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ARIMA and SARIMA?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5B00C0-AD86-43A1-BEFD-ACA22923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model serial dependence directly. SARIMA adds seasonal dynamics, while the tabular models learn from supplied lags and calendar features.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005B29-94AB-49D4-8E52-FD80303C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should the residual analysis check?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652108E-65B4-4415-972B-1EFA5E26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Check remaining autocorrelation, peak-hour bias and calendar patterns. Repeat the comparison over multiple forecast origins.</a:t>
            </a:r>
          </a:p>
        </p:txBody>
      </p:sp>
    </p:spTree>
    <p:extLst>
      <p:ext uri="{BB962C8B-B14F-4D97-AF65-F5344CB8AC3E}">
        <p14:creationId xmlns:p14="http://schemas.microsoft.com/office/powerpoint/2010/main" val="159471842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7BD383E-B2A1-4997-AF55-6A2D295B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D22B8E-8FB4-4257-860E-A380CA3E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Individual model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E794CD5-1417-48D1-B48A-EE01D68B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1CD9AE-843B-4EDE-A810-5847AB52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7F612-CEEC-466A-848E-0148D411D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3dbe17b0547d2"/>
          <a:stretch xmlns:a="http://schemas.openxmlformats.org/drawingml/2006/main"/>
        </p:blipFill>
        <p:spPr>
          <a:xfrm xmlns:a="http://schemas.openxmlformats.org/drawingml/2006/main">
            <a:off x="514350" y="2391197"/>
            <a:ext cx="11163300" cy="272330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122BDD8-39D9-4E7C-B691-1190745F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Notebook comparison of individual models. The full results tables also include stacking.</a:t>
            </a:r>
          </a:p>
        </p:txBody>
      </p:sp>
    </p:spTree>
    <p:extLst>
      <p:ext uri="{BB962C8B-B14F-4D97-AF65-F5344CB8AC3E}">
        <p14:creationId xmlns:p14="http://schemas.microsoft.com/office/powerpoint/2010/main" val="45487007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CA59391-E49F-4D11-8327-FC240A6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F51FAB-2B0E-46F6-BC85-71C56CC0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DB2B21-786A-4696-8B55-1C9E1FE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2A55B6-B984-454D-A59F-ACB2CDD5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49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89BA1-FEB5-41DF-AFA0-A571F53B4AF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947672"/>
                <a:gridCol w="1947672"/>
                <a:gridCol w="1947672"/>
                <a:gridCol w="1947672"/>
              </a:tblGrid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MAPE 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SARIMA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287.1980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207.9992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414.9795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307.5499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430.8768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311.1357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0.9722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439.7565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332.9426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1.0530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439.7565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332.9426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1.0530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451.1095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338.6688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1.0647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451.1095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338.6688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1.0647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452.4239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340.2860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1.0708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452.4239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340.2860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1.0708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54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516.7158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376.8811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0.9927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1.1771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36986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35F0174-0B40-427D-827C-09D4D045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E59EB0-C685-4594-AFF3-290A5D0C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969E3F-6B2A-4C1E-A696-E22E5C5C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1B2CE4-D0D5-47DA-A94E-56BBF95C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50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334A1-AD17-4A96-ACA4-FDE2F2D74D0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947672"/>
                <a:gridCol w="1947672"/>
                <a:gridCol w="1947672"/>
                <a:gridCol w="1947672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MAPE 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524.4235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389.0859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0.9925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1.2169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534.6546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395.4072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1.2397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ARIMA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551.3531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399.3570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1.2642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1,134.2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869.4104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2.7828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1,134.2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869.4104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2.7828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1,228.9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964.7855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3.1071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1,228.9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964.7892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3.1072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1,228.9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964.7892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3.1072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1,238.7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971.0577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3.1222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487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69FD18D-009D-4C04-BDBF-F99BBE19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7EEFA7-B765-4F88-848A-455FDD9D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E52B0D-8370-45E4-B36B-4117AD9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78E494-1E66-475E-A2BE-8C72E6D8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51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8B60E-BD48-4AA6-A5AA-C4CBCA20CDF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4E71CC6-2BDF-4953-80AC-43499FD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11880661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038D62A-CC1B-45FC-A837-35B664D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2D45ECC-1815-481B-9A13-3B52AC2E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BD52FD-501F-4380-92E2-4A9832FB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243E0D-DFD9-4156-88BC-33EC7AC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52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140A2-B135-4427-AA27-0EA6244F47C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79269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020BA99-33FA-45BA-B5A0-C39FF053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16C4D1-5AFF-49B7-99AF-49126591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BC416A9-72C9-4B12-B806-6199C839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3ECCFF-776C-484F-A29F-0C250B90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53 / 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E3BD6-2886-4D91-BB75-7476BD1BB31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065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E916F56-F0E8-4881-843F-22289732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525346-07D2-4900-B1D2-186D0FDD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8947C2-84C8-47B8-9B2C-F96AF3D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PJM Hourly Load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474D75-D2DC-4E9E-8420-F1BCE26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54 / 54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EEB55E-808C-4719-8CD9-7B18B6E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E6E64F-31AA-4CED-ABF9-213E0D10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PJM East hourly electricity consumption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F137FAF-2BA2-4147-9A5F-5BF77B32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9779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DABA43A-FA88-4620-A9EA-11F7E10D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6016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pjm_energy_tutorial.ipynb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2714C81-1EFC-4ED2-8876-7DEEC20B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060F9AF-A300-492D-A5CA-F101FC21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955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 SARIMAX documentation from statsmodels.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45F7E69-694C-4DFA-B974-1C0BFA5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8711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25FAD6B-B8ED-4ACC-BBC0-67B852FD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494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1268810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2026-10-19T13:17:34.6090000Z</dcterms:created>
  <dcterms:modified xsi:type="dcterms:W3CDTF">2026-10-19T13:17:34.6090000Z</dcterms:modified>
</coreProperties>
</file>