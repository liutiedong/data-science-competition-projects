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5e0b1ef1854431" /><Relationship Type="http://schemas.openxmlformats.org/officeDocument/2006/relationships/extended-properties" Target="/docProps/app.xml" Id="R007c3059f1ae4e82" /><Relationship Type="http://schemas.openxmlformats.org/officeDocument/2006/relationships/officeDocument" Target="/ppt/presentation.xml" Id="R617fbed428d44f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1ea9392a2f4cb5"/>
  </p:sldMasterIdLst>
  <p:notesMasterIdLst>
    <p:notesMasterId xmlns:r="http://schemas.openxmlformats.org/officeDocument/2006/relationships" r:id="R09e03d75af5b4bf2"/>
  </p:notesMasterIdLst>
  <p:sldIdLst>
    <p:sldId xmlns:r="http://schemas.openxmlformats.org/officeDocument/2006/relationships" id="256" r:id="Rc56cd2426a53401e"/>
    <p:sldId xmlns:r="http://schemas.openxmlformats.org/officeDocument/2006/relationships" id="257" r:id="Rbc8d59ae512340df"/>
    <p:sldId xmlns:r="http://schemas.openxmlformats.org/officeDocument/2006/relationships" id="258" r:id="R1ea7f4a56e114dd9"/>
    <p:sldId xmlns:r="http://schemas.openxmlformats.org/officeDocument/2006/relationships" id="259" r:id="Rad2f6864008d4170"/>
    <p:sldId xmlns:r="http://schemas.openxmlformats.org/officeDocument/2006/relationships" id="260" r:id="R40af4fe022ba4701"/>
    <p:sldId xmlns:r="http://schemas.openxmlformats.org/officeDocument/2006/relationships" id="261" r:id="R209ba4ba74b44a24"/>
    <p:sldId xmlns:r="http://schemas.openxmlformats.org/officeDocument/2006/relationships" id="262" r:id="R8811349891754a5e"/>
    <p:sldId xmlns:r="http://schemas.openxmlformats.org/officeDocument/2006/relationships" id="263" r:id="R6d0f269812394c67"/>
    <p:sldId xmlns:r="http://schemas.openxmlformats.org/officeDocument/2006/relationships" id="264" r:id="R3c413e27028d459d"/>
    <p:sldId xmlns:r="http://schemas.openxmlformats.org/officeDocument/2006/relationships" id="265" r:id="R773f90ae566f42d6"/>
    <p:sldId xmlns:r="http://schemas.openxmlformats.org/officeDocument/2006/relationships" id="266" r:id="R1a864a3a09264258"/>
    <p:sldId xmlns:r="http://schemas.openxmlformats.org/officeDocument/2006/relationships" id="267" r:id="R59cfe3aded484ac3"/>
    <p:sldId xmlns:r="http://schemas.openxmlformats.org/officeDocument/2006/relationships" id="268" r:id="R048cb6fb6c3544b2"/>
    <p:sldId xmlns:r="http://schemas.openxmlformats.org/officeDocument/2006/relationships" id="269" r:id="Re14f8f76e76841d3"/>
    <p:sldId xmlns:r="http://schemas.openxmlformats.org/officeDocument/2006/relationships" id="270" r:id="R3d9d06ec87b544a4"/>
    <p:sldId xmlns:r="http://schemas.openxmlformats.org/officeDocument/2006/relationships" id="271" r:id="R6e98835944f44990"/>
    <p:sldId xmlns:r="http://schemas.openxmlformats.org/officeDocument/2006/relationships" id="272" r:id="Ra5a1e0b04b384221"/>
    <p:sldId xmlns:r="http://schemas.openxmlformats.org/officeDocument/2006/relationships" id="273" r:id="R6837440a49344445"/>
    <p:sldId xmlns:r="http://schemas.openxmlformats.org/officeDocument/2006/relationships" id="274" r:id="Ra7c065a99b8a466c"/>
    <p:sldId xmlns:r="http://schemas.openxmlformats.org/officeDocument/2006/relationships" id="275" r:id="R690fef60e8314ac7"/>
    <p:sldId xmlns:r="http://schemas.openxmlformats.org/officeDocument/2006/relationships" id="276" r:id="Rf79b4895c09a4ef8"/>
    <p:sldId xmlns:r="http://schemas.openxmlformats.org/officeDocument/2006/relationships" id="277" r:id="Rd4da74fb96544b8d"/>
    <p:sldId xmlns:r="http://schemas.openxmlformats.org/officeDocument/2006/relationships" id="278" r:id="R36a124ce25074be1"/>
    <p:sldId xmlns:r="http://schemas.openxmlformats.org/officeDocument/2006/relationships" id="279" r:id="Ra3a5c3489b8f4d89"/>
    <p:sldId xmlns:r="http://schemas.openxmlformats.org/officeDocument/2006/relationships" id="280" r:id="R284161e609c84b12"/>
    <p:sldId xmlns:r="http://schemas.openxmlformats.org/officeDocument/2006/relationships" id="281" r:id="R148730ebc8454b24"/>
    <p:sldId xmlns:r="http://schemas.openxmlformats.org/officeDocument/2006/relationships" id="282" r:id="R1bb6ec4cba8b4662"/>
    <p:sldId xmlns:r="http://schemas.openxmlformats.org/officeDocument/2006/relationships" id="283" r:id="Rc951bda94df546eb"/>
    <p:sldId xmlns:r="http://schemas.openxmlformats.org/officeDocument/2006/relationships" id="284" r:id="R8a2ae279eca44229"/>
    <p:sldId xmlns:r="http://schemas.openxmlformats.org/officeDocument/2006/relationships" id="285" r:id="Rf0c2f288dc3c4742"/>
    <p:sldId xmlns:r="http://schemas.openxmlformats.org/officeDocument/2006/relationships" id="286" r:id="R49f51f18908e4260"/>
    <p:sldId xmlns:r="http://schemas.openxmlformats.org/officeDocument/2006/relationships" id="287" r:id="Rb43dfc0a5116413b"/>
    <p:sldId xmlns:r="http://schemas.openxmlformats.org/officeDocument/2006/relationships" id="288" r:id="R81815399b1a342fa"/>
    <p:sldId xmlns:r="http://schemas.openxmlformats.org/officeDocument/2006/relationships" id="289" r:id="R84300b184bbb40c4"/>
    <p:sldId xmlns:r="http://schemas.openxmlformats.org/officeDocument/2006/relationships" id="290" r:id="Rd567f09f87d945ce"/>
    <p:sldId xmlns:r="http://schemas.openxmlformats.org/officeDocument/2006/relationships" id="291" r:id="R0539ba2777c54a55"/>
    <p:sldId xmlns:r="http://schemas.openxmlformats.org/officeDocument/2006/relationships" id="292" r:id="R52d35ae9265d4a12"/>
    <p:sldId xmlns:r="http://schemas.openxmlformats.org/officeDocument/2006/relationships" id="293" r:id="Ra15d9189ae0742b3"/>
    <p:sldId xmlns:r="http://schemas.openxmlformats.org/officeDocument/2006/relationships" id="294" r:id="R1f90f14d87464742"/>
    <p:sldId xmlns:r="http://schemas.openxmlformats.org/officeDocument/2006/relationships" id="295" r:id="Rb9fc4862e73049c2"/>
    <p:sldId xmlns:r="http://schemas.openxmlformats.org/officeDocument/2006/relationships" id="296" r:id="R0aabc406ddfb40b4"/>
    <p:sldId xmlns:r="http://schemas.openxmlformats.org/officeDocument/2006/relationships" id="297" r:id="Rcc41cf55f2a4496a"/>
    <p:sldId xmlns:r="http://schemas.openxmlformats.org/officeDocument/2006/relationships" id="298" r:id="Raf1fd2e354624a99"/>
    <p:sldId xmlns:r="http://schemas.openxmlformats.org/officeDocument/2006/relationships" id="299" r:id="R57cfde721bca4913"/>
    <p:sldId xmlns:r="http://schemas.openxmlformats.org/officeDocument/2006/relationships" id="300" r:id="Ra87ca46253ab4069"/>
    <p:sldId xmlns:r="http://schemas.openxmlformats.org/officeDocument/2006/relationships" id="301" r:id="R1a2ad638cbd54921"/>
    <p:sldId xmlns:r="http://schemas.openxmlformats.org/officeDocument/2006/relationships" id="302" r:id="R83bb63218c194403"/>
    <p:sldId xmlns:r="http://schemas.openxmlformats.org/officeDocument/2006/relationships" id="303" r:id="Rf6f028bd75e349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d610da8a97458e" /><Relationship Type="http://schemas.openxmlformats.org/officeDocument/2006/relationships/slideMaster" Target="/ppt/slideMasters/slideMaster1.xml" Id="R7b1ea9392a2f4cb5" /><Relationship Type="http://schemas.openxmlformats.org/officeDocument/2006/relationships/notesMaster" Target="/ppt/notesMasters/notesMaster1.xml" Id="R09e03d75af5b4bf2" /><Relationship Type="http://schemas.openxmlformats.org/officeDocument/2006/relationships/presProps" Target="/ppt/presProps.xml" Id="R85f10bcd499a49ca" /><Relationship Type="http://schemas.openxmlformats.org/officeDocument/2006/relationships/tableStyles" Target="/ppt/tableStyles.xml" Id="R52280b7b81ab4305" /><Relationship Type="http://schemas.openxmlformats.org/officeDocument/2006/relationships/slide" Target="/ppt/slides/slide1.xml" Id="Rc56cd2426a53401e" /><Relationship Type="http://schemas.openxmlformats.org/officeDocument/2006/relationships/slide" Target="/ppt/slides/slide2.xml" Id="Rbc8d59ae512340df" /><Relationship Type="http://schemas.openxmlformats.org/officeDocument/2006/relationships/slide" Target="/ppt/slides/slide3.xml" Id="R1ea7f4a56e114dd9" /><Relationship Type="http://schemas.openxmlformats.org/officeDocument/2006/relationships/slide" Target="/ppt/slides/slide4.xml" Id="Rad2f6864008d4170" /><Relationship Type="http://schemas.openxmlformats.org/officeDocument/2006/relationships/slide" Target="/ppt/slides/slide5.xml" Id="R40af4fe022ba4701" /><Relationship Type="http://schemas.openxmlformats.org/officeDocument/2006/relationships/slide" Target="/ppt/slides/slide6.xml" Id="R209ba4ba74b44a24" /><Relationship Type="http://schemas.openxmlformats.org/officeDocument/2006/relationships/slide" Target="/ppt/slides/slide7.xml" Id="R8811349891754a5e" /><Relationship Type="http://schemas.openxmlformats.org/officeDocument/2006/relationships/slide" Target="/ppt/slides/slide8.xml" Id="R6d0f269812394c67" /><Relationship Type="http://schemas.openxmlformats.org/officeDocument/2006/relationships/slide" Target="/ppt/slides/slide9.xml" Id="R3c413e27028d459d" /><Relationship Type="http://schemas.openxmlformats.org/officeDocument/2006/relationships/slide" Target="/ppt/slides/slide10.xml" Id="R773f90ae566f42d6" /><Relationship Type="http://schemas.openxmlformats.org/officeDocument/2006/relationships/slide" Target="/ppt/slides/slide11.xml" Id="R1a864a3a09264258" /><Relationship Type="http://schemas.openxmlformats.org/officeDocument/2006/relationships/slide" Target="/ppt/slides/slide12.xml" Id="R59cfe3aded484ac3" /><Relationship Type="http://schemas.openxmlformats.org/officeDocument/2006/relationships/slide" Target="/ppt/slides/slide13.xml" Id="R048cb6fb6c3544b2" /><Relationship Type="http://schemas.openxmlformats.org/officeDocument/2006/relationships/slide" Target="/ppt/slides/slide14.xml" Id="Re14f8f76e76841d3" /><Relationship Type="http://schemas.openxmlformats.org/officeDocument/2006/relationships/slide" Target="/ppt/slides/slide15.xml" Id="R3d9d06ec87b544a4" /><Relationship Type="http://schemas.openxmlformats.org/officeDocument/2006/relationships/slide" Target="/ppt/slides/slide16.xml" Id="R6e98835944f44990" /><Relationship Type="http://schemas.openxmlformats.org/officeDocument/2006/relationships/slide" Target="/ppt/slides/slide17.xml" Id="Ra5a1e0b04b384221" /><Relationship Type="http://schemas.openxmlformats.org/officeDocument/2006/relationships/slide" Target="/ppt/slides/slide18.xml" Id="R6837440a49344445" /><Relationship Type="http://schemas.openxmlformats.org/officeDocument/2006/relationships/slide" Target="/ppt/slides/slide19.xml" Id="Ra7c065a99b8a466c" /><Relationship Type="http://schemas.openxmlformats.org/officeDocument/2006/relationships/slide" Target="/ppt/slides/slide20.xml" Id="R690fef60e8314ac7" /><Relationship Type="http://schemas.openxmlformats.org/officeDocument/2006/relationships/slide" Target="/ppt/slides/slide21.xml" Id="Rf79b4895c09a4ef8" /><Relationship Type="http://schemas.openxmlformats.org/officeDocument/2006/relationships/slide" Target="/ppt/slides/slide22.xml" Id="Rd4da74fb96544b8d" /><Relationship Type="http://schemas.openxmlformats.org/officeDocument/2006/relationships/slide" Target="/ppt/slides/slide23.xml" Id="R36a124ce25074be1" /><Relationship Type="http://schemas.openxmlformats.org/officeDocument/2006/relationships/slide" Target="/ppt/slides/slide24.xml" Id="Ra3a5c3489b8f4d89" /><Relationship Type="http://schemas.openxmlformats.org/officeDocument/2006/relationships/slide" Target="/ppt/slides/slide25.xml" Id="R284161e609c84b12" /><Relationship Type="http://schemas.openxmlformats.org/officeDocument/2006/relationships/slide" Target="/ppt/slides/slide26.xml" Id="R148730ebc8454b24" /><Relationship Type="http://schemas.openxmlformats.org/officeDocument/2006/relationships/slide" Target="/ppt/slides/slide27.xml" Id="R1bb6ec4cba8b4662" /><Relationship Type="http://schemas.openxmlformats.org/officeDocument/2006/relationships/slide" Target="/ppt/slides/slide28.xml" Id="Rc951bda94df546eb" /><Relationship Type="http://schemas.openxmlformats.org/officeDocument/2006/relationships/slide" Target="/ppt/slides/slide29.xml" Id="R8a2ae279eca44229" /><Relationship Type="http://schemas.openxmlformats.org/officeDocument/2006/relationships/slide" Target="/ppt/slides/slide30.xml" Id="Rf0c2f288dc3c4742" /><Relationship Type="http://schemas.openxmlformats.org/officeDocument/2006/relationships/slide" Target="/ppt/slides/slide31.xml" Id="R49f51f18908e4260" /><Relationship Type="http://schemas.openxmlformats.org/officeDocument/2006/relationships/slide" Target="/ppt/slides/slide32.xml" Id="Rb43dfc0a5116413b" /><Relationship Type="http://schemas.openxmlformats.org/officeDocument/2006/relationships/slide" Target="/ppt/slides/slide33.xml" Id="R81815399b1a342fa" /><Relationship Type="http://schemas.openxmlformats.org/officeDocument/2006/relationships/slide" Target="/ppt/slides/slide34.xml" Id="R84300b184bbb40c4" /><Relationship Type="http://schemas.openxmlformats.org/officeDocument/2006/relationships/slide" Target="/ppt/slides/slide35.xml" Id="Rd567f09f87d945ce" /><Relationship Type="http://schemas.openxmlformats.org/officeDocument/2006/relationships/slide" Target="/ppt/slides/slide36.xml" Id="R0539ba2777c54a55" /><Relationship Type="http://schemas.openxmlformats.org/officeDocument/2006/relationships/slide" Target="/ppt/slides/slide37.xml" Id="R52d35ae9265d4a12" /><Relationship Type="http://schemas.openxmlformats.org/officeDocument/2006/relationships/slide" Target="/ppt/slides/slide38.xml" Id="Ra15d9189ae0742b3" /><Relationship Type="http://schemas.openxmlformats.org/officeDocument/2006/relationships/slide" Target="/ppt/slides/slide39.xml" Id="R1f90f14d87464742" /><Relationship Type="http://schemas.openxmlformats.org/officeDocument/2006/relationships/slide" Target="/ppt/slides/slide40.xml" Id="Rb9fc4862e73049c2" /><Relationship Type="http://schemas.openxmlformats.org/officeDocument/2006/relationships/slide" Target="/ppt/slides/slide41.xml" Id="R0aabc406ddfb40b4" /><Relationship Type="http://schemas.openxmlformats.org/officeDocument/2006/relationships/slide" Target="/ppt/slides/slide42.xml" Id="Rcc41cf55f2a4496a" /><Relationship Type="http://schemas.openxmlformats.org/officeDocument/2006/relationships/slide" Target="/ppt/slides/slide43.xml" Id="Raf1fd2e354624a99" /><Relationship Type="http://schemas.openxmlformats.org/officeDocument/2006/relationships/slide" Target="/ppt/slides/slide44.xml" Id="R57cfde721bca4913" /><Relationship Type="http://schemas.openxmlformats.org/officeDocument/2006/relationships/slide" Target="/ppt/slides/slide45.xml" Id="Ra87ca46253ab4069" /><Relationship Type="http://schemas.openxmlformats.org/officeDocument/2006/relationships/slide" Target="/ppt/slides/slide46.xml" Id="R1a2ad638cbd54921" /><Relationship Type="http://schemas.openxmlformats.org/officeDocument/2006/relationships/slide" Target="/ppt/slides/slide47.xml" Id="R83bb63218c194403" /><Relationship Type="http://schemas.openxmlformats.org/officeDocument/2006/relationships/slide" Target="/ppt/slides/slide48.xml" Id="Rf6f028bd75e349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80108262274e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5aa50f8e0644af" /><Relationship Type="http://schemas.openxmlformats.org/officeDocument/2006/relationships/notesMaster" Target="/ppt/notesMasters/notesMaster1.xml" Id="R0afe82d8570947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2ea82010c74c74" /><Relationship Type="http://schemas.openxmlformats.org/officeDocument/2006/relationships/notesMaster" Target="/ppt/notesMasters/notesMaster1.xml" Id="Rc53a553e3d1341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2a5510720649c5" /><Relationship Type="http://schemas.openxmlformats.org/officeDocument/2006/relationships/notesMaster" Target="/ppt/notesMasters/notesMaster1.xml" Id="Raf73b650fdff44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a4555e8d33481d" /><Relationship Type="http://schemas.openxmlformats.org/officeDocument/2006/relationships/notesMaster" Target="/ppt/notesMasters/notesMaster1.xml" Id="R93e8e2a79cd249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cd2cbf4c884256" /><Relationship Type="http://schemas.openxmlformats.org/officeDocument/2006/relationships/notesMaster" Target="/ppt/notesMasters/notesMaster1.xml" Id="R9dae7e78a5e04c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41b56ed36a4462" /><Relationship Type="http://schemas.openxmlformats.org/officeDocument/2006/relationships/notesMaster" Target="/ppt/notesMasters/notesMaster1.xml" Id="R32b2bd5dbc9147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51d06352d6466b" /><Relationship Type="http://schemas.openxmlformats.org/officeDocument/2006/relationships/notesMaster" Target="/ppt/notesMasters/notesMaster1.xml" Id="R3b213af221ea4c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7e2b23f3b04855" /><Relationship Type="http://schemas.openxmlformats.org/officeDocument/2006/relationships/notesMaster" Target="/ppt/notesMasters/notesMaster1.xml" Id="R3b356a664f1649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332c8e467e4b6b" /><Relationship Type="http://schemas.openxmlformats.org/officeDocument/2006/relationships/notesMaster" Target="/ppt/notesMasters/notesMaster1.xml" Id="Rb9a8e1980af94e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14a5d3135642e3" /><Relationship Type="http://schemas.openxmlformats.org/officeDocument/2006/relationships/notesMaster" Target="/ppt/notesMasters/notesMaster1.xml" Id="R0c536c3fcb5e4c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0f3601cf2d4087" /><Relationship Type="http://schemas.openxmlformats.org/officeDocument/2006/relationships/notesMaster" Target="/ppt/notesMasters/notesMaster1.xml" Id="R82226fe5f06648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54874f0a2a450f" /><Relationship Type="http://schemas.openxmlformats.org/officeDocument/2006/relationships/notesMaster" Target="/ppt/notesMasters/notesMaster1.xml" Id="R954cabc7ee2f45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08e50e15284da4" /><Relationship Type="http://schemas.openxmlformats.org/officeDocument/2006/relationships/notesMaster" Target="/ppt/notesMasters/notesMaster1.xml" Id="R52b1f376efae4e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0fedd7df8845ef" /><Relationship Type="http://schemas.openxmlformats.org/officeDocument/2006/relationships/notesMaster" Target="/ppt/notesMasters/notesMaster1.xml" Id="Rf35cd136cf3948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d98eb34b8c42fa" /><Relationship Type="http://schemas.openxmlformats.org/officeDocument/2006/relationships/notesMaster" Target="/ppt/notesMasters/notesMaster1.xml" Id="Ra4ee4d078f944f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bf1e834d0347a8" /><Relationship Type="http://schemas.openxmlformats.org/officeDocument/2006/relationships/notesMaster" Target="/ppt/notesMasters/notesMaster1.xml" Id="R779fdaf10b0147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837a2bb1bd47c4" /><Relationship Type="http://schemas.openxmlformats.org/officeDocument/2006/relationships/notesMaster" Target="/ppt/notesMasters/notesMaster1.xml" Id="R001bc5057b6849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deeeb05867425b" /><Relationship Type="http://schemas.openxmlformats.org/officeDocument/2006/relationships/notesMaster" Target="/ppt/notesMasters/notesMaster1.xml" Id="Rc599e165d0b64b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a8fe56f09c485e" /><Relationship Type="http://schemas.openxmlformats.org/officeDocument/2006/relationships/notesMaster" Target="/ppt/notesMasters/notesMaster1.xml" Id="Re787b69f183e44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42820441e542fa" /><Relationship Type="http://schemas.openxmlformats.org/officeDocument/2006/relationships/notesMaster" Target="/ppt/notesMasters/notesMaster1.xml" Id="Rc5d3a074b61f428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b394ace611c4087" /><Relationship Type="http://schemas.openxmlformats.org/officeDocument/2006/relationships/notesMaster" Target="/ppt/notesMasters/notesMaster1.xml" Id="R3f67e4578581465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54451584ff4641" /><Relationship Type="http://schemas.openxmlformats.org/officeDocument/2006/relationships/notesMaster" Target="/ppt/notesMasters/notesMaster1.xml" Id="Rd0c77e8bd1c348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ee641ee357e40de" /><Relationship Type="http://schemas.openxmlformats.org/officeDocument/2006/relationships/notesMaster" Target="/ppt/notesMasters/notesMaster1.xml" Id="Red57b1a482e7494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5cbc82f916d4269" /><Relationship Type="http://schemas.openxmlformats.org/officeDocument/2006/relationships/notesMaster" Target="/ppt/notesMasters/notesMaster1.xml" Id="R44d7aa6d7da8469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e600a1da66c4d08" /><Relationship Type="http://schemas.openxmlformats.org/officeDocument/2006/relationships/notesMaster" Target="/ppt/notesMasters/notesMaster1.xml" Id="R9e156de488b140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65f3fbcbfe34f88" /><Relationship Type="http://schemas.openxmlformats.org/officeDocument/2006/relationships/notesMaster" Target="/ppt/notesMasters/notesMaster1.xml" Id="R6700521bbb53459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c565a17872a4067" /><Relationship Type="http://schemas.openxmlformats.org/officeDocument/2006/relationships/notesMaster" Target="/ppt/notesMasters/notesMaster1.xml" Id="R1aff1460c1ca410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83e13b8f48f49fc" /><Relationship Type="http://schemas.openxmlformats.org/officeDocument/2006/relationships/notesMaster" Target="/ppt/notesMasters/notesMaster1.xml" Id="R2dc9073983e145b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3cdde4bbf3d45bb" /><Relationship Type="http://schemas.openxmlformats.org/officeDocument/2006/relationships/notesMaster" Target="/ppt/notesMasters/notesMaster1.xml" Id="Re12351ee1ce64c9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e84ebd315644e01" /><Relationship Type="http://schemas.openxmlformats.org/officeDocument/2006/relationships/notesMaster" Target="/ppt/notesMasters/notesMaster1.xml" Id="R63afd8964ef6451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95d5f407e334cbe" /><Relationship Type="http://schemas.openxmlformats.org/officeDocument/2006/relationships/notesMaster" Target="/ppt/notesMasters/notesMaster1.xml" Id="Rb76b499e4a644b6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64ec22e030146e2" /><Relationship Type="http://schemas.openxmlformats.org/officeDocument/2006/relationships/notesMaster" Target="/ppt/notesMasters/notesMaster1.xml" Id="R9cdad8adccff4fb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ab3de972cfa453a" /><Relationship Type="http://schemas.openxmlformats.org/officeDocument/2006/relationships/notesMaster" Target="/ppt/notesMasters/notesMaster1.xml" Id="R32b577ff09144d8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fc7a284636d4ddd" /><Relationship Type="http://schemas.openxmlformats.org/officeDocument/2006/relationships/notesMaster" Target="/ppt/notesMasters/notesMaster1.xml" Id="R5ba45774dc6e493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e81105921024e56" /><Relationship Type="http://schemas.openxmlformats.org/officeDocument/2006/relationships/notesMaster" Target="/ppt/notesMasters/notesMaster1.xml" Id="R50aa194bdc0e4e3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ef55c81d1ac401b" /><Relationship Type="http://schemas.openxmlformats.org/officeDocument/2006/relationships/notesMaster" Target="/ppt/notesMasters/notesMaster1.xml" Id="Rda4d60be5c844c3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e6cd6c213a44e19" /><Relationship Type="http://schemas.openxmlformats.org/officeDocument/2006/relationships/notesMaster" Target="/ppt/notesMasters/notesMaster1.xml" Id="Rb42cd1ebd5fa461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42b8d0c6da34c2b" /><Relationship Type="http://schemas.openxmlformats.org/officeDocument/2006/relationships/notesMaster" Target="/ppt/notesMasters/notesMaster1.xml" Id="R45cd04c99e52455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5b3437263ba4d83" /><Relationship Type="http://schemas.openxmlformats.org/officeDocument/2006/relationships/notesMaster" Target="/ppt/notesMasters/notesMaster1.xml" Id="Rc569d8148704446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55f3c2b3d1e4cb3" /><Relationship Type="http://schemas.openxmlformats.org/officeDocument/2006/relationships/notesMaster" Target="/ppt/notesMasters/notesMaster1.xml" Id="Rf81cf7f05a234e8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b1b975700e644d0" /><Relationship Type="http://schemas.openxmlformats.org/officeDocument/2006/relationships/notesMaster" Target="/ppt/notesMasters/notesMaster1.xml" Id="Rbc0df61c44f844e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26c2bd321e24518" /><Relationship Type="http://schemas.openxmlformats.org/officeDocument/2006/relationships/notesMaster" Target="/ppt/notesMasters/notesMaster1.xml" Id="Rdb768b0c990d458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8c8d27f399840fe" /><Relationship Type="http://schemas.openxmlformats.org/officeDocument/2006/relationships/notesMaster" Target="/ppt/notesMasters/notesMaster1.xml" Id="R3e25e9a41e5244a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4ad0a031e6b4812" /><Relationship Type="http://schemas.openxmlformats.org/officeDocument/2006/relationships/notesMaster" Target="/ppt/notesMasters/notesMaster1.xml" Id="R33ef3b5b39ce4de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2118574a518494b" /><Relationship Type="http://schemas.openxmlformats.org/officeDocument/2006/relationships/notesMaster" Target="/ppt/notesMasters/notesMaster1.xml" Id="Rc40b4965b985482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c7d7537799845f4" /><Relationship Type="http://schemas.openxmlformats.org/officeDocument/2006/relationships/notesMaster" Target="/ppt/notesMasters/notesMaster1.xml" Id="R675b07b05f874f9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7236c8d8fac4d09" /><Relationship Type="http://schemas.openxmlformats.org/officeDocument/2006/relationships/notesMaster" Target="/ppt/notesMasters/notesMaster1.xml" Id="R6174ffe953d9430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6bcd27e04614192" /><Relationship Type="http://schemas.openxmlformats.org/officeDocument/2006/relationships/notesMaster" Target="/ppt/notesMasters/notesMaster1.xml" Id="R8f857226fe734a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{"XGBoost": {"ROC_AUC": 0.7579147580767804, "Accuracy": 0.9195974180121295, "Precision": 0.5581395348837209, "Recall": 0.01933534743202417, "F1": 0.03737590033093245, "LogLoss": 0.2459821254014969}, "XGBoost (tuned)": {"ROC_AUC": 0.7564511362337308, "Accuracy": 0.9197437523372843, "Precision": 0.6178861788617886, "Recall": 0.015307150050352467, "F1": 0.029874213836477988, "LogLoss": 0.24639832973480225}, "LightGBM (tuned)": {"ROC_AUC": 0.7561654707220948, "Accuracy": 0.9195161211648212, "Precision": 0.5609756097560976, "Recall": 0.013897280966767372, "F1": 0.027122641509433963, "LogLoss": 0.24652489334646221}, "LightGBM": {"ROC_AUC": 0.7559431104932519, "Accuracy": 0.919662455489976, "Precision": 0.5681818181818182, "Recall": 0.02014098690835851, "F1": 0.03890293717175647, "LogLoss": 0.2464248869516287}, "CatBoost": {"ROC_AUC": 0.7558497440625537, "Accuracy": 0.9196136773815912, "Precision": 0.5801526717557252, "Recall": 0.015307150050352467, "F1": 0.029827315541601257, "LogLoss": 0.24666543693439086}, "CatBoost (tuned)": {"ROC_AUC": 0.7558497440625537, "Accuracy": 0.9196136773815912, "Precision": 0.5801526717557252, "Recall": 0.015307150050352467, "F1": 0.029827315541601257, "LogLoss": 0.24666543693439086}, "Stacking": {"ROC_AUC": 0.7531354416712381, "Accuracy": 0.919060858819895, "Precision": 0.4883720930232558, "Recall": 0.05498489425981873, "F1": 0.09884141926140477, "LogLoss": 0.25036744221350404}, "LogisticRegression": {"ROC_AUC": 0.7459082586560414, "Accuracy": 0.9194673430564363, "Precision": 0.5576923076923077, "Recall": 0.011681772406847936, "F1": 0.02288419806667982, "LogLoss": 0.24963839883446673}, "LogReg (L1)": {"ROC_AUC": 0.7442854945886193, "Accuracy": 0.9194023055785897, "Precision": 0.5444444444444444, "Recall": 0.00986908358509567, "F1": 0.019386745796241344, "LogLoss": 0.250159537246833}, "MLP": {"ROC_AUC": 0.7431767179054543, "Accuracy": 0.9191584150366648, "Precision": 0.4567901234567901, "Recall": 0.0074521651560926485, "F1": 0.01466508125247721, "LogLoss": 0.2526334681582281}, "MLP (tuned)": {"ROC_AUC": 0.7399530663493014, "Accuracy": 0.9186706339528153, "Precision": 0.4359861591695502, "Recall": 0.025377643504531724, "F1": 0.04796345641416064, "LogLoss": 0.25319293027799367}, "RandomForest (tuned)": {"ROC_AUC": 0.7394335537128786, "Accuracy": 0.9192722306228964, "Precision": 0.0, "Recall": 0.0, "F1": 0.0, "LogLoss": 0.25566439244498473}, "LogReg (ElasticNet)": {"ROC_AUC": 0.7370269163140176, "Accuracy": 0.9191909337755881, "Precision": 0.45614035087719296, "Recall": 0.0052366565961732125, "F1": 0.010354440461967344, "LogLoss": 0.2523408216964693}, "RandomForest": {"ROC_AUC": 0.7313019446287086, "Accuracy": 0.9192884899923581, "Precision": 1.0, "Recall": 0.0002014098690835851, "F1": 0.0004027386226339106, "LogLoss": 0.2536532058295237}, "LogReg (L2)": {"ROC_AUC": 0.728896744650382, "Accuracy": 0.9192071931450498, "Precision": 0.43333333333333335, "Recall": 0.0026183282980866062, "F1": 0.005205205205205205, "LogLoss": 0.25480006924541143}, "KNN": {"ROC_AUC": 0.6415521583982569, "Accuracy": 0.9191258962977416, "Precision": 0.38461538461538464, "Recall": 0.0030211480362537764, "F1": 0.005995203836930456, "LogLoss": 0.8148754352999926}, "KNN (tuned)": {"ROC_AUC": 0.6415521583982569, "Accuracy": 0.9191258962977416, "Precision": 0.38461538461538464, "Recall": 0.0030211480362537764, "F1": 0.005995203836930456, "LogLoss": 0.8148754352999926}}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Notebook cell ID: b027d54e.</a:t>
            </a:r>
          </a:p>
          <a:p xmlns:a="http://schemas.openxmlformats.org/drawingml/2006/main">
            <a:r>
              <a:t>Figure: figures/notebook/home_credit/cell_008_figure_1.png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Base models: fitted reference configurations, each cloned and refitted by StackingRegressor/Classifier. cv=2. Meta-model: LogisticRegression(C=1.0, max_iter=2000).</a:t>
            </a:r>
          </a:p>
          <a:p xmlns:a="http://schemas.openxmlformats.org/drawingml/2006/main">
            <a:r>
              <a:t>https://scikit-learn.org/stable/modules/ensemble.html#stacking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Figure: figures/home_credit/comparison.png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paired stratified row bootstrap. 1,000 paired resamples. Fitted models remain fixed.</a:t>
            </a:r>
          </a:p>
          <a:p xmlns:a="http://schemas.openxmlformats.org/drawingml/2006/main">
            <a:r>
              <a:t>[{"comparison": "XGBoost versus LightGBM (tuned)", "other": "LightGBM (tuned)", "advantage": 0.0017492873546856025, "ci_low": 0.00029312994563071847, "ci_high": 0.0032169645226443025}, {"comparison": "XGBoost versus Reference logistic", "other": "Reference logistic", "advantage": 0.012006499420739059, "ci_low": 0.009128066581746605, "ci_high": 0.014983527997835028}]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Figure: figures/home_credit/ranking_stability.png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Notebook cell ID: d6eb51ba.</a:t>
            </a:r>
          </a:p>
          <a:p xmlns:a="http://schemas.openxmlformats.org/drawingml/2006/main">
            <a:r>
              <a:t>Figure: figures/notebook/home_credit/cell_040_figure_1.png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Diagnostics use XGBoost predictions.</a:t>
            </a:r>
          </a:p>
          <a:p xmlns:a="http://schemas.openxmlformats.org/drawingml/2006/main">
            <a:r>
              <a:t>Figure: figures/home_credit/pr_calibration.png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Diagnostics use XGBoost predictions.</a:t>
            </a:r>
          </a:p>
          <a:p xmlns:a="http://schemas.openxmlformats.org/drawingml/2006/main">
            <a:r>
              <a:t>Figure: figures/home_credit/review_capacity.png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{"XGBoost": {"ROC_AUC": 0.7579147580767804, "Accuracy": 0.9195974180121295, "Precision": 0.5581395348837209, "Recall": 0.01933534743202417, "F1": 0.03737590033093245, "LogLoss": 0.2459821254014969}, "XGBoost (tuned)": {"ROC_AUC": 0.7564511362337308, "Accuracy": 0.9197437523372843, "Precision": 0.6178861788617886, "Recall": 0.015307150050352467, "F1": 0.029874213836477988, "LogLoss": 0.24639832973480225}, "LightGBM (tuned)": {"ROC_AUC": 0.7561654707220948, "Accuracy": 0.9195161211648212, "Precision": 0.5609756097560976, "Recall": 0.013897280966767372, "F1": 0.027122641509433963, "LogLoss": 0.24652489334646221}, "LightGBM": {"ROC_AUC": 0.7559431104932519, "Accuracy": 0.919662455489976, "Precision": 0.5681818181818182, "Recall": 0.02014098690835851, "F1": 0.03890293717175647, "LogLoss": 0.2464248869516287}, "CatBoost": {"ROC_AUC": 0.7558497440625537, "Accuracy": 0.9196136773815912, "Precision": 0.5801526717557252, "Recall": 0.015307150050352467, "F1": 0.029827315541601257, "LogLoss": 0.24666543693439086}, "CatBoost (tuned)": {"ROC_AUC": 0.7558497440625537, "Accuracy": 0.9196136773815912, "Precision": 0.5801526717557252, "Recall": 0.015307150050352467, "F1": 0.029827315541601257, "LogLoss": 0.24666543693439086}, "Stacking": {"ROC_AUC": 0.7531354416712381, "Accuracy": 0.919060858819895, "Precision": 0.4883720930232558, "Recall": 0.05498489425981873, "F1": 0.09884141926140477, "LogLoss": 0.25036744221350404}, "LogisticRegression": {"ROC_AUC": 0.7459082586560414, "Accuracy": 0.9194673430564363, "Precision": 0.5576923076923077, "Recall": 0.011681772406847936, "F1": 0.02288419806667982, "LogLoss": 0.24963839883446673}, "LogReg (L1)": {"ROC_AUC": 0.7442854945886193, "Accuracy": 0.9194023055785897, "Precision": 0.5444444444444444, "Recall": 0.00986908358509567, "F1": 0.019386745796241344, "LogLoss": 0.250159537246833}, "MLP": {"ROC_AUC": 0.7431767179054543, "Accuracy": 0.9191584150366648, "Precision": 0.4567901234567901, "Recall": 0.0074521651560926485, "F1": 0.01466508125247721, "LogLoss": 0.2526334681582281}, "MLP (tuned)": {"ROC_AUC": 0.7399530663493014, "Accuracy": 0.9186706339528153, "Precision": 0.4359861591695502, "Recall": 0.025377643504531724, "F1": 0.04796345641416064, "LogLoss": 0.25319293027799367}, "RandomForest (tuned)": {"ROC_AUC": 0.7394335537128786, "Accuracy": 0.9192722306228964, "Precision": 0.0, "Recall": 0.0, "F1": 0.0, "LogLoss": 0.25566439244498473}, "LogReg (ElasticNet)": {"ROC_AUC": 0.7370269163140176, "Accuracy": 0.9191909337755881, "Precision": 0.45614035087719296, "Recall": 0.0052366565961732125, "F1": 0.010354440461967344, "LogLoss": 0.2523408216964693}, "RandomForest": {"ROC_AUC": 0.7313019446287086, "Accuracy": 0.9192884899923581, "Precision": 1.0, "Recall": 0.0002014098690835851, "F1": 0.0004027386226339106, "LogLoss": 0.2536532058295237}, "LogReg (L2)": {"ROC_AUC": 0.728896744650382, "Accuracy": 0.9192071931450498, "Precision": 0.43333333333333335, "Recall": 0.0026183282980866062, "F1": 0.005205205205205205, "LogLoss": 0.25480006924541143}, "KNN": {"ROC_AUC": 0.6415521583982569, "Accuracy": 0.9191258962977416, "Precision": 0.38461538461538464, "Recall": 0.0030211480362537764, "F1": 0.005995203836930456, "LogLoss": 0.8148754352999926}, "KNN (tuned)": {"ROC_AUC": 0.6415521583982569, "Accuracy": 0.9191258962977416, "Precision": 0.38461538461538464, "Recall": 0.0030211480362537764, "F1": 0.005995203836930456, "LogLoss": 0.8148754352999926}}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{"XGBoost": {"ROC_AUC": 0.7579147580767804, "Accuracy": 0.9195974180121295, "Precision": 0.5581395348837209, "Recall": 0.01933534743202417, "F1": 0.03737590033093245, "LogLoss": 0.2459821254014969}, "XGBoost (tuned)": {"ROC_AUC": 0.7564511362337308, "Accuracy": 0.9197437523372843, "Precision": 0.6178861788617886, "Recall": 0.015307150050352467, "F1": 0.029874213836477988, "LogLoss": 0.24639832973480225}, "LightGBM (tuned)": {"ROC_AUC": 0.7561654707220948, "Accuracy": 0.9195161211648212, "Precision": 0.5609756097560976, "Recall": 0.013897280966767372, "F1": 0.027122641509433963, "LogLoss": 0.24652489334646221}, "LightGBM": {"ROC_AUC": 0.7559431104932519, "Accuracy": 0.919662455489976, "Precision": 0.5681818181818182, "Recall": 0.02014098690835851, "F1": 0.03890293717175647, "LogLoss": 0.2464248869516287}, "CatBoost": {"ROC_AUC": 0.7558497440625537, "Accuracy": 0.9196136773815912, "Precision": 0.5801526717557252, "Recall": 0.015307150050352467, "F1": 0.029827315541601257, "LogLoss": 0.24666543693439086}, "CatBoost (tuned)": {"ROC_AUC": 0.7558497440625537, "Accuracy": 0.9196136773815912, "Precision": 0.5801526717557252, "Recall": 0.015307150050352467, "F1": 0.029827315541601257, "LogLoss": 0.24666543693439086}, "Stacking": {"ROC_AUC": 0.7531354416712381, "Accuracy": 0.919060858819895, "Precision": 0.4883720930232558, "Recall": 0.05498489425981873, "F1": 0.09884141926140477, "LogLoss": 0.25036744221350404}, "LogisticRegression": {"ROC_AUC": 0.7459082586560414, "Accuracy": 0.9194673430564363, "Precision": 0.5576923076923077, "Recall": 0.011681772406847936, "F1": 0.02288419806667982, "LogLoss": 0.24963839883446673}, "LogReg (L1)": {"ROC_AUC": 0.7442854945886193, "Accuracy": 0.9194023055785897, "Precision": 0.5444444444444444, "Recall": 0.00986908358509567, "F1": 0.019386745796241344, "LogLoss": 0.250159537246833}, "MLP": {"ROC_AUC": 0.7431767179054543, "Accuracy": 0.9191584150366648, "Precision": 0.4567901234567901, "Recall": 0.0074521651560926485, "F1": 0.01466508125247721, "LogLoss": 0.2526334681582281}, "MLP (tuned)": {"ROC_AUC": 0.7399530663493014, "Accuracy": 0.9186706339528153, "Precision": 0.4359861591695502, "Recall": 0.025377643504531724, "F1": 0.04796345641416064, "LogLoss": 0.25319293027799367}, "RandomForest (tuned)": {"ROC_AUC": 0.7394335537128786, "Accuracy": 0.9192722306228964, "Precision": 0.0, "Recall": 0.0, "F1": 0.0, "LogLoss": 0.25566439244498473}, "LogReg (ElasticNet)": {"ROC_AUC": 0.7370269163140176, "Accuracy": 0.9191909337755881, "Precision": 0.45614035087719296, "Recall": 0.0052366565961732125, "F1": 0.010354440461967344, "LogLoss": 0.2523408216964693}, "RandomForest": {"ROC_AUC": 0.7313019446287086, "Accuracy": 0.9192884899923581, "Precision": 1.0, "Recall": 0.0002014098690835851, "F1": 0.0004027386226339106, "LogLoss": 0.2536532058295237}, "LogReg (L2)": {"ROC_AUC": 0.728896744650382, "Accuracy": 0.9192071931450498, "Precision": 0.43333333333333335, "Recall": 0.0026183282980866062, "F1": 0.005205205205205205, "LogLoss": 0.25480006924541143}, "KNN": {"ROC_AUC": 0.6415521583982569, "Accuracy": 0.9191258962977416, "Precision": 0.38461538461538464, "Recall": 0.0030211480362537764, "F1": 0.005995203836930456, "LogLoss": 0.8148754352999926}, "KNN (tuned)": {"ROC_AUC": 0.6415521583982569, "Accuracy": 0.9191258962977416, "Precision": 0.38461538461538464, "Recall": 0.0030211480362537764, "F1": 0.005995203836930456, "LogLoss": 0.8148754352999926}}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{"XGBoost": {"ROC_AUC": 0.7579147580767804, "Accuracy": 0.9195974180121295, "Precision": 0.5581395348837209, "Recall": 0.01933534743202417, "F1": 0.03737590033093245, "LogLoss": 0.2459821254014969}, "XGBoost (tuned)": {"ROC_AUC": 0.7564511362337308, "Accuracy": 0.9197437523372843, "Precision": 0.6178861788617886, "Recall": 0.015307150050352467, "F1": 0.029874213836477988, "LogLoss": 0.24639832973480225}, "LightGBM (tuned)": {"ROC_AUC": 0.7561654707220948, "Accuracy": 0.9195161211648212, "Precision": 0.5609756097560976, "Recall": 0.013897280966767372, "F1": 0.027122641509433963, "LogLoss": 0.24652489334646221}, "LightGBM": {"ROC_AUC": 0.7559431104932519, "Accuracy": 0.919662455489976, "Precision": 0.5681818181818182, "Recall": 0.02014098690835851, "F1": 0.03890293717175647, "LogLoss": 0.2464248869516287}, "CatBoost": {"ROC_AUC": 0.7558497440625537, "Accuracy": 0.9196136773815912, "Precision": 0.5801526717557252, "Recall": 0.015307150050352467, "F1": 0.029827315541601257, "LogLoss": 0.24666543693439086}, "CatBoost (tuned)": {"ROC_AUC": 0.7558497440625537, "Accuracy": 0.9196136773815912, "Precision": 0.5801526717557252, "Recall": 0.015307150050352467, "F1": 0.029827315541601257, "LogLoss": 0.24666543693439086}, "Stacking": {"ROC_AUC": 0.7531354416712381, "Accuracy": 0.919060858819895, "Precision": 0.4883720930232558, "Recall": 0.05498489425981873, "F1": 0.09884141926140477, "LogLoss": 0.25036744221350404}, "LogisticRegression": {"ROC_AUC": 0.7459082586560414, "Accuracy": 0.9194673430564363, "Precision": 0.5576923076923077, "Recall": 0.011681772406847936, "F1": 0.02288419806667982, "LogLoss": 0.24963839883446673}, "LogReg (L1)": {"ROC_AUC": 0.7442854945886193, "Accuracy": 0.9194023055785897, "Precision": 0.5444444444444444, "Recall": 0.00986908358509567, "F1": 0.019386745796241344, "LogLoss": 0.250159537246833}, "MLP": {"ROC_AUC": 0.7431767179054543, "Accuracy": 0.9191584150366648, "Precision": 0.4567901234567901, "Recall": 0.0074521651560926485, "F1": 0.01466508125247721, "LogLoss": 0.2526334681582281}, "MLP (tuned)": {"ROC_AUC": 0.7399530663493014, "Accuracy": 0.9186706339528153, "Precision": 0.4359861591695502, "Recall": 0.025377643504531724, "F1": 0.04796345641416064, "LogLoss": 0.25319293027799367}, "RandomForest (tuned)": {"ROC_AUC": 0.7394335537128786, "Accuracy": 0.9192722306228964, "Precision": 0.0, "Recall": 0.0, "F1": 0.0, "LogLoss": 0.25566439244498473}, "LogReg (ElasticNet)": {"ROC_AUC": 0.7370269163140176, "Accuracy": 0.9191909337755881, "Precision": 0.45614035087719296, "Recall": 0.0052366565961732125, "F1": 0.010354440461967344, "LogLoss": 0.2523408216964693}, "RandomForest": {"ROC_AUC": 0.7313019446287086, "Accuracy": 0.9192884899923581, "Precision": 1.0, "Recall": 0.0002014098690835851, "F1": 0.0004027386226339106, "LogLoss": 0.2536532058295237}, "LogReg (L2)": {"ROC_AUC": 0.728896744650382, "Accuracy": 0.9192071931450498, "Precision": 0.43333333333333335, "Recall": 0.0026183282980866062, "F1": 0.005205205205205205, "LogLoss": 0.25480006924541143}, "KNN": {"ROC_AUC": 0.6415521583982569, "Accuracy": 0.9191258962977416, "Precision": 0.38461538461538464, "Recall": 0.0030211480362537764, "F1": 0.005995203836930456, "LogLoss": 0.8148754352999926}, "KNN (tuned)": {"ROC_AUC": 0.6415521583982569, "Accuracy": 0.9191258962977416, "Precision": 0.38461538461538464, "Recall": 0.0030211480362537764, "F1": 0.005995203836930456, "LogLoss": 0.8148754352999926}}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Notebook cell ID: 4e19cadd.</a:t>
            </a:r>
          </a:p>
          <a:p xmlns:a="http://schemas.openxmlformats.org/drawingml/2006/main">
            <a:r>
              <a:t>Figure: figures/notebook/home_credit/cell_015_figure_1.png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Notebook cell ID: 021f82a7.</a:t>
            </a:r>
          </a:p>
          <a:p xmlns:a="http://schemas.openxmlformats.org/drawingml/2006/main">
            <a:r>
              <a:t>Figure: figures/notebook/home_credit/cell_028_figure_1.png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Notebook cell ID: 4939b918.</a:t>
            </a:r>
          </a:p>
          <a:p xmlns:a="http://schemas.openxmlformats.org/drawingml/2006/main">
            <a:r>
              <a:t>Figure: figures/notebook/home_credit/cell_034_figure_1.png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Notebook cell ID: b13cf0b4.</a:t>
            </a:r>
          </a:p>
          <a:p xmlns:a="http://schemas.openxmlformats.org/drawingml/2006/main">
            <a:r>
              <a:t>Figure: figures/notebook/home_credit/cell_046_figure_1.png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Notebook cell ID: f4f2fe5a.</a:t>
            </a:r>
          </a:p>
          <a:p xmlns:a="http://schemas.openxmlformats.org/drawingml/2006/main">
            <a:r>
              <a:t>Figure: figures/notebook/home_credit/cell_052_figure_1.png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Notebook cell ID: f8f3bb07.</a:t>
            </a:r>
          </a:p>
          <a:p xmlns:a="http://schemas.openxmlformats.org/drawingml/2006/main">
            <a:r>
              <a:t>Figure: figures/notebook/home_credit/cell_059_figure_1.png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Notebook cell ID: eb52f45a.</a:t>
            </a:r>
          </a:p>
          <a:p xmlns:a="http://schemas.openxmlformats.org/drawingml/2006/main">
            <a:r>
              <a:t>Figure: figures/notebook/home_credit/cell_058_figure_1.png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{"XGBoost": {"ROC_AUC": 0.7579147580767804, "Accuracy": 0.9195974180121295, "Precision": 0.5581395348837209, "Recall": 0.01933534743202417, "F1": 0.03737590033093245, "LogLoss": 0.2459821254014969}, "XGBoost (tuned)": {"ROC_AUC": 0.7564511362337308, "Accuracy": 0.9197437523372843, "Precision": 0.6178861788617886, "Recall": 0.015307150050352467, "F1": 0.029874213836477988, "LogLoss": 0.24639832973480225}, "LightGBM (tuned)": {"ROC_AUC": 0.7561654707220948, "Accuracy": 0.9195161211648212, "Precision": 0.5609756097560976, "Recall": 0.013897280966767372, "F1": 0.027122641509433963, "LogLoss": 0.24652489334646221}, "LightGBM": {"ROC_AUC": 0.7559431104932519, "Accuracy": 0.919662455489976, "Precision": 0.5681818181818182, "Recall": 0.02014098690835851, "F1": 0.03890293717175647, "LogLoss": 0.2464248869516287}, "CatBoost": {"ROC_AUC": 0.7558497440625537, "Accuracy": 0.9196136773815912, "Precision": 0.5801526717557252, "Recall": 0.015307150050352467, "F1": 0.029827315541601257, "LogLoss": 0.24666543693439086}, "CatBoost (tuned)": {"ROC_AUC": 0.7558497440625537, "Accuracy": 0.9196136773815912, "Precision": 0.5801526717557252, "Recall": 0.015307150050352467, "F1": 0.029827315541601257, "LogLoss": 0.24666543693439086}, "Stacking": {"ROC_AUC": 0.7531354416712381, "Accuracy": 0.919060858819895, "Precision": 0.4883720930232558, "Recall": 0.05498489425981873, "F1": 0.09884141926140477, "LogLoss": 0.25036744221350404}, "LogisticRegression": {"ROC_AUC": 0.7459082586560414, "Accuracy": 0.9194673430564363, "Precision": 0.5576923076923077, "Recall": 0.011681772406847936, "F1": 0.02288419806667982, "LogLoss": 0.24963839883446673}, "LogReg (L1)": {"ROC_AUC": 0.7442854945886193, "Accuracy": 0.9194023055785897, "Precision": 0.5444444444444444, "Recall": 0.00986908358509567, "F1": 0.019386745796241344, "LogLoss": 0.250159537246833}, "MLP": {"ROC_AUC": 0.7431767179054543, "Accuracy": 0.9191584150366648, "Precision": 0.4567901234567901, "Recall": 0.0074521651560926485, "F1": 0.01466508125247721, "LogLoss": 0.2526334681582281}, "MLP (tuned)": {"ROC_AUC": 0.7399530663493014, "Accuracy": 0.9186706339528153, "Precision": 0.4359861591695502, "Recall": 0.025377643504531724, "F1": 0.04796345641416064, "LogLoss": 0.25319293027799367}, "RandomForest (tuned)": {"ROC_AUC": 0.7394335537128786, "Accuracy": 0.9192722306228964, "Precision": 0.0, "Recall": 0.0, "F1": 0.0, "LogLoss": 0.25566439244498473}, "LogReg (ElasticNet)": {"ROC_AUC": 0.7370269163140176, "Accuracy": 0.9191909337755881, "Precision": 0.45614035087719296, "Recall": 0.0052366565961732125, "F1": 0.010354440461967344, "LogLoss": 0.2523408216964693}, "RandomForest": {"ROC_AUC": 0.7313019446287086, "Accuracy": 0.9192884899923581, "Precision": 1.0, "Recall": 0.0002014098690835851, "F1": 0.0004027386226339106, "LogLoss": 0.2536532058295237}, "LogReg (L2)": {"ROC_AUC": 0.728896744650382, "Accuracy": 0.9192071931450498, "Precision": 0.43333333333333335, "Recall": 0.0026183282980866062, "F1": 0.005205205205205205, "LogLoss": 0.25480006924541143}, "KNN": {"ROC_AUC": 0.6415521583982569, "Accuracy": 0.9191258962977416, "Precision": 0.38461538461538464, "Recall": 0.0030211480362537764, "F1": 0.005995203836930456, "LogLoss": 0.8148754352999926}, "KNN (tuned)": {"ROC_AUC": 0.6415521583982569, "Accuracy": 0.9191258962977416, "Precision": 0.38461538461538464, "Recall": 0.0030211480362537764, "F1": 0.005995203836930456, "LogLoss": 0.8148754352999926}}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  <a:p xmlns:a="http://schemas.openxmlformats.org/drawingml/2006/main">
            <a:r>
              <a:t>{"XGBoost": {"ROC_AUC": 0.7579147580767804, "Accuracy": 0.9195974180121295, "Precision": 0.5581395348837209, "Recall": 0.01933534743202417, "F1": 0.03737590033093245, "LogLoss": 0.2459821254014969}, "XGBoost (tuned)": {"ROC_AUC": 0.7564511362337308, "Accuracy": 0.9197437523372843, "Precision": 0.6178861788617886, "Recall": 0.015307150050352467, "F1": 0.029874213836477988, "LogLoss": 0.24639832973480225}, "LightGBM (tuned)": {"ROC_AUC": 0.7561654707220948, "Accuracy": 0.9195161211648212, "Precision": 0.5609756097560976, "Recall": 0.013897280966767372, "F1": 0.027122641509433963, "LogLoss": 0.24652489334646221}, "LightGBM": {"ROC_AUC": 0.7559431104932519, "Accuracy": 0.919662455489976, "Precision": 0.5681818181818182, "Recall": 0.02014098690835851, "F1": 0.03890293717175647, "LogLoss": 0.2464248869516287}, "CatBoost": {"ROC_AUC": 0.7558497440625537, "Accuracy": 0.9196136773815912, "Precision": 0.5801526717557252, "Recall": 0.015307150050352467, "F1": 0.029827315541601257, "LogLoss": 0.24666543693439086}, "CatBoost (tuned)": {"ROC_AUC": 0.7558497440625537, "Accuracy": 0.9196136773815912, "Precision": 0.5801526717557252, "Recall": 0.015307150050352467, "F1": 0.029827315541601257, "LogLoss": 0.24666543693439086}, "Stacking": {"ROC_AUC": 0.7531354416712381, "Accuracy": 0.919060858819895, "Precision": 0.4883720930232558, "Recall": 0.05498489425981873, "F1": 0.09884141926140477, "LogLoss": 0.25036744221350404}, "LogisticRegression": {"ROC_AUC": 0.7459082586560414, "Accuracy": 0.9194673430564363, "Precision": 0.5576923076923077, "Recall": 0.011681772406847936, "F1": 0.02288419806667982, "LogLoss": 0.24963839883446673}, "LogReg (L1)": {"ROC_AUC": 0.7442854945886193, "Accuracy": 0.9194023055785897, "Precision": 0.5444444444444444, "Recall": 0.00986908358509567, "F1": 0.019386745796241344, "LogLoss": 0.250159537246833}, "MLP": {"ROC_AUC": 0.7431767179054543, "Accuracy": 0.9191584150366648, "Precision": 0.4567901234567901, "Recall": 0.0074521651560926485, "F1": 0.01466508125247721, "LogLoss": 0.2526334681582281}, "MLP (tuned)": {"ROC_AUC": 0.7399530663493014, "Accuracy": 0.9186706339528153, "Precision": 0.4359861591695502, "Recall": 0.025377643504531724, "F1": 0.04796345641416064, "LogLoss": 0.25319293027799367}, "RandomForest (tuned)": {"ROC_AUC": 0.7394335537128786, "Accuracy": 0.9192722306228964, "Precision": 0.0, "Recall": 0.0, "F1": 0.0, "LogLoss": 0.25566439244498473}, "LogReg (ElasticNet)": {"ROC_AUC": 0.7370269163140176, "Accuracy": 0.9191909337755881, "Precision": 0.45614035087719296, "Recall": 0.0052366565961732125, "F1": 0.010354440461967344, "LogLoss": 0.2523408216964693}, "RandomForest": {"ROC_AUC": 0.7313019446287086, "Accuracy": 0.9192884899923581, "Precision": 1.0, "Recall": 0.0002014098690835851, "F1": 0.0004027386226339106, "LogLoss": 0.2536532058295237}, "LogReg (L2)": {"ROC_AUC": 0.728896744650382, "Accuracy": 0.9192071931450498, "Precision": 0.43333333333333335, "Recall": 0.0026183282980866062, "F1": 0.005205205205205205, "LogLoss": 0.25480006924541143}, "KNN": {"ROC_AUC": 0.6415521583982569, "Accuracy": 0.9191258962977416, "Precision": 0.38461538461538464, "Recall": 0.0030211480362537764, "F1": 0.005995203836930456, "LogLoss": 0.8148754352999926}, "KNN (tuned)": {"ROC_AUC": 0.6415521583982569, "Accuracy": 0.9191258962977416, "Precision": 0.38461538461538464, "Recall": 0.0030211480362537764, "F1": 0.005995203836930456, "LogLoss": 0.8148754352999926}}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Seed 42. Stacking uses two ordinary folds. Penalized linear models test three strengths. See the notebook for all constructor arguments.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home_credit_tutorial.ipynb.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https://catboost.ai/docs/en/concepts/algorithm-main-stages_cat-to-numberic</a:t>
            </a:r>
          </a:p>
          <a:p xmlns:a="http://schemas.openxmlformats.org/drawingml/2006/main">
            <a:r>
              <a:t>https://lightgbm.readthedocs.io/en/stable/Features.html</a:t>
            </a:r>
          </a:p>
          <a:p xmlns:a="http://schemas.openxmlformats.org/drawingml/2006/main">
            <a:r>
              <a:t>https://www.statsmodels.org/stable/generated/statsmodels.tsa.statespace.sarimax.SARIMAX.html</a:t>
            </a:r>
          </a:p>
          <a:p xmlns:a="http://schemas.openxmlformats.org/drawingml/2006/main">
            <a:r>
              <a:t>Measured results: run_results/home_credit_tutorial/results.json.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6829f463e44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8c3fcac0547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56bb202354a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9042fd1584c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1707ace4c41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be8126f3e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84CE63-CEEE-4510-A387-C21717D051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6AD4B2-5964-4647-9B08-8B2F486E84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2BCA3B-ED7D-49D4-A1BE-FEF30102A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088453-DE59-4E1F-8E5A-344B6D5EEF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60679A-8A92-411C-94BB-5C9B9E5EDD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A86E2D-0869-4A92-8E6A-9933DB3E01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B6FAD8-E813-4FB4-AA06-1D259C8E03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499EA19-E0DE-4D90-B00F-3EC8CCBBB5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975035-0C2D-495F-8589-3CEA8F3937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840F36-F8B0-468D-8CF4-3728F69F5B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af6bc71f9b46e8" /><Relationship Type="http://schemas.openxmlformats.org/officeDocument/2006/relationships/slideLayout" Target="/ppt/slideLayouts/slideLayout1.xml" Id="R328be754cd024b82" /><Relationship Type="http://schemas.openxmlformats.org/officeDocument/2006/relationships/slideLayout" Target="/ppt/slideLayouts/slideLayout2.xml" Id="R99c7ca339d364265" /><Relationship Type="http://schemas.openxmlformats.org/officeDocument/2006/relationships/slideLayout" Target="/ppt/slideLayouts/slideLayout3.xml" Id="R5ab274ef15264be1" /><Relationship Type="http://schemas.openxmlformats.org/officeDocument/2006/relationships/slideLayout" Target="/ppt/slideLayouts/slideLayout4.xml" Id="R5b2af8fb760347d5" /><Relationship Type="http://schemas.openxmlformats.org/officeDocument/2006/relationships/slideLayout" Target="/ppt/slideLayouts/slideLayout5.xml" Id="R9090b354731e440c" /><Relationship Type="http://schemas.openxmlformats.org/officeDocument/2006/relationships/slideLayout" Target="/ppt/slideLayouts/slideLayout6.xml" Id="Ra93009e2360640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8be754cd024b82"/>
    <p:sldLayoutId xmlns:r="http://schemas.openxmlformats.org/officeDocument/2006/relationships" id="2147483650" r:id="R99c7ca339d364265"/>
    <p:sldLayoutId xmlns:r="http://schemas.openxmlformats.org/officeDocument/2006/relationships" id="2147483651" r:id="R5ab274ef15264be1"/>
    <p:sldLayoutId xmlns:r="http://schemas.openxmlformats.org/officeDocument/2006/relationships" id="2147483652" r:id="R5b2af8fb760347d5"/>
    <p:sldLayoutId xmlns:r="http://schemas.openxmlformats.org/officeDocument/2006/relationships" id="2147483653" r:id="R9090b354731e440c"/>
    <p:sldLayoutId xmlns:r="http://schemas.openxmlformats.org/officeDocument/2006/relationships" id="2147483654" r:id="Ra93009e2360640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61c889dd344f44" /><Relationship Type="http://schemas.openxmlformats.org/officeDocument/2006/relationships/notesSlide" Target="/ppt/notesSlides/notesSlide1.xml" Id="R6a8ce40ef60243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f43aad6aab426d" /><Relationship Type="http://schemas.openxmlformats.org/officeDocument/2006/relationships/notesSlide" Target="/ppt/notesSlides/notesSlide2.xml" Id="R09aae170306b4d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d669610264ac5" /><Relationship Type="http://schemas.openxmlformats.org/officeDocument/2006/relationships/notesSlide" Target="/ppt/notesSlides/notesSlide3.xml" Id="R7e326bbf4d444f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b57ec4bbb43d0" /><Relationship Type="http://schemas.openxmlformats.org/officeDocument/2006/relationships/notesSlide" Target="/ppt/notesSlides/notesSlide4.xml" Id="R58130a965f504d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4bd21aa66e4456" /><Relationship Type="http://schemas.openxmlformats.org/officeDocument/2006/relationships/notesSlide" Target="/ppt/notesSlides/notesSlide5.xml" Id="R96d1c262d2dd44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273a54198421c" /><Relationship Type="http://schemas.openxmlformats.org/officeDocument/2006/relationships/image" Target="/ppt/media/image.png" Id="R202a2d43594346c7" /><Relationship Type="http://schemas.openxmlformats.org/officeDocument/2006/relationships/notesSlide" Target="/ppt/notesSlides/notesSlide6.xml" Id="R9baaaac9db5548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64e485f5749d6" /><Relationship Type="http://schemas.openxmlformats.org/officeDocument/2006/relationships/notesSlide" Target="/ppt/notesSlides/notesSlide7.xml" Id="R4cffbf6f433c45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c984a5e09464b" /><Relationship Type="http://schemas.openxmlformats.org/officeDocument/2006/relationships/notesSlide" Target="/ppt/notesSlides/notesSlide8.xml" Id="Ra88cf42510c048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e7ba9199eb477b" /><Relationship Type="http://schemas.openxmlformats.org/officeDocument/2006/relationships/notesSlide" Target="/ppt/notesSlides/notesSlide9.xml" Id="R279f4e88fd6849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cb33935414222" /><Relationship Type="http://schemas.openxmlformats.org/officeDocument/2006/relationships/notesSlide" Target="/ppt/notesSlides/notesSlide10.xml" Id="Rb1807633341540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2e7fcb097459f" /><Relationship Type="http://schemas.openxmlformats.org/officeDocument/2006/relationships/notesSlide" Target="/ppt/notesSlides/notesSlide11.xml" Id="R5909c8f0327f40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ea8dbc52c40ac" /><Relationship Type="http://schemas.openxmlformats.org/officeDocument/2006/relationships/notesSlide" Target="/ppt/notesSlides/notesSlide12.xml" Id="Rf80927a672014d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2383ee56e4de0" /><Relationship Type="http://schemas.openxmlformats.org/officeDocument/2006/relationships/notesSlide" Target="/ppt/notesSlides/notesSlide13.xml" Id="R296f7c4f3f154c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ac760bd6e4f73" /><Relationship Type="http://schemas.openxmlformats.org/officeDocument/2006/relationships/notesSlide" Target="/ppt/notesSlides/notesSlide14.xml" Id="R8dfead8757874b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fd9f1b2874afd" /><Relationship Type="http://schemas.openxmlformats.org/officeDocument/2006/relationships/image" Target="/ppt/media/image2.png" Id="R5b867cd9a920427b" /><Relationship Type="http://schemas.openxmlformats.org/officeDocument/2006/relationships/notesSlide" Target="/ppt/notesSlides/notesSlide15.xml" Id="Ra68333dfd0c74c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e098fc65324f9d" /><Relationship Type="http://schemas.openxmlformats.org/officeDocument/2006/relationships/image" Target="/ppt/media/image3.png" Id="R189d92fc11394f61" /><Relationship Type="http://schemas.openxmlformats.org/officeDocument/2006/relationships/notesSlide" Target="/ppt/notesSlides/notesSlide16.xml" Id="R5271dafd4c6a4f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fc80167a944aa" /><Relationship Type="http://schemas.openxmlformats.org/officeDocument/2006/relationships/image" Target="/ppt/media/image4.png" Id="R0c85e94411fb4b81" /><Relationship Type="http://schemas.openxmlformats.org/officeDocument/2006/relationships/notesSlide" Target="/ppt/notesSlides/notesSlide17.xml" Id="Rfa5323ce05f548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51ef9e5a34f99" /><Relationship Type="http://schemas.openxmlformats.org/officeDocument/2006/relationships/image" Target="/ppt/media/image5.png" Id="Readc1d7ac0f14c28" /><Relationship Type="http://schemas.openxmlformats.org/officeDocument/2006/relationships/notesSlide" Target="/ppt/notesSlides/notesSlide18.xml" Id="R174d1ce6d14242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22e3114894ac2" /><Relationship Type="http://schemas.openxmlformats.org/officeDocument/2006/relationships/image" Target="/ppt/media/image6.png" Id="Rf5fe88d8e8ed4d27" /><Relationship Type="http://schemas.openxmlformats.org/officeDocument/2006/relationships/notesSlide" Target="/ppt/notesSlides/notesSlide19.xml" Id="R6cef846f5b0b46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a3b05560746d8" /><Relationship Type="http://schemas.openxmlformats.org/officeDocument/2006/relationships/notesSlide" Target="/ppt/notesSlides/notesSlide20.xml" Id="Raef7afc2d26e447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80aeb76907402b" /><Relationship Type="http://schemas.openxmlformats.org/officeDocument/2006/relationships/notesSlide" Target="/ppt/notesSlides/notesSlide21.xml" Id="Rfaeae89984c347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2b522366d4bec" /><Relationship Type="http://schemas.openxmlformats.org/officeDocument/2006/relationships/notesSlide" Target="/ppt/notesSlides/notesSlide22.xml" Id="R1d0944081d2745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16907b2584b00" /><Relationship Type="http://schemas.openxmlformats.org/officeDocument/2006/relationships/notesSlide" Target="/ppt/notesSlides/notesSlide23.xml" Id="Rf862d19ac31e465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a01e7f2b14ca2" /><Relationship Type="http://schemas.openxmlformats.org/officeDocument/2006/relationships/notesSlide" Target="/ppt/notesSlides/notesSlide24.xml" Id="R25d3369a2e52410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177261b4b4ee4" /><Relationship Type="http://schemas.openxmlformats.org/officeDocument/2006/relationships/notesSlide" Target="/ppt/notesSlides/notesSlide25.xml" Id="R1dfbe200900e42e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f4b5f79274d3e" /><Relationship Type="http://schemas.openxmlformats.org/officeDocument/2006/relationships/notesSlide" Target="/ppt/notesSlides/notesSlide26.xml" Id="Re86ac9cde958407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af7eb74a594747" /><Relationship Type="http://schemas.openxmlformats.org/officeDocument/2006/relationships/notesSlide" Target="/ppt/notesSlides/notesSlide27.xml" Id="Ra3b62dd124cb40e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3b4aadeed4808" /><Relationship Type="http://schemas.openxmlformats.org/officeDocument/2006/relationships/image" Target="/ppt/media/image7.png" Id="R42b07b420a694e75" /><Relationship Type="http://schemas.openxmlformats.org/officeDocument/2006/relationships/notesSlide" Target="/ppt/notesSlides/notesSlide28.xml" Id="R732e30e4507e4de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84e72766234731" /><Relationship Type="http://schemas.openxmlformats.org/officeDocument/2006/relationships/image" Target="/ppt/media/image8.png" Id="R37d5d87d8e774135" /><Relationship Type="http://schemas.openxmlformats.org/officeDocument/2006/relationships/notesSlide" Target="/ppt/notesSlides/notesSlide29.xml" Id="R5f4c250b4023445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a32dc393a47d2" /><Relationship Type="http://schemas.openxmlformats.org/officeDocument/2006/relationships/image" Target="/ppt/media/image9.png" Id="R651d88d3283f4334" /><Relationship Type="http://schemas.openxmlformats.org/officeDocument/2006/relationships/notesSlide" Target="/ppt/notesSlides/notesSlide30.xml" Id="R9bab3f9ffb8d4f5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16365295a4c49" /><Relationship Type="http://schemas.openxmlformats.org/officeDocument/2006/relationships/image" Target="/ppt/media/image10.png" Id="Rde46c5c4b06741e6" /><Relationship Type="http://schemas.openxmlformats.org/officeDocument/2006/relationships/notesSlide" Target="/ppt/notesSlides/notesSlide31.xml" Id="Rfdf2f41335f0424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acc19bba54987" /><Relationship Type="http://schemas.openxmlformats.org/officeDocument/2006/relationships/image" Target="/ppt/media/image11.png" Id="Rf76a894476bf4738" /><Relationship Type="http://schemas.openxmlformats.org/officeDocument/2006/relationships/notesSlide" Target="/ppt/notesSlides/notesSlide32.xml" Id="R80fbd5a8b9d74f7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228eef5314f49" /><Relationship Type="http://schemas.openxmlformats.org/officeDocument/2006/relationships/notesSlide" Target="/ppt/notesSlides/notesSlide33.xml" Id="R7df58baba00f462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9b9cc127d45b6" /><Relationship Type="http://schemas.openxmlformats.org/officeDocument/2006/relationships/image" Target="/ppt/media/image12.png" Id="R2be5404f72f84c7d" /><Relationship Type="http://schemas.openxmlformats.org/officeDocument/2006/relationships/notesSlide" Target="/ppt/notesSlides/notesSlide34.xml" Id="R2bc4490ada324a6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1102354f141ef" /><Relationship Type="http://schemas.openxmlformats.org/officeDocument/2006/relationships/notesSlide" Target="/ppt/notesSlides/notesSlide35.xml" Id="R11dd03263e0b486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801c771af4971" /><Relationship Type="http://schemas.openxmlformats.org/officeDocument/2006/relationships/notesSlide" Target="/ppt/notesSlides/notesSlide36.xml" Id="Rda4b3b5a088a4fd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4157d609e4555" /><Relationship Type="http://schemas.openxmlformats.org/officeDocument/2006/relationships/notesSlide" Target="/ppt/notesSlides/notesSlide37.xml" Id="Ra35316fb02da4b6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84d8e69444b87" /><Relationship Type="http://schemas.openxmlformats.org/officeDocument/2006/relationships/notesSlide" Target="/ppt/notesSlides/notesSlide38.xml" Id="Re93b5618cf4447a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b2dfede77d4683" /><Relationship Type="http://schemas.openxmlformats.org/officeDocument/2006/relationships/notesSlide" Target="/ppt/notesSlides/notesSlide39.xml" Id="R6ffb3db658de478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7762220aa4764" /><Relationship Type="http://schemas.openxmlformats.org/officeDocument/2006/relationships/notesSlide" Target="/ppt/notesSlides/notesSlide40.xml" Id="R6a261e93901d4f4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f2e33823443a3" /><Relationship Type="http://schemas.openxmlformats.org/officeDocument/2006/relationships/notesSlide" Target="/ppt/notesSlides/notesSlide41.xml" Id="R27c3c630e48a4c0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67bf596bc43d4" /><Relationship Type="http://schemas.openxmlformats.org/officeDocument/2006/relationships/image" Target="/ppt/media/image13.png" Id="Rff8ea88264204e50" /><Relationship Type="http://schemas.openxmlformats.org/officeDocument/2006/relationships/notesSlide" Target="/ppt/notesSlides/notesSlide42.xml" Id="Rf9b7f1da278b41f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f155de55b432c" /><Relationship Type="http://schemas.openxmlformats.org/officeDocument/2006/relationships/notesSlide" Target="/ppt/notesSlides/notesSlide43.xml" Id="R6248fd15d3d744e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83bf2c61de4e63" /><Relationship Type="http://schemas.openxmlformats.org/officeDocument/2006/relationships/notesSlide" Target="/ppt/notesSlides/notesSlide44.xml" Id="R97f53fba80954c9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0776780ad84e68" /><Relationship Type="http://schemas.openxmlformats.org/officeDocument/2006/relationships/notesSlide" Target="/ppt/notesSlides/notesSlide45.xml" Id="R53672fee47fb40d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63711e7b648c6" /><Relationship Type="http://schemas.openxmlformats.org/officeDocument/2006/relationships/notesSlide" Target="/ppt/notesSlides/notesSlide46.xml" Id="R99ef6273b4734b2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cf1b2911b44d8" /><Relationship Type="http://schemas.openxmlformats.org/officeDocument/2006/relationships/notesSlide" Target="/ppt/notesSlides/notesSlide47.xml" Id="R67d976f6386548a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f3b3ce3c842bc" /><Relationship Type="http://schemas.openxmlformats.org/officeDocument/2006/relationships/notesSlide" Target="/ppt/notesSlides/notesSlide48.xml" Id="R0c73373eb2b548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40150517-37DE-4079-B4E9-BF808895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SCIENCE PROJECT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E9467A7-EB62-4EEA-9F26-E3E88D4F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2ABE52-738B-42E1-B1F3-608165FF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Predicting payment difficulty from loan applications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86292E2-2E3A-4BCA-BA73-3BFCACEF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Data, methods and results</a:t>
            </a:r>
          </a:p>
        </p:txBody>
      </p:sp>
    </p:spTree>
    <p:extLst>
      <p:ext uri="{BB962C8B-B14F-4D97-AF65-F5344CB8AC3E}">
        <p14:creationId xmlns:p14="http://schemas.microsoft.com/office/powerpoint/2010/main" val="2117819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2654E044-9459-43A4-8A80-F3772BDC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01 Summary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D0D86AA-5B5D-4866-8AAC-24A55F6F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6F2EB7-2BA4-4D2D-846D-22B58736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82CACE3-EB91-41A8-99F0-BDEA5715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02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ADB7191-5272-4905-A442-744BFE73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0.7579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75529C-72D8-45EE-AD02-A9A38F3F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Test ROC-AUC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1072306-99CB-4E41-A814-EDCA08E9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76425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Best model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E786620-F8E6-4504-B7D0-3F85D4FA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0280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reaches ROC-AUC 0.7579 using all 246,008 training applications.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14A4F5-7EEC-4CAF-ADCA-AEC2A8C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9712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Review capacity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693E906-1CEB-42AE-A663-D22E0FE0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3567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Reviewing the highest-scored 10% captures 33.8% of positive cases at 27.2% precision.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4405B57-E53D-446D-984E-1AA38F9A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82999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5D67652-3491-46A4-8674-28B1FAE1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46854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 customer-history features and validate a cutoff that matches the intended review workload.</a:t>
            </a:r>
          </a:p>
        </p:txBody>
      </p:sp>
    </p:spTree>
    <p:extLst>
      <p:ext uri="{BB962C8B-B14F-4D97-AF65-F5344CB8AC3E}">
        <p14:creationId xmlns:p14="http://schemas.microsoft.com/office/powerpoint/2010/main" val="1482342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7D837A-D5BD-46C9-AB42-17B38A16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428B53-EFB7-480D-BB52-93880A86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005C33-2D67-45FA-A26F-37888C52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7CE987-41F1-42B2-A577-4E600CBB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03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F24A889-54C5-427B-8E6F-1130EA4E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25B1313-CD03-48F3-B084-C421B154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 payment difficulty from the main application table and compare models for mixed numerical and categorical data.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30B363D-E529-4F46-9091-F8984E26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unit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78BD010-8DEF-4546-BE15-2B2A1A2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One loan application. Preprocessing uses all 307,511 available applications.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9527DDC-52A5-43E3-8BC2-16F87050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496B891-0F4C-42EB-9313-2BA12183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ROC-AUC for ranking, log loss for probabilities, and precision–recall at a chosen cutoff.</a:t>
            </a:r>
          </a:p>
        </p:txBody>
      </p:sp>
    </p:spTree>
    <p:extLst>
      <p:ext uri="{BB962C8B-B14F-4D97-AF65-F5344CB8AC3E}">
        <p14:creationId xmlns:p14="http://schemas.microsoft.com/office/powerpoint/2010/main" val="394038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83AA6AF-FEC9-4677-AEC6-E5528850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E5CA574-C094-4F0C-852C-A50A62C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21B3ED-741E-4B8F-838F-B3638E07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B1BF7D3-7E7A-4752-9E42-3198631F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04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77319-CA6D-4834-BE34-F413B490671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307,511 loan applications and 122 source columns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79 predictors after filtering, encoded to 195 columns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available applications from the main application table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 balance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8.07% payment-difficulty outcomes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50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0A7EFD5-CF9B-433C-BF3D-AE54F5F3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BCF7CD-8A81-4FD6-8463-26D04AC2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Preprocessing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F59BB19-1134-4B2C-8311-3B4436B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6E94EBE-3B96-441A-B199-9123E237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661F9-20AF-4712-B34C-25286F6DDEC4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Processing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Identifiers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Remove SK_ID_CURR from the predictors.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Employment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Replace DAYS_EMPLOYED = 365243 with missing values.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 income at the 99th percentile of the full dataset.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values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Drop columns above 50% missing. Fill numerical gaps with medians and label missing categories.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24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DAE0308-10A4-49A5-BD4B-8DA90736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5599737-C414-43A3-8881-2A525C39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Class balance and feature associations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D948A9-5DA2-499D-878C-81AEA4CF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120BB38-4E2A-419D-805B-26095DE6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06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2E622-BB8B-4FE5-A49D-B013EC6C6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a2d43594346c7"/>
          <a:stretch xmlns:a="http://schemas.openxmlformats.org/drawingml/2006/main"/>
        </p:blipFill>
        <p:spPr>
          <a:xfrm xmlns:a="http://schemas.openxmlformats.org/drawingml/2006/main">
            <a:off x="514350" y="1800886"/>
            <a:ext cx="11163300" cy="3903929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C15D8AC-F26B-4A6A-9EAF-D75DEFF1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About 8.07% of applicants have payment difficulty.</a:t>
            </a:r>
          </a:p>
        </p:txBody>
      </p:sp>
    </p:spTree>
    <p:extLst>
      <p:ext uri="{BB962C8B-B14F-4D97-AF65-F5344CB8AC3E}">
        <p14:creationId xmlns:p14="http://schemas.microsoft.com/office/powerpoint/2010/main" val="1675728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4058F9A-1D6D-44A4-964B-5A94BAE0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C1CC24E-85BB-4726-AFD2-ACFFB91B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EDA findings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D6C5C37-F590-489F-82DA-BC4FD998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5631F94-C751-4007-9C62-4D8C14CF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07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C04FE09-D5F9-4A92-8BC7-38DBF0F1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Outcome balance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F2493B-492E-47E5-B7CF-B0F01729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About 8.07% of applicants have payment difficulty.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65E4AAE-AB22-4DAC-8AB8-0A9003A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Mixed features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2DFD424-93F3-474A-8E9E-C131816F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Financial values, demographic fields and application categories have different missingness patterns.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87A16BC-6F8D-4E7A-878F-C019D9B6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Additional data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7F8A77C-F477-4E73-A1EB-FF260555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Bureau and previous-application histories could add information beyond the main table.</a:t>
            </a:r>
          </a:p>
        </p:txBody>
      </p:sp>
    </p:spTree>
    <p:extLst>
      <p:ext uri="{BB962C8B-B14F-4D97-AF65-F5344CB8AC3E}">
        <p14:creationId xmlns:p14="http://schemas.microsoft.com/office/powerpoint/2010/main" val="10651811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AF83A66-3078-455C-A09D-B07FC3D5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F53D33D-2BB5-497E-A896-E9CF3E3D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Feature engineering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F35D33C-A32A-4375-8ACC-2484539B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2E6120-2B17-469E-8972-A8ED8C59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08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7FECE-D371-46D5-86D6-EF2A335BBED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Financial profile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Income, credit amount, annuity and goods price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Applicant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Age, household information and application categories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External scores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External-source score fields in the main application table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used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application table only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170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794803B-1724-4122-879A-D2EE1E76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04 Validation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7CB8E8-F84A-4C2A-B005-9BD4764B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Train–test split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CA9BA7-BB18-4E85-BD73-AA286E77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301287-BEEC-4896-85BC-9A97EA3F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09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4C76833-909D-45EA-90F1-317891F3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Partition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CBF43D3-1EF4-448C-8B5E-5FE809EE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Stratified 80/20 split with seed 42 gives 246,008 training applications and 61,503 test applications. Search uses two stratified folds.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0B7F784-DCD0-463F-9EE5-9526D7BD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Transforms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9449C7-4C06-4257-A106-E314FC38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Fit scaling and categorical encoding on training rows. Full-data imputation and filtering remain a validation limitation.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C3E2379-51DF-4966-A7E6-1F2A4AB8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95A8DE1-97E3-45BF-ACD0-6E4E42CF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All fitted models use this training partition and the same held-out applicants.</a:t>
            </a:r>
          </a:p>
        </p:txBody>
      </p:sp>
    </p:spTree>
    <p:extLst>
      <p:ext uri="{BB962C8B-B14F-4D97-AF65-F5344CB8AC3E}">
        <p14:creationId xmlns:p14="http://schemas.microsoft.com/office/powerpoint/2010/main" val="21247784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0F06383-315C-4198-BE39-D24410E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B065E81-447B-4425-AA6B-9FC17D42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ABFB675-1D10-4734-BE76-157AF5BA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92590C0-6744-4C36-9448-1397592A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10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C01BD-6995-41CE-88EC-9945816E07F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085588"/>
                <a:gridCol w="378714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Family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regression with L2, L1 and Elastic Net penalties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Interpretable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K-nearest neighbors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 from similar records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Neural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Multilayer perceptron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nonlinear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Forest, XGBoost, CatBoost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thresholds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Ensemble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of Random Forest, XGBoost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 predictions using a fitted meta-model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928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F85213E-4BA0-4125-8F98-0965D3DA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09C352-47B2-4E4C-A627-52D7A148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regression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D67584-0564-4ED9-A362-4814D297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4682DB1-76FD-4BE6-A41B-72DB377A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11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4E780-A9A5-4365-AF3B-042DDB913A3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411175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Reference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Easy to inspect and use as a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Misses nonlinear effects without added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Stabilizes coefficients when predictors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all predictors and introduces shrinkage bias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weak predictors with zero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select inconsistently among correlated inputs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sparse selection with L2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penalty strength and mixing to be selected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456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3BC7696-5371-4DD3-974A-42CF9A04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FF2409A-D64B-49F5-89AE-2C858F6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KNN and neural networks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C636AA-4F2F-4560-9551-B031966F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356F96-CB77-4E67-9CB2-3366A39C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12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D2DF6-474A-4186-9211-1472E79B6A9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570732"/>
                <a:gridCol w="5085588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Simple local prediction with few modeling assumptions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Distances depend on scaling. Prediction slows as the reference set grows.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Learns smooth nonlinear effects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Sensitive to scaling and optimization. Needs regularization and convergence checks.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8308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23195B5-3CC3-433D-87D2-7268383D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81718A3-18A7-42B7-BB27-2B352CB9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Tree-based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2901658-BFEB-4D45-BF77-5FBF9887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903108D-52E0-4A1C-80C3-177F7BD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13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B4AC6-D5E1-44C7-BAEB-BD5FE9BD9B3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Averaging many trees reduces variance and captures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 ensembles use memory and extrapolate poorly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Regularized boosting handles complex tabular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 depth, learning rate and tree count need joint selection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Supports categorical features alongside numerical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can be costly. Data quality still limits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Histogram splits support efficient training on large tables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Flexible leaf growth can overfit small groups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323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DBBFB637-0B15-4A2F-A22C-3AE7B6EE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56CDA94-94A9-4353-B461-235AF106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EBDA36-4FA6-4248-94E4-CC54F3DF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9EA0421-A2BB-4A6E-A464-345B5D79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14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35BDF47-338D-4A2D-8200-8898F754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Forest, XGBoost and LightGBM generate out-of-fold predictions. A logistic meta-model learns how to combine them.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718E847-B812-4CF8-BD11-F8836C3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292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D0DB69E-584B-4848-8A59-1A34B89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1863"/>
            <a:ext cx="50292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Can reduce error when the base models make different mistakes. The meta-model learns the weights from training predictions.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073FF9C-BCCF-4DCF-BDE7-5E6015F3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Weaknesses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D9DED42-B0D6-42FF-A45D-38D729F8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1863"/>
            <a:ext cx="5105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Adds fitting and inference cost. Similar base-model errors can limit the gain.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B4C38E7-BE41-4AD4-ADFA-AE8DBB6C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 IN THIS STUDY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115868C-8577-429A-8641-FD8864B7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ROC-AUC 0.7531 and log loss 0.2504. It does not exceed the best individual model on the primary metric.</a:t>
            </a:r>
          </a:p>
        </p:txBody>
      </p:sp>
    </p:spTree>
    <p:extLst>
      <p:ext uri="{BB962C8B-B14F-4D97-AF65-F5344CB8AC3E}">
        <p14:creationId xmlns:p14="http://schemas.microsoft.com/office/powerpoint/2010/main" val="6336939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457BFDF-3E96-4457-BEC5-B801D04F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7A6EFA-2645-47F3-9B11-B13FD46C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373F8B3-6CC9-4792-890F-DCA1AA6C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F1D13E0-5F7C-420C-B95C-A0DF6A91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15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3DC94-B6B0-4BFB-ACCC-FEF1D263A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67cd9a920427b"/>
          <a:stretch xmlns:a="http://schemas.openxmlformats.org/drawingml/2006/main"/>
        </p:blipFill>
        <p:spPr>
          <a:xfrm xmlns:a="http://schemas.openxmlformats.org/drawingml/2006/main">
            <a:off x="1089622" y="1762125"/>
            <a:ext cx="1001275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EAEFFA8-E89E-4EC4-9211-10B162A1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Best test score per family, including the strongest penalized linear model. Full results appear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10939345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91BBE90-ED40-4487-9148-92F25843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67E501-2007-4B24-8308-4023B80C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Ranking stability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1CEFA8F-B54F-4D03-BE0A-87EF7209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25AC42E-88BE-4C90-8133-212E9DCB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16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52DD9-E1D2-4676-BF8B-48E7C49D41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d92fc11394f61"/>
          <a:stretch xmlns:a="http://schemas.openxmlformats.org/drawingml/2006/main"/>
        </p:blipFill>
        <p:spPr>
          <a:xfrm xmlns:a="http://schemas.openxmlformats.org/drawingml/2006/main">
            <a:off x="514350" y="1958655"/>
            <a:ext cx="11163300" cy="3588391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8843E3F-EFFF-47E3-935D-2B072751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XGBoost has higher AUC than LightGBM (tuned) across the 95% resampling interval.</a:t>
            </a:r>
          </a:p>
        </p:txBody>
      </p:sp>
    </p:spTree>
    <p:extLst>
      <p:ext uri="{BB962C8B-B14F-4D97-AF65-F5344CB8AC3E}">
        <p14:creationId xmlns:p14="http://schemas.microsoft.com/office/powerpoint/2010/main" val="10891904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7E43C58-CC8A-4658-99C9-3AED807D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FF27C63-B6C7-41D6-98C7-E498FFAB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A45075-13FE-4016-8321-B8939D3F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D698F4-4044-4014-85BA-91BCB1FA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17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70413-C945-4525-917D-AF6C0DEB22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5e94411fb4b81"/>
          <a:stretch xmlns:a="http://schemas.openxmlformats.org/drawingml/2006/main"/>
        </p:blipFill>
        <p:spPr>
          <a:xfrm xmlns:a="http://schemas.openxmlformats.org/drawingml/2006/main">
            <a:off x="3069007" y="1762125"/>
            <a:ext cx="6053986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9DDCE36-A5EA-44B9-911F-D4F27CC3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External-source scores and applicant history fields recur across models. Related historical tables may add useful information.</a:t>
            </a:r>
          </a:p>
        </p:txBody>
      </p:sp>
    </p:spTree>
    <p:extLst>
      <p:ext uri="{BB962C8B-B14F-4D97-AF65-F5344CB8AC3E}">
        <p14:creationId xmlns:p14="http://schemas.microsoft.com/office/powerpoint/2010/main" val="18915266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A06929B-57BC-432F-94FD-E818ED70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6C26574-DC5D-487C-907B-2A20ED96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Precision–recall and calibration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F1684F-A18F-44E1-9A47-A5A89AF6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6C085E-C38E-4DE1-A581-91C955B3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18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3ED0B-2B41-490F-BABB-CF0E640724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c1d7ac0f14c28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E915A7E-109E-4F11-ACB1-732DF1F1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XGBoost: average precision 0.246, positive prevalence 0.081, Brier score 0.0677.</a:t>
            </a:r>
          </a:p>
        </p:txBody>
      </p:sp>
    </p:spTree>
    <p:extLst>
      <p:ext uri="{BB962C8B-B14F-4D97-AF65-F5344CB8AC3E}">
        <p14:creationId xmlns:p14="http://schemas.microsoft.com/office/powerpoint/2010/main" val="11027491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A816E03-F9A3-4AE3-923E-CC571050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2EBCD9-0EB2-44A0-B40F-CD0D83D1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Review capacity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3A51C63-E0B9-4C16-8178-26E959ED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7EAFD66-494D-4701-80D4-C82C583F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19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8A276-AC0D-4173-B609-A524C304A7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e88d8e8ed4d27"/>
          <a:stretch xmlns:a="http://schemas.openxmlformats.org/drawingml/2006/main"/>
        </p:blipFill>
        <p:spPr>
          <a:xfrm xmlns:a="http://schemas.openxmlformats.org/drawingml/2006/main">
            <a:off x="629854" y="1762125"/>
            <a:ext cx="10932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75FFE44-366F-4413-B13E-CCE9E0CC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XGBoost, top 10% reviewed: 33.8% recall and 27.2% precision.</a:t>
            </a:r>
          </a:p>
        </p:txBody>
      </p:sp>
    </p:spTree>
    <p:extLst>
      <p:ext uri="{BB962C8B-B14F-4D97-AF65-F5344CB8AC3E}">
        <p14:creationId xmlns:p14="http://schemas.microsoft.com/office/powerpoint/2010/main" val="6327452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B9D3F744-0684-4773-8FB6-EFF41460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7394AE-0E31-4011-8999-55CCF27B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A31A46-4582-4C0A-A86F-43A47064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1AB1B5C-AC8A-4613-897D-3AC71F32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20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175C1D2-BC2D-48E2-863F-1279B720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Risk ranking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8B236C0-80E9-489E-809B-934A3841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improves AUC by 0.0120 over logistic regression. Its lead over LightGBM remains small.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5874F47-6053-46FA-A083-EEA90399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Detection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43A7556-AE4D-4F33-B722-4EF637B3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Cutoff 0.5 captures 1.9% of positives. A 10% review share captures 33.8%.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2D9A093-8DF4-41E6-979E-8F323187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Feature coverage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72986EA-B553-47DB-8DFB-A11BB600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model uses the application table alone. Bureau, previous-application and payment histories are the next feature sources.</a:t>
            </a:r>
          </a:p>
        </p:txBody>
      </p:sp>
    </p:spTree>
    <p:extLst>
      <p:ext uri="{BB962C8B-B14F-4D97-AF65-F5344CB8AC3E}">
        <p14:creationId xmlns:p14="http://schemas.microsoft.com/office/powerpoint/2010/main" val="1414496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13B1FFF-0A74-4354-A420-5BB4119B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ABF56F1-5D8A-46D3-A81C-07A5F163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1A5A78C-A2B3-4C1B-9B2F-160D3376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C4B061-F7A4-4EF7-9CA8-CF0D1067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21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64AC1-8471-4B51-B220-5827B2F3EB84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Preprocessing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Income caps, column filters and imputation use full-data statistics.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single random split does not establish performance for future applicants.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coverage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Related history tables are outside the current model.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Detection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AUC alone does not describe recall or calibration at the chosen cutoff.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716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F36B503-FAB3-49E6-9945-F2D3579A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7939F3-0CEF-40A1-AE4D-3BD0D740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F095FEA-EDC3-4636-A585-41ADA90B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5EA14B8-3668-4F80-8733-5F1804DC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22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58480-8F59-483C-A6FC-307CF2A2841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7428"/>
                <a:gridCol w="2380488"/>
                <a:gridCol w="4760976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Fold-safe cleaning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caps, column filters and imputers from training folds.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uncontaminated validation pipeline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Relational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Aggregate bureau, prior-application and balance histories by customer.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Incremental signal beyond the main table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Temporal validation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Reserve later applications and compare performance by applicant group.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Stable future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 evaluation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PR performance, calibration and recall at review capacity.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measurable operating threshold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519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62DDF61-991C-4A72-AA92-7F6420B0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5C0AC31-55E7-4F02-BDBD-C1F9B90C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3072FD2-462C-430D-8D15-50E49667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8E7C562-D451-4FA3-9F4E-EDE7E6B7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23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88E5FD-A06C-4EA1-85E1-145DE4FE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leads application scoring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34F88FB-A40A-48FB-AAB7-782A73F5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ROC-AUC 0.7579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982EAF8-2ED5-44FF-A2E2-45DA5ABA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History features and a validated review policy are the next priorities. Confirm performance on future applicants and relevant subgroups.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1F781FA-8412-4369-AAF9-885C5C04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69927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C88EDD9-A6F4-4941-B237-EB16B74F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DA6A545-2902-456D-9C3F-CA5D8C7B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Evaluation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07156A3-144C-42F2-BE0D-39D3918E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8F38E-B4CC-4DA8-B585-00947900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24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C0DDF-16F8-4ADD-B43B-8025639E442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5876"/>
                <a:gridCol w="465277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ROC-AUC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Ranking across thresholds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model comparison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Quality of predicted probabilities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Probability assessment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 and recall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Detection and false-positive trade-off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 analysis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Agreement of predicted and observed risk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Probability interpretation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4443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F38C745-2153-436D-9CC0-F3243D87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39D0845-F115-4673-AB63-ADB8553B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regularization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D0CECC7-C372-43EB-8E1C-3976AFA3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B06C835-EF1D-440F-B3DF-87B3E15D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7542C-CD8C-48A7-8E3D-96C5AAA5F13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4328160"/>
                <a:gridCol w="378714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Variant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objective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effect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Reference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with reference settings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log-odds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+ Ridge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Shrinks correlated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+ Lasso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+ mixed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Balances sparsity and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151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1A3129D-BBA0-4DF9-BFF2-C74B5B62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E90A35C-D1E2-4761-80A7-E1A3A75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model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4C63A9-EC5F-4DA4-AD1B-E1B0B0BA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201B9DE-E939-4646-B88B-6AA210B0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26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EA722-824F-4E0B-9843-B8A7A524556A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95344"/>
                <a:gridCol w="2272284"/>
                <a:gridCol w="2272284"/>
                <a:gridCol w="238048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ROC-AUC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at 0.5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0.7459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0.2496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0.0117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0.7289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0.2548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0.002618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0.7443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0.2502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0.009869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0.7370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0.2523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0.005237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07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A59E769-AABD-4A00-B3FD-9460AC22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67DA08D-1CD8-4340-A012-10C85528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discussion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BC52A31-341E-45C1-A2E4-4DE1FB0A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8C11899-94D5-49E3-9F1F-9009D8C1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27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2F346E7-87E6-4B74-AAA0-7BE73A24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B6B95BD-022A-401C-A9C8-2835B9D7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Reference logistic reaches AUC 0.7459. The selected L1, L2 and Elastic Net penalties do not improve it.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A78EB8B-B022-4115-BA64-93C8A53D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3FE2A54-6DE6-47C8-9DCB-81DD8276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Rare categories and correlated financial fields can make individual coefficients unstable.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4DB3C50-8B73-4DA8-866F-BC96AB3B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Further work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1DB7994-91D3-4470-8192-2C1C75FC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Inspect category support and test a wider, justified penalty range within training folds.</a:t>
            </a:r>
          </a:p>
        </p:txBody>
      </p:sp>
    </p:spTree>
    <p:extLst>
      <p:ext uri="{BB962C8B-B14F-4D97-AF65-F5344CB8AC3E}">
        <p14:creationId xmlns:p14="http://schemas.microsoft.com/office/powerpoint/2010/main" val="1115461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35ED6CB-C4E2-43BC-A4A2-274FF44D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34A8FC-3BA1-4629-BC49-F61D85E7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regression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707384-11F5-47C2-9E28-C0C9AB99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3EB693D-A834-4DBC-9F48-3BDCA369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28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0933A-481F-49B1-A530-5CDF331C3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07b420a694e75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21696F9-1949-4550-9EE2-F29525D1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14781692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6534ABC-2308-4074-A898-B14505F1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C89552B-1345-4943-AB3A-044502FC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training loss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06968A0-C1A3-473D-A611-9BB723EC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E10D395-1761-4F70-AD48-9B08D352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29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C4334-3197-4573-972E-7D9E81FEEE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5d87d8e774135"/>
          <a:stretch xmlns:a="http://schemas.openxmlformats.org/drawingml/2006/main"/>
        </p:blipFill>
        <p:spPr>
          <a:xfrm xmlns:a="http://schemas.openxmlformats.org/drawingml/2006/main">
            <a:off x="3114112" y="1762125"/>
            <a:ext cx="596377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758F587-6CCC-47D8-914F-85B5B481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Training loss by optimization iteration.</a:t>
            </a:r>
          </a:p>
        </p:txBody>
      </p:sp>
    </p:spTree>
    <p:extLst>
      <p:ext uri="{BB962C8B-B14F-4D97-AF65-F5344CB8AC3E}">
        <p14:creationId xmlns:p14="http://schemas.microsoft.com/office/powerpoint/2010/main" val="10454048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4100D0E-D5F0-4DDC-8E32-6ED88AB9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D5A260-2467-416D-A272-7AFA3A4F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E58C822-0CC9-47F8-8B85-DF14F2CE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ED107D0-472B-454A-85E0-7816D8DC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30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8A8A0-359D-47C1-A885-CB512618B9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d88d3283f4334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CD9CAC5-AFDD-405E-9333-9A799945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External-source scores and applicant history fields recur across models. Related historical tables may add useful information.</a:t>
            </a:r>
          </a:p>
        </p:txBody>
      </p:sp>
    </p:spTree>
    <p:extLst>
      <p:ext uri="{BB962C8B-B14F-4D97-AF65-F5344CB8AC3E}">
        <p14:creationId xmlns:p14="http://schemas.microsoft.com/office/powerpoint/2010/main" val="4296972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839FB94-140C-4E65-935F-4535BDBC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3F3B637-B6ED-4EA2-B6E9-4E697490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6E377B-BDB7-4D36-A00D-B8D466DA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E92DF1-4CA1-44B6-AB81-243E2779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31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513B3-19F6-487B-BC3E-9E89C53658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6c5c4b06741e6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684B60A-2027-4FCF-9ED5-6982E3BF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External-source scores and applicant history fields recur across models. Related historical tables may add useful information.</a:t>
            </a:r>
          </a:p>
        </p:txBody>
      </p:sp>
    </p:spTree>
    <p:extLst>
      <p:ext uri="{BB962C8B-B14F-4D97-AF65-F5344CB8AC3E}">
        <p14:creationId xmlns:p14="http://schemas.microsoft.com/office/powerpoint/2010/main" val="86084331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F97ED22-77AB-4802-BACA-219DC3F5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125F993-C2D1-46A4-8DE5-8D0E15EF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66C2266-38F3-4DEE-ACF0-FCAC0E05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33073CC-719F-4E93-8944-02B26EE9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32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112D5-442F-4EF2-9AA7-66BDBD8B5E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a894476bf4738"/>
          <a:stretch xmlns:a="http://schemas.openxmlformats.org/drawingml/2006/main"/>
        </p:blipFill>
        <p:spPr>
          <a:xfrm xmlns:a="http://schemas.openxmlformats.org/drawingml/2006/main">
            <a:off x="3072416" y="1762125"/>
            <a:ext cx="6047168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5038745-B5CA-4088-8A01-A5E532FE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External-source scores and applicant history fields recur across models. Related historical tables may add useful information.</a:t>
            </a:r>
          </a:p>
        </p:txBody>
      </p:sp>
    </p:spTree>
    <p:extLst>
      <p:ext uri="{BB962C8B-B14F-4D97-AF65-F5344CB8AC3E}">
        <p14:creationId xmlns:p14="http://schemas.microsoft.com/office/powerpoint/2010/main" val="212779352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B4563BF-577F-49FD-A50F-56E8EF49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9E93F9-2991-4059-9818-CD3ABE99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Review capacity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5411C0-575A-4D22-AA93-53EBB546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C0F15DB-8D1A-4CF6-89B3-90EBF83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33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79505-92A0-4931-B74E-8B2544A94AA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2055876"/>
                <a:gridCol w="2272284"/>
                <a:gridCol w="2272284"/>
                <a:gridCol w="227228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Reviewed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Lift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48.9%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6.1%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6.05×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3,076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33.9%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21.0%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4.20×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6,151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27.2%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33.8%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3.38×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12,301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21.1%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52.4%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2.62×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F091212-B117-4B42-859B-12D237E9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XGBoost. Highest scores selected first. Capacity is the share reviewed.</a:t>
            </a:r>
          </a:p>
        </p:txBody>
      </p:sp>
    </p:spTree>
    <p:extLst>
      <p:ext uri="{BB962C8B-B14F-4D97-AF65-F5344CB8AC3E}">
        <p14:creationId xmlns:p14="http://schemas.microsoft.com/office/powerpoint/2010/main" val="58573871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59B2F25-651E-4AA5-B560-AA140C2B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68FDA78-7313-47E5-9550-1E8CA20A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Confusion matrix at 0.5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62691B8-59F4-44AE-8A6A-5EC7F26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C372D5B-E531-4F3D-9C74-D72D3B35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34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0C1FF-536F-484C-9328-AAD327637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5404f72f84c7d"/>
          <a:stretch xmlns:a="http://schemas.openxmlformats.org/drawingml/2006/main"/>
        </p:blipFill>
        <p:spPr>
          <a:xfrm xmlns:a="http://schemas.openxmlformats.org/drawingml/2006/main">
            <a:off x="3617962" y="1762125"/>
            <a:ext cx="4956076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B637313-7026-4C29-8039-25C15858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Rows show actual classes. Columns show predicted classes.</a:t>
            </a:r>
          </a:p>
        </p:txBody>
      </p:sp>
    </p:spTree>
    <p:extLst>
      <p:ext uri="{BB962C8B-B14F-4D97-AF65-F5344CB8AC3E}">
        <p14:creationId xmlns:p14="http://schemas.microsoft.com/office/powerpoint/2010/main" val="178596004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1662B79-A5D6-471F-8FE1-D8CDD192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F669B6-D03C-4FBE-AB41-44ACC581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Threshold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D0B3AB-0D58-476F-BBAB-26B28418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D13FC4-6188-45C4-BE1F-1FE0D639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1E21A-A418-496C-8053-0A15C199FD9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2921508"/>
                <a:gridCol w="2921508"/>
                <a:gridCol w="28133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Cutoff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Flagged share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25.4%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18.8%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59.1%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29.3%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28.9%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2.8%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38.9%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13.6%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55.8%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240207E-CA69-4226-9566-E564EF5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XGBoost. Cutoffs are descriptive test results. Select the operating rule using validation data.</a:t>
            </a:r>
          </a:p>
        </p:txBody>
      </p:sp>
    </p:spTree>
    <p:extLst>
      <p:ext uri="{BB962C8B-B14F-4D97-AF65-F5344CB8AC3E}">
        <p14:creationId xmlns:p14="http://schemas.microsoft.com/office/powerpoint/2010/main" val="5711472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B6A9E1B-2EB1-4EEF-9BFE-B18393C8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586F5EB-A52B-46E4-824E-2828C2E5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Calibration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39EFAF-C1C9-43D0-8BFF-76227635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F7BB6E-268A-43A2-9127-69F28894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36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DFBFD-8300-4AF3-B08B-02D8101B111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3304"/>
                <a:gridCol w="2164080"/>
                <a:gridCol w="2921508"/>
                <a:gridCol w="292150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cases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positive rate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Q1 lowest risk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12,301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1.72%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1.69%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12,301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3.34%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3.06%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12,301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5.38%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5.37%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12,300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8.95%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9.10%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Q5 highest risk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12,300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20.81%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21.14%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C61216C-C9A3-4772-8145-C63F0C64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XGBoost. Equal-count score groups compare average risk with observed outcomes.</a:t>
            </a:r>
          </a:p>
        </p:txBody>
      </p:sp>
    </p:spTree>
    <p:extLst>
      <p:ext uri="{BB962C8B-B14F-4D97-AF65-F5344CB8AC3E}">
        <p14:creationId xmlns:p14="http://schemas.microsoft.com/office/powerpoint/2010/main" val="181756474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0E46556-EFF2-4739-B7F6-A6E56CC2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AC151E-5874-4844-A995-4361FC81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CBF5AA-F05C-4B9E-9B01-C8ED428A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B711B43-58B7-455E-96EC-A606641A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37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528B9-B787-4092-9C85-B6529B24206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comparison uses only the main application table.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extension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Aggregate bureau, previous applications and payment histories by customer.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Decision policy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Choose a cutoff using review capacity and the costs of missed cases and false positives.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17089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D2EEB3C-DD39-43C1-86B7-D0E28874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D834950-3817-4B6C-B3B5-AB0F7F83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selection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A9F3CC-5766-4DF1-A703-E3092539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B97477-D8A3-488E-BD0A-FCEA4AA4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38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EAC2BFE-813F-4178-8B05-80C9BC6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penalized linear models?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61DD710-5FB0-4101-A9DD-D4643401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Ridge uses L2 shrinkage to stabilize coefficients. Lasso uses L1 to encourage zeros. Elastic Net combines the penalties. Logistic models use the same penalty types for classification.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D454868-9B00-412F-B351-066DFCBD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standardize the predictors?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A6B1AF5-3681-4BC4-BC1C-A51396AC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Penalties and distance calculations depend on feature units. Scaling also helps neural-network optimization. Estimate the scaling parameters from training data.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07CE9FA-A91B-435E-9D53-1B285D46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stacking?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D06A268-EAAA-4A0D-B2DF-EAA8CD79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does not improve the leading individual model here. Combining models helps only when their errors are sufficiently different. Compare its gain with inference and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29142264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77E80D5-F500-45CE-9D03-B8E17A76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2CC4D5A-3476-4D76-9380-DC92CF50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interpretation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93CC3F0-C7AA-490E-B695-BB4E4A15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A1E4222-1F0E-4CBE-AAE2-59ADB3E8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39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D295D79-DD8C-4820-A702-586828EA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do forests and boosting differ?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08034FE-B10B-4271-8FD2-22AE30DB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averages trees trained with randomized rows and features. Boosting adds trees sequentially to reduce the chosen loss.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551C659-F1EA-45C5-8C29-DED8FCF5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does feature importance mean?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E5688EB-E323-474B-ACCA-C6DFAA60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describes how the fitted model uses its inputs. Related predictors can share importance. A high value does not establish a causal effect.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C87E3B1-A22E-4A2A-B20B-393A2F75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 the resampling intervals cover?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C55FFF1-153B-4142-AD2E-67D134B2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measure variation in the available test predictions with the fitted models fixed. A new split also tests sensitivity to training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8910709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3CDED708-3AEA-4B02-BAB8-AC67DB26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663D611-3F80-4CE4-80A8-1C420284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1362F70-E5B0-4A83-A92C-3192018E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C8F6AF9-79D7-48C6-BDA1-9180BECD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40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3941EA8-2CCA-43F1-950C-8586AF1F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Which applications enter the comparison?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02231C4-967E-483C-B2B4-CF8806D8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All 307,511 applications enter preprocessing. The stratified split reserves 61,503 applicants for testing.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E4EAA49-FF35-46A7-A4DD-4D685350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compare categorical encodings?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0106FB4-04E3-415F-980A-CF5B6E52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uses categories directly, while other models use one-hot encoding. A controlled ablation can test the contribution of each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94900214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69EB3BE1-9B3E-4E5D-9EF6-DF431011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C41D77-402D-47EB-841F-A5AF1C23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347AB1-4E08-41BE-9C51-F72CC34A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44C55F7-5A43-43F3-B4C0-F5EE06AC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41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05AF58-E87F-46E0-85EA-E24BF575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is recall low at 0.5?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50A3C46-AB04-4673-94A8-F1746E56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Only a small share of applicants exceed that score. A 10% review share captures 33.8% of positive cases, with greater workload.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C88C6E7-1188-433D-A35F-0C9216C9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Which features should be added next?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D831320-27A7-4677-8103-E226B79E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Aggregate bureau, previous applications and payment histories by customer, using only information available before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68258644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F81CB7B-2F92-4067-A16F-28C367E6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290B214-73B0-4C7B-AB58-1FF38B2B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ROC curves and model ranking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2B81136-9802-4C89-9063-16B4701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10A955F-B57B-4B07-9529-089927FA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42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4DFDC-D1B4-4423-935C-88CC8F1EA0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ea88264204e50"/>
          <a:stretch xmlns:a="http://schemas.openxmlformats.org/drawingml/2006/main"/>
        </p:blipFill>
        <p:spPr>
          <a:xfrm xmlns:a="http://schemas.openxmlformats.org/drawingml/2006/main">
            <a:off x="1378254" y="1762125"/>
            <a:ext cx="94354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45DEFB7-E0BC-43D3-8764-A64EFB6D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ROC curves and test results for the individual models. Stacking appears in the full results tables.</a:t>
            </a:r>
          </a:p>
        </p:txBody>
      </p:sp>
    </p:spTree>
    <p:extLst>
      <p:ext uri="{BB962C8B-B14F-4D97-AF65-F5344CB8AC3E}">
        <p14:creationId xmlns:p14="http://schemas.microsoft.com/office/powerpoint/2010/main" val="48312450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6A22BD1-0D5D-4BF6-9F8E-99EC160C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79D72F-DEF9-46DD-8246-7EEEC27C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85CBB9-FD63-490F-A537-B327AA5B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669E0EA-1348-4539-9517-0091CE6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43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0D028-E053-4B46-9EE9-E7FDAD4713C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298448"/>
                <a:gridCol w="1298448"/>
                <a:gridCol w="1298448"/>
                <a:gridCol w="1298448"/>
                <a:gridCol w="1298448"/>
                <a:gridCol w="1298448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AUC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0.7579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0.5581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0.0374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0.2460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0.6179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0.0299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0.2464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0.5610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0.0139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0.0271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0.7559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0.0389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0.2464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0.5802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0.0298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0.5802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0.0298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0.4884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0.0550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0.0988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0.7459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0.5577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0.0117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0.0229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0.2496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0.7443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0.5444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0.009869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0.2502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3490DB1-04EB-4DA3-8E81-77469D16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Precision, recall and F1 use cutoff 0.5. All configurations use the same test applicants.</a:t>
            </a:r>
          </a:p>
        </p:txBody>
      </p:sp>
    </p:spTree>
    <p:extLst>
      <p:ext uri="{BB962C8B-B14F-4D97-AF65-F5344CB8AC3E}">
        <p14:creationId xmlns:p14="http://schemas.microsoft.com/office/powerpoint/2010/main" val="201276521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516F713-3769-4E07-A9B7-D820B43E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651613-2564-48AF-80A5-C0C00776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7FFEB5-5EB3-4695-AC85-67BCEDD1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DA70A04-22FF-4A87-BDE7-D9E0CA89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44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2FD48-CD91-4784-8E66-EEF85DB81D4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298448"/>
                <a:gridCol w="1298448"/>
                <a:gridCol w="1298448"/>
                <a:gridCol w="1298448"/>
                <a:gridCol w="1298448"/>
                <a:gridCol w="1298448"/>
              </a:tblGrid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AUC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0.4568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0.007452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0.0147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0.4360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0.0254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0.0480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0.7394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0.2557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0.7370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0.4561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0.005237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0.0104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0.2523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0.7313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0.000201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0.000403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0.2537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0.7289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0.4333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0.002618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0.005205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0.2548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0.6416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0.3846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0.003021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0.005995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0.6416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0.9191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0.3846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0.003021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0.005995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0.8149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BC92651-CC6D-4456-995E-69F94207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Precision, recall and F1 use cutoff 0.5. All configurations use the same test applicants.</a:t>
            </a:r>
          </a:p>
        </p:txBody>
      </p:sp>
    </p:spTree>
    <p:extLst>
      <p:ext uri="{BB962C8B-B14F-4D97-AF65-F5344CB8AC3E}">
        <p14:creationId xmlns:p14="http://schemas.microsoft.com/office/powerpoint/2010/main" val="189526994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71098A7-34C4-4D50-B555-2514CA05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F1889D8-9780-4CE3-BBCC-7FE56E6A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settings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87BA97F-B4E2-4E9A-909F-B2FFDF4D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D9DFDF4-9A6E-4F41-8049-A8663DD0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1FBD1-0AD4-463F-8AE2-67CD3F257A1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779068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weights='distance'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alpha=0.0001, max_iter=500, early_stopping=True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max_depth=None, min_samples_leaf=2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max_depth=5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iterations=500, learning_rate=0.05,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num_leaves=31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6D5DF6A-6916-4AE0-BDD0-DDAB5DEA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Searches use two folds and two candidates. Each selected estimator refits on the full training partition.</a:t>
            </a:r>
          </a:p>
        </p:txBody>
      </p:sp>
    </p:spTree>
    <p:extLst>
      <p:ext uri="{BB962C8B-B14F-4D97-AF65-F5344CB8AC3E}">
        <p14:creationId xmlns:p14="http://schemas.microsoft.com/office/powerpoint/2010/main" val="92565129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E85DBA8-DAFC-4657-833C-ED91778D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643DA5D-9903-4EF8-B3EB-8181C6F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BD61E46-61B7-40C5-AFAF-69A542F3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1CB23D1-DE44-4941-AC08-A8B76C00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46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930A9-EB64-4467-B1F8-DA8A8E33059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p=2, weights=distance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min_samples_leaf=5, max_depth=12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12518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E2166C3-BE1A-44D5-B56B-F60EAC2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140B1A-459D-40A6-B2BA-A98DAF8B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844AE2-149F-481A-9008-D68919D7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4B4A561-9FF8-483D-9B22-16606728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47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90068-9E3B-4CD0-9008-308C6D14F91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max_depth=5, learning_rate=0.03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learning_rate=0.05, iterations=500,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num_leaves=31, n_estimators=500, learning_rate=0.03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47428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4BBFA4B1-8715-4C09-969D-BD36381E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D89FF53-F17D-4B33-AA69-C40D0E66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9ADAF45-67C5-45E5-9E34-D1A272A5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Home Credit Default Risk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2F31EE7-631E-4923-AE1D-3CCF4F7C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48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EFCC15D-BB50-45FC-91A2-7A4904CD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40C3A7D-64B4-41BF-B522-7232AEFD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Kaggle Home Credit Default Risk application_train.csv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978C6D7-3F85-4DB5-A275-DD5B3B20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Project analysis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7B072C8-5232-4990-B543-16B3D468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5482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home_credit_tutorial.ipynb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1ADB4CC-0B2F-4B69-B725-5EAC9706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6685A52-AB09-4CFB-A749-4E8F39F9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scikit-learn, XGBoost, CatBoost and LightGBM documentation.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29DD2B3-CA6B-4CBD-81C5-1C7565E6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Statistical analysis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E3E8798-D939-4AD2-8DC9-825A2C7B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5482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Paired resampling of test predictions, residual analysis and group-level error checks.</a:t>
            </a:r>
          </a:p>
        </p:txBody>
      </p:sp>
    </p:spTree>
    <p:extLst>
      <p:ext uri="{BB962C8B-B14F-4D97-AF65-F5344CB8AC3E}">
        <p14:creationId xmlns:p14="http://schemas.microsoft.com/office/powerpoint/2010/main" val="987033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2026-10-19T13:17:43.3280000Z</dcterms:created>
  <dcterms:modified xsi:type="dcterms:W3CDTF">2026-10-19T13:17:43.3280000Z</dcterms:modified>
</coreProperties>
</file>