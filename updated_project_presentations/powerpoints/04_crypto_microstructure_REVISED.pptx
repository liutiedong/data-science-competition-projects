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33a138d884aa3" /><Relationship Type="http://schemas.openxmlformats.org/officeDocument/2006/relationships/extended-properties" Target="/docProps/app.xml" Id="R6321971010a64775" /><Relationship Type="http://schemas.openxmlformats.org/officeDocument/2006/relationships/officeDocument" Target="/ppt/presentation.xml" Id="Rcf8d57cbbbf449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8ee98961743e8"/>
  </p:sldMasterIdLst>
  <p:notesMasterIdLst>
    <p:notesMasterId xmlns:r="http://schemas.openxmlformats.org/officeDocument/2006/relationships" r:id="R339a162e1c6e4490"/>
  </p:notesMasterIdLst>
  <p:sldIdLst>
    <p:sldId xmlns:r="http://schemas.openxmlformats.org/officeDocument/2006/relationships" id="256" r:id="Reccc1b4ba31e4c07"/>
    <p:sldId xmlns:r="http://schemas.openxmlformats.org/officeDocument/2006/relationships" id="257" r:id="R59d716b0d4654694"/>
    <p:sldId xmlns:r="http://schemas.openxmlformats.org/officeDocument/2006/relationships" id="258" r:id="R7918e641f8b14cc2"/>
    <p:sldId xmlns:r="http://schemas.openxmlformats.org/officeDocument/2006/relationships" id="259" r:id="R79faf70167114cc9"/>
    <p:sldId xmlns:r="http://schemas.openxmlformats.org/officeDocument/2006/relationships" id="260" r:id="R9d480d06b7434930"/>
    <p:sldId xmlns:r="http://schemas.openxmlformats.org/officeDocument/2006/relationships" id="261" r:id="Rbf758c389ec643a7"/>
    <p:sldId xmlns:r="http://schemas.openxmlformats.org/officeDocument/2006/relationships" id="262" r:id="R57488c7ae76644ac"/>
    <p:sldId xmlns:r="http://schemas.openxmlformats.org/officeDocument/2006/relationships" id="263" r:id="R85d06c216cf44ba1"/>
    <p:sldId xmlns:r="http://schemas.openxmlformats.org/officeDocument/2006/relationships" id="264" r:id="R99a9372a143f415a"/>
    <p:sldId xmlns:r="http://schemas.openxmlformats.org/officeDocument/2006/relationships" id="265" r:id="R020ab392a1704833"/>
    <p:sldId xmlns:r="http://schemas.openxmlformats.org/officeDocument/2006/relationships" id="266" r:id="R0e66760c1f314216"/>
    <p:sldId xmlns:r="http://schemas.openxmlformats.org/officeDocument/2006/relationships" id="267" r:id="R882db604cc7c4968"/>
    <p:sldId xmlns:r="http://schemas.openxmlformats.org/officeDocument/2006/relationships" id="268" r:id="Rea154cbbb15a4d1a"/>
    <p:sldId xmlns:r="http://schemas.openxmlformats.org/officeDocument/2006/relationships" id="269" r:id="R1558aea0eaed479f"/>
    <p:sldId xmlns:r="http://schemas.openxmlformats.org/officeDocument/2006/relationships" id="270" r:id="Rce44d225a8444468"/>
    <p:sldId xmlns:r="http://schemas.openxmlformats.org/officeDocument/2006/relationships" id="271" r:id="Rc3d67e944d174849"/>
    <p:sldId xmlns:r="http://schemas.openxmlformats.org/officeDocument/2006/relationships" id="272" r:id="R0328f782ecbe452a"/>
    <p:sldId xmlns:r="http://schemas.openxmlformats.org/officeDocument/2006/relationships" id="273" r:id="Rb714ee9e9d7d47db"/>
    <p:sldId xmlns:r="http://schemas.openxmlformats.org/officeDocument/2006/relationships" id="274" r:id="Rc1c16db68cc046a3"/>
    <p:sldId xmlns:r="http://schemas.openxmlformats.org/officeDocument/2006/relationships" id="275" r:id="Rb089a4339f8645dd"/>
    <p:sldId xmlns:r="http://schemas.openxmlformats.org/officeDocument/2006/relationships" id="276" r:id="R431c70ac9c784e6c"/>
    <p:sldId xmlns:r="http://schemas.openxmlformats.org/officeDocument/2006/relationships" id="277" r:id="Ra6e3c0afa9974e52"/>
    <p:sldId xmlns:r="http://schemas.openxmlformats.org/officeDocument/2006/relationships" id="278" r:id="Rf03e068dda6f44b8"/>
    <p:sldId xmlns:r="http://schemas.openxmlformats.org/officeDocument/2006/relationships" id="279" r:id="R2a381df3b9f349cd"/>
    <p:sldId xmlns:r="http://schemas.openxmlformats.org/officeDocument/2006/relationships" id="280" r:id="Rfa534702e7bd490d"/>
    <p:sldId xmlns:r="http://schemas.openxmlformats.org/officeDocument/2006/relationships" id="281" r:id="R45fcd3dd8d4048f0"/>
    <p:sldId xmlns:r="http://schemas.openxmlformats.org/officeDocument/2006/relationships" id="282" r:id="Ree07b3b252924193"/>
    <p:sldId xmlns:r="http://schemas.openxmlformats.org/officeDocument/2006/relationships" id="283" r:id="R3ea7861e18cf4608"/>
    <p:sldId xmlns:r="http://schemas.openxmlformats.org/officeDocument/2006/relationships" id="284" r:id="Rfafe4d9a804c4264"/>
    <p:sldId xmlns:r="http://schemas.openxmlformats.org/officeDocument/2006/relationships" id="285" r:id="Rabb6c2d6000e49a4"/>
    <p:sldId xmlns:r="http://schemas.openxmlformats.org/officeDocument/2006/relationships" id="286" r:id="R702bfa7352bf4e05"/>
    <p:sldId xmlns:r="http://schemas.openxmlformats.org/officeDocument/2006/relationships" id="287" r:id="Ree1d06febc3748f3"/>
    <p:sldId xmlns:r="http://schemas.openxmlformats.org/officeDocument/2006/relationships" id="288" r:id="R2e59788d9de74e9d"/>
    <p:sldId xmlns:r="http://schemas.openxmlformats.org/officeDocument/2006/relationships" id="289" r:id="R5b82140688c94f61"/>
    <p:sldId xmlns:r="http://schemas.openxmlformats.org/officeDocument/2006/relationships" id="290" r:id="R114d4c77e7d740b9"/>
    <p:sldId xmlns:r="http://schemas.openxmlformats.org/officeDocument/2006/relationships" id="291" r:id="R8539104f3d7e44f3"/>
    <p:sldId xmlns:r="http://schemas.openxmlformats.org/officeDocument/2006/relationships" id="292" r:id="Re345c2f61a0448ca"/>
    <p:sldId xmlns:r="http://schemas.openxmlformats.org/officeDocument/2006/relationships" id="293" r:id="R73c773b8f7264c1f"/>
    <p:sldId xmlns:r="http://schemas.openxmlformats.org/officeDocument/2006/relationships" id="294" r:id="R5b0f3cd87a8b4cf6"/>
    <p:sldId xmlns:r="http://schemas.openxmlformats.org/officeDocument/2006/relationships" id="295" r:id="Ra7efb1cdc382447a"/>
    <p:sldId xmlns:r="http://schemas.openxmlformats.org/officeDocument/2006/relationships" id="296" r:id="R6089536c216a4292"/>
    <p:sldId xmlns:r="http://schemas.openxmlformats.org/officeDocument/2006/relationships" id="297" r:id="Rbb18b3c22a364072"/>
    <p:sldId xmlns:r="http://schemas.openxmlformats.org/officeDocument/2006/relationships" id="298" r:id="R023a6995c44e4c68"/>
    <p:sldId xmlns:r="http://schemas.openxmlformats.org/officeDocument/2006/relationships" id="299" r:id="R3ddcdd2f9c804b17"/>
    <p:sldId xmlns:r="http://schemas.openxmlformats.org/officeDocument/2006/relationships" id="300" r:id="Rf3e6b64ca8a743eb"/>
    <p:sldId xmlns:r="http://schemas.openxmlformats.org/officeDocument/2006/relationships" id="301" r:id="Rfd7ea86aeeaa4553"/>
    <p:sldId xmlns:r="http://schemas.openxmlformats.org/officeDocument/2006/relationships" id="302" r:id="R947d948f75844c54"/>
    <p:sldId xmlns:r="http://schemas.openxmlformats.org/officeDocument/2006/relationships" id="303" r:id="R09b2b8809a814a55"/>
    <p:sldId xmlns:r="http://schemas.openxmlformats.org/officeDocument/2006/relationships" id="304" r:id="Rc194fe2ed48b456e"/>
    <p:sldId xmlns:r="http://schemas.openxmlformats.org/officeDocument/2006/relationships" id="305" r:id="Rd36878c1b0234c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69f33a437b4fbc" /><Relationship Type="http://schemas.openxmlformats.org/officeDocument/2006/relationships/slideMaster" Target="/ppt/slideMasters/slideMaster1.xml" Id="Raed8ee98961743e8" /><Relationship Type="http://schemas.openxmlformats.org/officeDocument/2006/relationships/notesMaster" Target="/ppt/notesMasters/notesMaster1.xml" Id="R339a162e1c6e4490" /><Relationship Type="http://schemas.openxmlformats.org/officeDocument/2006/relationships/presProps" Target="/ppt/presProps.xml" Id="R34937eabfc254c32" /><Relationship Type="http://schemas.openxmlformats.org/officeDocument/2006/relationships/tableStyles" Target="/ppt/tableStyles.xml" Id="R1c2370ccf7d140d5" /><Relationship Type="http://schemas.openxmlformats.org/officeDocument/2006/relationships/slide" Target="/ppt/slides/slide1.xml" Id="Reccc1b4ba31e4c07" /><Relationship Type="http://schemas.openxmlformats.org/officeDocument/2006/relationships/slide" Target="/ppt/slides/slide2.xml" Id="R59d716b0d4654694" /><Relationship Type="http://schemas.openxmlformats.org/officeDocument/2006/relationships/slide" Target="/ppt/slides/slide3.xml" Id="R7918e641f8b14cc2" /><Relationship Type="http://schemas.openxmlformats.org/officeDocument/2006/relationships/slide" Target="/ppt/slides/slide4.xml" Id="R79faf70167114cc9" /><Relationship Type="http://schemas.openxmlformats.org/officeDocument/2006/relationships/slide" Target="/ppt/slides/slide5.xml" Id="R9d480d06b7434930" /><Relationship Type="http://schemas.openxmlformats.org/officeDocument/2006/relationships/slide" Target="/ppt/slides/slide6.xml" Id="Rbf758c389ec643a7" /><Relationship Type="http://schemas.openxmlformats.org/officeDocument/2006/relationships/slide" Target="/ppt/slides/slide7.xml" Id="R57488c7ae76644ac" /><Relationship Type="http://schemas.openxmlformats.org/officeDocument/2006/relationships/slide" Target="/ppt/slides/slide8.xml" Id="R85d06c216cf44ba1" /><Relationship Type="http://schemas.openxmlformats.org/officeDocument/2006/relationships/slide" Target="/ppt/slides/slide9.xml" Id="R99a9372a143f415a" /><Relationship Type="http://schemas.openxmlformats.org/officeDocument/2006/relationships/slide" Target="/ppt/slides/slide10.xml" Id="R020ab392a1704833" /><Relationship Type="http://schemas.openxmlformats.org/officeDocument/2006/relationships/slide" Target="/ppt/slides/slide11.xml" Id="R0e66760c1f314216" /><Relationship Type="http://schemas.openxmlformats.org/officeDocument/2006/relationships/slide" Target="/ppt/slides/slide12.xml" Id="R882db604cc7c4968" /><Relationship Type="http://schemas.openxmlformats.org/officeDocument/2006/relationships/slide" Target="/ppt/slides/slide13.xml" Id="Rea154cbbb15a4d1a" /><Relationship Type="http://schemas.openxmlformats.org/officeDocument/2006/relationships/slide" Target="/ppt/slides/slide14.xml" Id="R1558aea0eaed479f" /><Relationship Type="http://schemas.openxmlformats.org/officeDocument/2006/relationships/slide" Target="/ppt/slides/slide15.xml" Id="Rce44d225a8444468" /><Relationship Type="http://schemas.openxmlformats.org/officeDocument/2006/relationships/slide" Target="/ppt/slides/slide16.xml" Id="Rc3d67e944d174849" /><Relationship Type="http://schemas.openxmlformats.org/officeDocument/2006/relationships/slide" Target="/ppt/slides/slide17.xml" Id="R0328f782ecbe452a" /><Relationship Type="http://schemas.openxmlformats.org/officeDocument/2006/relationships/slide" Target="/ppt/slides/slide18.xml" Id="Rb714ee9e9d7d47db" /><Relationship Type="http://schemas.openxmlformats.org/officeDocument/2006/relationships/slide" Target="/ppt/slides/slide19.xml" Id="Rc1c16db68cc046a3" /><Relationship Type="http://schemas.openxmlformats.org/officeDocument/2006/relationships/slide" Target="/ppt/slides/slide20.xml" Id="Rb089a4339f8645dd" /><Relationship Type="http://schemas.openxmlformats.org/officeDocument/2006/relationships/slide" Target="/ppt/slides/slide21.xml" Id="R431c70ac9c784e6c" /><Relationship Type="http://schemas.openxmlformats.org/officeDocument/2006/relationships/slide" Target="/ppt/slides/slide22.xml" Id="Ra6e3c0afa9974e52" /><Relationship Type="http://schemas.openxmlformats.org/officeDocument/2006/relationships/slide" Target="/ppt/slides/slide23.xml" Id="Rf03e068dda6f44b8" /><Relationship Type="http://schemas.openxmlformats.org/officeDocument/2006/relationships/slide" Target="/ppt/slides/slide24.xml" Id="R2a381df3b9f349cd" /><Relationship Type="http://schemas.openxmlformats.org/officeDocument/2006/relationships/slide" Target="/ppt/slides/slide25.xml" Id="Rfa534702e7bd490d" /><Relationship Type="http://schemas.openxmlformats.org/officeDocument/2006/relationships/slide" Target="/ppt/slides/slide26.xml" Id="R45fcd3dd8d4048f0" /><Relationship Type="http://schemas.openxmlformats.org/officeDocument/2006/relationships/slide" Target="/ppt/slides/slide27.xml" Id="Ree07b3b252924193" /><Relationship Type="http://schemas.openxmlformats.org/officeDocument/2006/relationships/slide" Target="/ppt/slides/slide28.xml" Id="R3ea7861e18cf4608" /><Relationship Type="http://schemas.openxmlformats.org/officeDocument/2006/relationships/slide" Target="/ppt/slides/slide29.xml" Id="Rfafe4d9a804c4264" /><Relationship Type="http://schemas.openxmlformats.org/officeDocument/2006/relationships/slide" Target="/ppt/slides/slide30.xml" Id="Rabb6c2d6000e49a4" /><Relationship Type="http://schemas.openxmlformats.org/officeDocument/2006/relationships/slide" Target="/ppt/slides/slide31.xml" Id="R702bfa7352bf4e05" /><Relationship Type="http://schemas.openxmlformats.org/officeDocument/2006/relationships/slide" Target="/ppt/slides/slide32.xml" Id="Ree1d06febc3748f3" /><Relationship Type="http://schemas.openxmlformats.org/officeDocument/2006/relationships/slide" Target="/ppt/slides/slide33.xml" Id="R2e59788d9de74e9d" /><Relationship Type="http://schemas.openxmlformats.org/officeDocument/2006/relationships/slide" Target="/ppt/slides/slide34.xml" Id="R5b82140688c94f61" /><Relationship Type="http://schemas.openxmlformats.org/officeDocument/2006/relationships/slide" Target="/ppt/slides/slide35.xml" Id="R114d4c77e7d740b9" /><Relationship Type="http://schemas.openxmlformats.org/officeDocument/2006/relationships/slide" Target="/ppt/slides/slide36.xml" Id="R8539104f3d7e44f3" /><Relationship Type="http://schemas.openxmlformats.org/officeDocument/2006/relationships/slide" Target="/ppt/slides/slide37.xml" Id="Re345c2f61a0448ca" /><Relationship Type="http://schemas.openxmlformats.org/officeDocument/2006/relationships/slide" Target="/ppt/slides/slide38.xml" Id="R73c773b8f7264c1f" /><Relationship Type="http://schemas.openxmlformats.org/officeDocument/2006/relationships/slide" Target="/ppt/slides/slide39.xml" Id="R5b0f3cd87a8b4cf6" /><Relationship Type="http://schemas.openxmlformats.org/officeDocument/2006/relationships/slide" Target="/ppt/slides/slide40.xml" Id="Ra7efb1cdc382447a" /><Relationship Type="http://schemas.openxmlformats.org/officeDocument/2006/relationships/slide" Target="/ppt/slides/slide41.xml" Id="R6089536c216a4292" /><Relationship Type="http://schemas.openxmlformats.org/officeDocument/2006/relationships/slide" Target="/ppt/slides/slide42.xml" Id="Rbb18b3c22a364072" /><Relationship Type="http://schemas.openxmlformats.org/officeDocument/2006/relationships/slide" Target="/ppt/slides/slide43.xml" Id="R023a6995c44e4c68" /><Relationship Type="http://schemas.openxmlformats.org/officeDocument/2006/relationships/slide" Target="/ppt/slides/slide44.xml" Id="R3ddcdd2f9c804b17" /><Relationship Type="http://schemas.openxmlformats.org/officeDocument/2006/relationships/slide" Target="/ppt/slides/slide45.xml" Id="Rf3e6b64ca8a743eb" /><Relationship Type="http://schemas.openxmlformats.org/officeDocument/2006/relationships/slide" Target="/ppt/slides/slide46.xml" Id="Rfd7ea86aeeaa4553" /><Relationship Type="http://schemas.openxmlformats.org/officeDocument/2006/relationships/slide" Target="/ppt/slides/slide47.xml" Id="R947d948f75844c54" /><Relationship Type="http://schemas.openxmlformats.org/officeDocument/2006/relationships/slide" Target="/ppt/slides/slide48.xml" Id="R09b2b8809a814a55" /><Relationship Type="http://schemas.openxmlformats.org/officeDocument/2006/relationships/slide" Target="/ppt/slides/slide49.xml" Id="Rc194fe2ed48b456e" /><Relationship Type="http://schemas.openxmlformats.org/officeDocument/2006/relationships/slide" Target="/ppt/slides/slide50.xml" Id="Rd36878c1b0234c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60f39f1e0c40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89c6837be4ec6" /><Relationship Type="http://schemas.openxmlformats.org/officeDocument/2006/relationships/notesMaster" Target="/ppt/notesMasters/notesMaster1.xml" Id="R7707235b213e4f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8c3325b29c44c5" /><Relationship Type="http://schemas.openxmlformats.org/officeDocument/2006/relationships/notesMaster" Target="/ppt/notesMasters/notesMaster1.xml" Id="R5a54fe8ba93a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7b993d495f470a" /><Relationship Type="http://schemas.openxmlformats.org/officeDocument/2006/relationships/notesMaster" Target="/ppt/notesMasters/notesMaster1.xml" Id="Rc06fafb900fd4c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3768d4e1584314" /><Relationship Type="http://schemas.openxmlformats.org/officeDocument/2006/relationships/notesMaster" Target="/ppt/notesMasters/notesMaster1.xml" Id="Rbc91e5b0d4514e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d22d4a5b2848c9" /><Relationship Type="http://schemas.openxmlformats.org/officeDocument/2006/relationships/notesMaster" Target="/ppt/notesMasters/notesMaster1.xml" Id="Rdd72e2fa3cff46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695975a4a4e42" /><Relationship Type="http://schemas.openxmlformats.org/officeDocument/2006/relationships/notesMaster" Target="/ppt/notesMasters/notesMaster1.xml" Id="R318f098e29424e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103cfd0b246c1" /><Relationship Type="http://schemas.openxmlformats.org/officeDocument/2006/relationships/notesMaster" Target="/ppt/notesMasters/notesMaster1.xml" Id="R7fc14e29a84643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b672bbb024fdb" /><Relationship Type="http://schemas.openxmlformats.org/officeDocument/2006/relationships/notesMaster" Target="/ppt/notesMasters/notesMaster1.xml" Id="Rf49deab838b74d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eb6665ffd24548" /><Relationship Type="http://schemas.openxmlformats.org/officeDocument/2006/relationships/notesMaster" Target="/ppt/notesMasters/notesMaster1.xml" Id="R47c57b45cbb640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36df45c46c4d34" /><Relationship Type="http://schemas.openxmlformats.org/officeDocument/2006/relationships/notesMaster" Target="/ppt/notesMasters/notesMaster1.xml" Id="Rfa1967a436b84f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d798b273bc4213" /><Relationship Type="http://schemas.openxmlformats.org/officeDocument/2006/relationships/notesMaster" Target="/ppt/notesMasters/notesMaster1.xml" Id="R7252cc99811449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b70aa4aaee45df" /><Relationship Type="http://schemas.openxmlformats.org/officeDocument/2006/relationships/notesMaster" Target="/ppt/notesMasters/notesMaster1.xml" Id="R3ccaeb8c754f4c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d5907b99e84348" /><Relationship Type="http://schemas.openxmlformats.org/officeDocument/2006/relationships/notesMaster" Target="/ppt/notesMasters/notesMaster1.xml" Id="Rcb7b634c5d284a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6eff77d8274887" /><Relationship Type="http://schemas.openxmlformats.org/officeDocument/2006/relationships/notesMaster" Target="/ppt/notesMasters/notesMaster1.xml" Id="R1446b31eb3364b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9b22b88f1e4288" /><Relationship Type="http://schemas.openxmlformats.org/officeDocument/2006/relationships/notesMaster" Target="/ppt/notesMasters/notesMaster1.xml" Id="R122a6c6d6c284a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68716f1f5d408d" /><Relationship Type="http://schemas.openxmlformats.org/officeDocument/2006/relationships/notesMaster" Target="/ppt/notesMasters/notesMaster1.xml" Id="R1a90d4fb221848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fd529858bb4fc1" /><Relationship Type="http://schemas.openxmlformats.org/officeDocument/2006/relationships/notesMaster" Target="/ppt/notesMasters/notesMaster1.xml" Id="Rffb261a172dd41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0f79b88a964826" /><Relationship Type="http://schemas.openxmlformats.org/officeDocument/2006/relationships/notesMaster" Target="/ppt/notesMasters/notesMaster1.xml" Id="Rdd49a3e6917f4ca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423ae70ce0427c" /><Relationship Type="http://schemas.openxmlformats.org/officeDocument/2006/relationships/notesMaster" Target="/ppt/notesMasters/notesMaster1.xml" Id="R9db8d3a205f944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492bfbb0404424" /><Relationship Type="http://schemas.openxmlformats.org/officeDocument/2006/relationships/notesMaster" Target="/ppt/notesMasters/notesMaster1.xml" Id="Ra77580a86faf45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0e8ced0f124b6a" /><Relationship Type="http://schemas.openxmlformats.org/officeDocument/2006/relationships/notesMaster" Target="/ppt/notesMasters/notesMaster1.xml" Id="R7d7ed72f5e944c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a195e495984b74" /><Relationship Type="http://schemas.openxmlformats.org/officeDocument/2006/relationships/notesMaster" Target="/ppt/notesMasters/notesMaster1.xml" Id="R35bb5cee95f34a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cbe093b9c9148e5" /><Relationship Type="http://schemas.openxmlformats.org/officeDocument/2006/relationships/notesMaster" Target="/ppt/notesMasters/notesMaster1.xml" Id="R9d4c0393ec9449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b65970887741aa" /><Relationship Type="http://schemas.openxmlformats.org/officeDocument/2006/relationships/notesMaster" Target="/ppt/notesMasters/notesMaster1.xml" Id="R98ea6522d73d46e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579485fca14ef1" /><Relationship Type="http://schemas.openxmlformats.org/officeDocument/2006/relationships/notesMaster" Target="/ppt/notesMasters/notesMaster1.xml" Id="Rc480428c4f8e4c7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1e28e0c3eb4383" /><Relationship Type="http://schemas.openxmlformats.org/officeDocument/2006/relationships/notesMaster" Target="/ppt/notesMasters/notesMaster1.xml" Id="R2bc0d9acb41b41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50cb1f0a3f4b46" /><Relationship Type="http://schemas.openxmlformats.org/officeDocument/2006/relationships/notesMaster" Target="/ppt/notesMasters/notesMaster1.xml" Id="Ra787031878f04f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0167e4e2764985" /><Relationship Type="http://schemas.openxmlformats.org/officeDocument/2006/relationships/notesMaster" Target="/ppt/notesMasters/notesMaster1.xml" Id="R9582277ee59c4e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2709df11634d70" /><Relationship Type="http://schemas.openxmlformats.org/officeDocument/2006/relationships/notesMaster" Target="/ppt/notesMasters/notesMaster1.xml" Id="R6a7a9a0c6c39497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6187e2b1ddc4819" /><Relationship Type="http://schemas.openxmlformats.org/officeDocument/2006/relationships/notesMaster" Target="/ppt/notesMasters/notesMaster1.xml" Id="R56e66b4ffb714ee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9824d51846b4525" /><Relationship Type="http://schemas.openxmlformats.org/officeDocument/2006/relationships/notesMaster" Target="/ppt/notesMasters/notesMaster1.xml" Id="R422bb38b4c954f0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24449c97014f92" /><Relationship Type="http://schemas.openxmlformats.org/officeDocument/2006/relationships/notesMaster" Target="/ppt/notesMasters/notesMaster1.xml" Id="Rf91f1511417e41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7cf9efb9ba4612" /><Relationship Type="http://schemas.openxmlformats.org/officeDocument/2006/relationships/notesMaster" Target="/ppt/notesMasters/notesMaster1.xml" Id="R85403189764f40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0b8cf34d7a2401d" /><Relationship Type="http://schemas.openxmlformats.org/officeDocument/2006/relationships/notesMaster" Target="/ppt/notesMasters/notesMaster1.xml" Id="R04eddfe02140465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a5609e853e24e96" /><Relationship Type="http://schemas.openxmlformats.org/officeDocument/2006/relationships/notesMaster" Target="/ppt/notesMasters/notesMaster1.xml" Id="R41d008898d9b41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e8bbff5a3ac47e9" /><Relationship Type="http://schemas.openxmlformats.org/officeDocument/2006/relationships/notesMaster" Target="/ppt/notesMasters/notesMaster1.xml" Id="Ra4933d8fb5b441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f59928724a4a67" /><Relationship Type="http://schemas.openxmlformats.org/officeDocument/2006/relationships/notesMaster" Target="/ppt/notesMasters/notesMaster1.xml" Id="Rc230676f7d7b469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e0c17a71e54f03" /><Relationship Type="http://schemas.openxmlformats.org/officeDocument/2006/relationships/notesMaster" Target="/ppt/notesMasters/notesMaster1.xml" Id="Rd173d40775ec4ad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a038e3d2752418d" /><Relationship Type="http://schemas.openxmlformats.org/officeDocument/2006/relationships/notesMaster" Target="/ppt/notesMasters/notesMaster1.xml" Id="Re515d5c7dad8436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b995f9b4f0a4ecf" /><Relationship Type="http://schemas.openxmlformats.org/officeDocument/2006/relationships/notesMaster" Target="/ppt/notesMasters/notesMaster1.xml" Id="Red27d44aa2c6405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46fbbff89184018" /><Relationship Type="http://schemas.openxmlformats.org/officeDocument/2006/relationships/notesMaster" Target="/ppt/notesMasters/notesMaster1.xml" Id="R7ccf136dea8a41e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d335ac8cbd44bb9" /><Relationship Type="http://schemas.openxmlformats.org/officeDocument/2006/relationships/notesMaster" Target="/ppt/notesMasters/notesMaster1.xml" Id="R98d3780a1c0649b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d5770abaafd4916" /><Relationship Type="http://schemas.openxmlformats.org/officeDocument/2006/relationships/notesMaster" Target="/ppt/notesMasters/notesMaster1.xml" Id="Rd1bdd4068850458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494ddaf3bdd4977" /><Relationship Type="http://schemas.openxmlformats.org/officeDocument/2006/relationships/notesMaster" Target="/ppt/notesMasters/notesMaster1.xml" Id="R33b21898987b482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3f68e9a80e747c7" /><Relationship Type="http://schemas.openxmlformats.org/officeDocument/2006/relationships/notesMaster" Target="/ppt/notesMasters/notesMaster1.xml" Id="R1ba5f858a98f49c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ce36d91f21747c2" /><Relationship Type="http://schemas.openxmlformats.org/officeDocument/2006/relationships/notesMaster" Target="/ppt/notesMasters/notesMaster1.xml" Id="R903795d05c15436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0def5c158ac45fc" /><Relationship Type="http://schemas.openxmlformats.org/officeDocument/2006/relationships/notesMaster" Target="/ppt/notesMasters/notesMaster1.xml" Id="R44603bddfabb4fb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b331a6e1d5a4af8" /><Relationship Type="http://schemas.openxmlformats.org/officeDocument/2006/relationships/notesMaster" Target="/ppt/notesMasters/notesMaster1.xml" Id="R83607fc289d641d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c0e0e9640174d06" /><Relationship Type="http://schemas.openxmlformats.org/officeDocument/2006/relationships/notesMaster" Target="/ppt/notesMasters/notesMaster1.xml" Id="Re1f434ac1c1342e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8d6b1f7f0bc48ee" /><Relationship Type="http://schemas.openxmlformats.org/officeDocument/2006/relationships/notesMaster" Target="/ppt/notesMasters/notesMaster1.xml" Id="R357e5450e6a14a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{"MLP": {"RMSE": 0.0012378142700370878, "MAE": 0.0006186274232856902, "R2": 0.27650304765931044}, "Ridge": {"RMSE": 0.0012406024167191912, "MAE": 0.0006142974820581686, "R2": 0.2732400581450485}, "LinearRegression": {"RMSE": 0.0012408111017226738, "MAE": 0.0006143308963397135, "R2": 0.2729955371690369}, "RandomForest (tuned)": {"RMSE": 0.001242409064177192, "MAE": 0.0006439774548061888, "R2": 0.2711218049127435}, "MLP (tuned)": {"RMSE": 0.001252937832098235, "MAE": 0.000620704865559331, "R2": 0.2587157351981477}, "RandomForest": {"RMSE": 0.0012609895833111805, "MAE": 0.000698950633721147, "R2": 0.24915769577817093}, "CatBoost": {"RMSE": 0.0012677694886415575, "MAE": 0.0006203285881759839, "R2": 0.24106195079537163}, "CatBoost (tuned)": {"RMSE": 0.0012732962830943678, "MAE": 0.0006239378358885142, "R2": 0.23443040222050215}, "KNN": {"RMSE": 0.0012808660286895831, "MAE": 0.0006230823773533314, "R2": 0.2253007231346016}, "KNN (tuned)": {"RMSE": 0.0012808660286895831, "MAE": 0.0006230823773533314, "R2": 0.2253007231346016}, "XGBoost": {"RMSE": 0.0012812282602092957, "MAE": 0.0006450163219227839, "R2": 0.2248624881121769}, "XGBoost (tuned)": {"RMSE": 0.0012840457830829617, "MAE": 0.0006443221227739389, "R2": 0.22144956147418593}, "LightGBM": {"RMSE": 0.0012865720366797909, "MAE": 0.0006459392744951608, "R2": 0.21838308106497584}, "LightGBM (tuned)": {"RMSE": 0.0012865720366797909, "MAE": 0.0006459392744951608, "R2": 0.21838308106497584}, "Stacking": {"RMSE": 0.0014622358649105166, "MAE": 0.0006851944953858625, "R2": -0.009626170715160365}, "Lasso": {"RMSE": 0.0014691719854798956, "MAE": 0.0006939495199361974, "R2": -0.01922721816792672}, "ElasticNet": {"RMSE": 0.0014691719854798956, "MAE": 0.0006939495199361974, "R2": -0.01922721816792672}}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figures/notebook/crypto_microstructure/cell_009_figure_1.png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6594c574.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figures/notebook/crypto_microstructure/cell_011_figure_1.png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9e568e86.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Ridge(alpha=1.0).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The notebook uses ordinary folds for stacking, rather than forward-only time splits.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figures/crypto_microstructure/comparison.png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paired circular blocks within each asset–venue series, 60 observations. 1,000 paired resamples. Fitted models remain fixed.</a:t>
            </a:r>
          </a:p>
          <a:p xmlns:a="http://schemas.openxmlformats.org/drawingml/2006/main">
            <a:r>
              <a:t>[{"comparison": "MLP versus Ridge", "other": "Ridge", "advantage": 2.7881466821034085e-06, "ci_low": -2.369319003762979e-05, "ci_high": 3.302633837470464e-05}, {"comparison": "MLP versus OLS", "other": "OLS", "advantage": 2.99683168558597e-06, "ci_low": -2.349812439659298e-05, "ci_high": 3.327763830847921e-05}]</a:t>
            </a:r>
          </a:p>
          <a:p xmlns:a="http://schemas.openxmlformats.org/drawingml/2006/main">
            <a:r>
              <a:t>Figure: figures/crypto_microstructure/ranking_stability.png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figures/crypto_microstructure/series_errors.png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figures/crypto_microstructure/winner_diagnostics.png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Diagnostics use MLP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{"MLP": {"RMSE": 0.0012378142700370878, "MAE": 0.0006186274232856902, "R2": 0.27650304765931044}, "Ridge": {"RMSE": 0.0012406024167191912, "MAE": 0.0006142974820581686, "R2": 0.2732400581450485}, "LinearRegression": {"RMSE": 0.0012408111017226738, "MAE": 0.0006143308963397135, "R2": 0.2729955371690369}, "RandomForest (tuned)": {"RMSE": 0.001242409064177192, "MAE": 0.0006439774548061888, "R2": 0.2711218049127435}, "MLP (tuned)": {"RMSE": 0.001252937832098235, "MAE": 0.000620704865559331, "R2": 0.2587157351981477}, "RandomForest": {"RMSE": 0.0012609895833111805, "MAE": 0.000698950633721147, "R2": 0.24915769577817093}, "CatBoost": {"RMSE": 0.0012677694886415575, "MAE": 0.0006203285881759839, "R2": 0.24106195079537163}, "CatBoost (tuned)": {"RMSE": 0.0012732962830943678, "MAE": 0.0006239378358885142, "R2": 0.23443040222050215}, "KNN": {"RMSE": 0.0012808660286895831, "MAE": 0.0006230823773533314, "R2": 0.2253007231346016}, "KNN (tuned)": {"RMSE": 0.0012808660286895831, "MAE": 0.0006230823773533314, "R2": 0.2253007231346016}, "XGBoost": {"RMSE": 0.0012812282602092957, "MAE": 0.0006450163219227839, "R2": 0.2248624881121769}, "XGBoost (tuned)": {"RMSE": 0.0012840457830829617, "MAE": 0.0006443221227739389, "R2": 0.22144956147418593}, "LightGBM": {"RMSE": 0.0012865720366797909, "MAE": 0.0006459392744951608, "R2": 0.21838308106497584}, "LightGBM (tuned)": {"RMSE": 0.0012865720366797909, "MAE": 0.0006459392744951608, "R2": 0.21838308106497584}, "Stacking": {"RMSE": 0.0014622358649105166, "MAE": 0.0006851944953858625, "R2": -0.009626170715160365}, "Lasso": {"RMSE": 0.0014691719854798956, "MAE": 0.0006939495199361974, "R2": -0.01922721816792672}, "ElasticNet": {"RMSE": 0.0014691719854798956, "MAE": 0.0006939495199361974, "R2": -0.01922721816792672}}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{"MLP": {"RMSE": 0.0012378142700370878, "MAE": 0.0006186274232856902, "R2": 0.27650304765931044}, "Ridge": {"RMSE": 0.0012406024167191912, "MAE": 0.0006142974820581686, "R2": 0.2732400581450485}, "LinearRegression": {"RMSE": 0.0012408111017226738, "MAE": 0.0006143308963397135, "R2": 0.2729955371690369}, "RandomForest (tuned)": {"RMSE": 0.001242409064177192, "MAE": 0.0006439774548061888, "R2": 0.2711218049127435}, "MLP (tuned)": {"RMSE": 0.001252937832098235, "MAE": 0.000620704865559331, "R2": 0.2587157351981477}, "RandomForest": {"RMSE": 0.0012609895833111805, "MAE": 0.000698950633721147, "R2": 0.24915769577817093}, "CatBoost": {"RMSE": 0.0012677694886415575, "MAE": 0.0006203285881759839, "R2": 0.24106195079537163}, "CatBoost (tuned)": {"RMSE": 0.0012732962830943678, "MAE": 0.0006239378358885142, "R2": 0.23443040222050215}, "KNN": {"RMSE": 0.0012808660286895831, "MAE": 0.0006230823773533314, "R2": 0.2253007231346016}, "KNN (tuned)": {"RMSE": 0.0012808660286895831, "MAE": 0.0006230823773533314, "R2": 0.2253007231346016}, "XGBoost": {"RMSE": 0.0012812282602092957, "MAE": 0.0006450163219227839, "R2": 0.2248624881121769}, "XGBoost (tuned)": {"RMSE": 0.0012840457830829617, "MAE": 0.0006443221227739389, "R2": 0.22144956147418593}, "LightGBM": {"RMSE": 0.0012865720366797909, "MAE": 0.0006459392744951608, "R2": 0.21838308106497584}, "LightGBM (tuned)": {"RMSE": 0.0012865720366797909, "MAE": 0.0006459392744951608, "R2": 0.21838308106497584}, "Stacking": {"RMSE": 0.0014622358649105166, "MAE": 0.0006851944953858625, "R2": -0.009626170715160365}, "Lasso": {"RMSE": 0.0014691719854798956, "MAE": 0.0006939495199361974, "R2": -0.01922721816792672}, "ElasticNet": {"RMSE": 0.0014691719854798956, "MAE": 0.0006939495199361974, "R2": -0.01922721816792672}}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figures/notebook/crypto_microstructure/cell_013_figure_1.png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a75b845e.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{"MLP": {"RMSE": 0.0012378142700370878, "MAE": 0.0006186274232856902, "R2": 0.27650304765931044}, "Ridge": {"RMSE": 0.0012406024167191912, "MAE": 0.0006142974820581686, "R2": 0.2732400581450485}, "LinearRegression": {"RMSE": 0.0012408111017226738, "MAE": 0.0006143308963397135, "R2": 0.2729955371690369}, "RandomForest (tuned)": {"RMSE": 0.001242409064177192, "MAE": 0.0006439774548061888, "R2": 0.2711218049127435}, "MLP (tuned)": {"RMSE": 0.001252937832098235, "MAE": 0.000620704865559331, "R2": 0.2587157351981477}, "RandomForest": {"RMSE": 0.0012609895833111805, "MAE": 0.000698950633721147, "R2": 0.24915769577817093}, "CatBoost": {"RMSE": 0.0012677694886415575, "MAE": 0.0006203285881759839, "R2": 0.24106195079537163}, "CatBoost (tuned)": {"RMSE": 0.0012732962830943678, "MAE": 0.0006239378358885142, "R2": 0.23443040222050215}, "KNN": {"RMSE": 0.0012808660286895831, "MAE": 0.0006230823773533314, "R2": 0.2253007231346016}, "KNN (tuned)": {"RMSE": 0.0012808660286895831, "MAE": 0.0006230823773533314, "R2": 0.2253007231346016}, "XGBoost": {"RMSE": 0.0012812282602092957, "MAE": 0.0006450163219227839, "R2": 0.2248624881121769}, "XGBoost (tuned)": {"RMSE": 0.0012840457830829617, "MAE": 0.0006443221227739389, "R2": 0.22144956147418593}, "LightGBM": {"RMSE": 0.0012865720366797909, "MAE": 0.0006459392744951608, "R2": 0.21838308106497584}, "LightGBM (tuned)": {"RMSE": 0.0012865720366797909, "MAE": 0.0006459392744951608, "R2": 0.21838308106497584}, "Stacking": {"RMSE": 0.0014622358649105166, "MAE": 0.0006851944953858625, "R2": -0.009626170715160365}, "Lasso": {"RMSE": 0.0014691719854798956, "MAE": 0.0006939495199361974, "R2": -0.01922721816792672}, "ElasticNet": {"RMSE": 0.0014691719854798956, "MAE": 0.0006939495199361974, "R2": -0.01922721816792672}}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figures/notebook/crypto_microstructure/cell_020_figure_1.png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acb8ace5.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figures/notebook/crypto_microstructure/cell_027_figure_1.png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c90b6156.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figures/notebook/crypto_microstructure/cell_036_figure_1.png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83af3a08.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figures/notebook/crypto_microstructure/cell_042_figure_1.png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ad4b9b63.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figures/notebook/crypto_microstructure/cell_048_figure_1.png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a34b2ba9.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figures/notebook/crypto_microstructure/cell_054_figure_1.png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95083c80.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figures/notebook/crypto_microstructure/cell_060_figure_1.png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1717a9d2.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figures/notebook/crypto_microstructure/cell_067_figure_1.png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b67da88d.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Figure: figures/notebook/crypto_microstructure/cell_066_figure_1.png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Notebook cell ID: c6e2f811.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{"MLP": {"RMSE": 0.0012378142700370878, "MAE": 0.0006186274232856902, "R2": 0.27650304765931044}, "Ridge": {"RMSE": 0.0012406024167191912, "MAE": 0.0006142974820581686, "R2": 0.2732400581450485}, "LinearRegression": {"RMSE": 0.0012408111017226738, "MAE": 0.0006143308963397135, "R2": 0.2729955371690369}, "RandomForest (tuned)": {"RMSE": 0.001242409064177192, "MAE": 0.0006439774548061888, "R2": 0.2711218049127435}, "MLP (tuned)": {"RMSE": 0.001252937832098235, "MAE": 0.000620704865559331, "R2": 0.2587157351981477}, "RandomForest": {"RMSE": 0.0012609895833111805, "MAE": 0.000698950633721147, "R2": 0.24915769577817093}, "CatBoost": {"RMSE": 0.0012677694886415575, "MAE": 0.0006203285881759839, "R2": 0.24106195079537163}, "CatBoost (tuned)": {"RMSE": 0.0012732962830943678, "MAE": 0.0006239378358885142, "R2": 0.23443040222050215}, "KNN": {"RMSE": 0.0012808660286895831, "MAE": 0.0006230823773533314, "R2": 0.2253007231346016}, "KNN (tuned)": {"RMSE": 0.0012808660286895831, "MAE": 0.0006230823773533314, "R2": 0.2253007231346016}, "XGBoost": {"RMSE": 0.0012812282602092957, "MAE": 0.0006450163219227839, "R2": 0.2248624881121769}, "XGBoost (tuned)": {"RMSE": 0.0012840457830829617, "MAE": 0.0006443221227739389, "R2": 0.22144956147418593}, "LightGBM": {"RMSE": 0.0012865720366797909, "MAE": 0.0006459392744951608, "R2": 0.21838308106497584}, "LightGBM (tuned)": {"RMSE": 0.0012865720366797909, "MAE": 0.0006459392744951608, "R2": 0.21838308106497584}, "Stacking": {"RMSE": 0.0014622358649105166, "MAE": 0.0006851944953858625, "R2": -0.009626170715160365}, "Lasso": {"RMSE": 0.0014691719854798956, "MAE": 0.0006939495199361974, "R2": -0.01922721816792672}, "ElasticNet": {"RMSE": 0.0014691719854798956, "MAE": 0.0006939495199361974, "R2": -0.01922721816792672}}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  <a:p xmlns:a="http://schemas.openxmlformats.org/drawingml/2006/main">
            <a:r>
              <a:t>{"MLP": {"RMSE": 0.0012378142700370878, "MAE": 0.0006186274232856902, "R2": 0.27650304765931044}, "Ridge": {"RMSE": 0.0012406024167191912, "MAE": 0.0006142974820581686, "R2": 0.2732400581450485}, "LinearRegression": {"RMSE": 0.0012408111017226738, "MAE": 0.0006143308963397135, "R2": 0.2729955371690369}, "RandomForest (tuned)": {"RMSE": 0.001242409064177192, "MAE": 0.0006439774548061888, "R2": 0.2711218049127435}, "MLP (tuned)": {"RMSE": 0.001252937832098235, "MAE": 0.000620704865559331, "R2": 0.2587157351981477}, "RandomForest": {"RMSE": 0.0012609895833111805, "MAE": 0.000698950633721147, "R2": 0.24915769577817093}, "CatBoost": {"RMSE": 0.0012677694886415575, "MAE": 0.0006203285881759839, "R2": 0.24106195079537163}, "CatBoost (tuned)": {"RMSE": 0.0012732962830943678, "MAE": 0.0006239378358885142, "R2": 0.23443040222050215}, "KNN": {"RMSE": 0.0012808660286895831, "MAE": 0.0006230823773533314, "R2": 0.2253007231346016}, "KNN (tuned)": {"RMSE": 0.0012808660286895831, "MAE": 0.0006230823773533314, "R2": 0.2253007231346016}, "XGBoost": {"RMSE": 0.0012812282602092957, "MAE": 0.0006450163219227839, "R2": 0.2248624881121769}, "XGBoost (tuned)": {"RMSE": 0.0012840457830829617, "MAE": 0.0006443221227739389, "R2": 0.22144956147418593}, "LightGBM": {"RMSE": 0.0012865720366797909, "MAE": 0.0006459392744951608, "R2": 0.21838308106497584}, "LightGBM (tuned)": {"RMSE": 0.0012865720366797909, "MAE": 0.0006459392744951608, "R2": 0.21838308106497584}, "Stacking": {"RMSE": 0.0014622358649105166, "MAE": 0.0006851944953858625, "R2": -0.009626170715160365}, "Lasso": {"RMSE": 0.0014691719854798956, "MAE": 0.0006939495199361974, "R2": -0.01922721816792672}, "ElasticNet": {"RMSE": 0.0014691719854798956, "MAE": 0.0006939495199361974, "R2": -0.01922721816792672}}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crypto_microstructure_tutorial.ipynb.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run_results/crypto_microstructure_tutorial/results.json.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28354602b4f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6dbc05ad045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b85602e0740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b1fd85c724d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de423175d42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548a0f95e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E2A13F-7751-4F88-A02C-D73AAE44F4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FB2864-A9DE-4F98-801D-B64B9D176B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09A2D3-74E1-4026-B467-A0154EE89B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464349-31B3-41F6-8D24-BEC8217BC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546D2A-0173-4C11-88B3-3AD827D4C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355B99-4465-429F-B9B9-0F26D7064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70D83-B758-475A-85BE-DB1EBAC75D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FFE83C-9DA1-42C1-952B-03F16D8AA2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B87B91-5221-4609-BBFF-AB3E4E16D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DDF629-C6B1-4CFE-924D-C62B75080B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3eb3ebbfe4031" /><Relationship Type="http://schemas.openxmlformats.org/officeDocument/2006/relationships/slideLayout" Target="/ppt/slideLayouts/slideLayout1.xml" Id="R53dd9d76ed5d4b0a" /><Relationship Type="http://schemas.openxmlformats.org/officeDocument/2006/relationships/slideLayout" Target="/ppt/slideLayouts/slideLayout2.xml" Id="R58ddde80e6b74e02" /><Relationship Type="http://schemas.openxmlformats.org/officeDocument/2006/relationships/slideLayout" Target="/ppt/slideLayouts/slideLayout3.xml" Id="R5f7ed5c28d4c4cd2" /><Relationship Type="http://schemas.openxmlformats.org/officeDocument/2006/relationships/slideLayout" Target="/ppt/slideLayouts/slideLayout4.xml" Id="R30c3f28c9b954043" /><Relationship Type="http://schemas.openxmlformats.org/officeDocument/2006/relationships/slideLayout" Target="/ppt/slideLayouts/slideLayout5.xml" Id="Rd88427a44b204adb" /><Relationship Type="http://schemas.openxmlformats.org/officeDocument/2006/relationships/slideLayout" Target="/ppt/slideLayouts/slideLayout6.xml" Id="Rc34add47bf4f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d9d76ed5d4b0a"/>
    <p:sldLayoutId xmlns:r="http://schemas.openxmlformats.org/officeDocument/2006/relationships" id="2147483650" r:id="R58ddde80e6b74e02"/>
    <p:sldLayoutId xmlns:r="http://schemas.openxmlformats.org/officeDocument/2006/relationships" id="2147483651" r:id="R5f7ed5c28d4c4cd2"/>
    <p:sldLayoutId xmlns:r="http://schemas.openxmlformats.org/officeDocument/2006/relationships" id="2147483652" r:id="R30c3f28c9b954043"/>
    <p:sldLayoutId xmlns:r="http://schemas.openxmlformats.org/officeDocument/2006/relationships" id="2147483653" r:id="Rd88427a44b204adb"/>
    <p:sldLayoutId xmlns:r="http://schemas.openxmlformats.org/officeDocument/2006/relationships" id="2147483654" r:id="Rc34add47bf4f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72c327a1c4a7a" /><Relationship Type="http://schemas.openxmlformats.org/officeDocument/2006/relationships/notesSlide" Target="/ppt/notesSlides/notesSlide1.xml" Id="R1ead2b1a837142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41470898046d8" /><Relationship Type="http://schemas.openxmlformats.org/officeDocument/2006/relationships/notesSlide" Target="/ppt/notesSlides/notesSlide2.xml" Id="R0fc2bd0488d141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4fa39846e49ba" /><Relationship Type="http://schemas.openxmlformats.org/officeDocument/2006/relationships/notesSlide" Target="/ppt/notesSlides/notesSlide3.xml" Id="Rb6e583c42bb1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5a032c1024031" /><Relationship Type="http://schemas.openxmlformats.org/officeDocument/2006/relationships/notesSlide" Target="/ppt/notesSlides/notesSlide4.xml" Id="Rd524f4ad43fe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f6d2a509d4723" /><Relationship Type="http://schemas.openxmlformats.org/officeDocument/2006/relationships/notesSlide" Target="/ppt/notesSlides/notesSlide5.xml" Id="R24b2655cc0874b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a8b8223bc24776" /><Relationship Type="http://schemas.openxmlformats.org/officeDocument/2006/relationships/image" Target="/ppt/media/image.png" Id="R408880b9d60e49e2" /><Relationship Type="http://schemas.openxmlformats.org/officeDocument/2006/relationships/notesSlide" Target="/ppt/notesSlides/notesSlide6.xml" Id="R3ae893607cb2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76ca5253148b9" /><Relationship Type="http://schemas.openxmlformats.org/officeDocument/2006/relationships/image" Target="/ppt/media/image2.png" Id="R85ec3e53ee67411c" /><Relationship Type="http://schemas.openxmlformats.org/officeDocument/2006/relationships/notesSlide" Target="/ppt/notesSlides/notesSlide7.xml" Id="R88de05ae76af4a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6fda6342747ba" /><Relationship Type="http://schemas.openxmlformats.org/officeDocument/2006/relationships/notesSlide" Target="/ppt/notesSlides/notesSlide8.xml" Id="Rf5162a6d0e9a4f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56300963c4418" /><Relationship Type="http://schemas.openxmlformats.org/officeDocument/2006/relationships/notesSlide" Target="/ppt/notesSlides/notesSlide9.xml" Id="R58dc692177ff41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0b9b8c2774d24" /><Relationship Type="http://schemas.openxmlformats.org/officeDocument/2006/relationships/notesSlide" Target="/ppt/notesSlides/notesSlide10.xml" Id="R95f5f0cb75844d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854209fd34667" /><Relationship Type="http://schemas.openxmlformats.org/officeDocument/2006/relationships/notesSlide" Target="/ppt/notesSlides/notesSlide11.xml" Id="Re9227591caa44b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c7c2cf1c54685" /><Relationship Type="http://schemas.openxmlformats.org/officeDocument/2006/relationships/notesSlide" Target="/ppt/notesSlides/notesSlide12.xml" Id="Ra82b231dde6b43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bb4762f6645c5" /><Relationship Type="http://schemas.openxmlformats.org/officeDocument/2006/relationships/notesSlide" Target="/ppt/notesSlides/notesSlide13.xml" Id="R9f424cfbcdfc48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4d9f7c46441c0" /><Relationship Type="http://schemas.openxmlformats.org/officeDocument/2006/relationships/notesSlide" Target="/ppt/notesSlides/notesSlide14.xml" Id="Ra5a3258dfc2a4e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10d0fa0284c6a" /><Relationship Type="http://schemas.openxmlformats.org/officeDocument/2006/relationships/notesSlide" Target="/ppt/notesSlides/notesSlide15.xml" Id="Re1fcaa51d29249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6e9b29e9d4ec2" /><Relationship Type="http://schemas.openxmlformats.org/officeDocument/2006/relationships/image" Target="/ppt/media/image3.png" Id="R64afa4178718429e" /><Relationship Type="http://schemas.openxmlformats.org/officeDocument/2006/relationships/notesSlide" Target="/ppt/notesSlides/notesSlide16.xml" Id="Ra9fc95fdd24d4c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b5569407b451c" /><Relationship Type="http://schemas.openxmlformats.org/officeDocument/2006/relationships/image" Target="/ppt/media/image4.png" Id="R96af48134cf24191" /><Relationship Type="http://schemas.openxmlformats.org/officeDocument/2006/relationships/notesSlide" Target="/ppt/notesSlides/notesSlide17.xml" Id="R7e8f735583b349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b875e96184bc6" /><Relationship Type="http://schemas.openxmlformats.org/officeDocument/2006/relationships/image" Target="/ppt/media/image5.png" Id="R4409bf2b90954611" /><Relationship Type="http://schemas.openxmlformats.org/officeDocument/2006/relationships/notesSlide" Target="/ppt/notesSlides/notesSlide18.xml" Id="Reed65738d0c94f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caaa8dd5544d2" /><Relationship Type="http://schemas.openxmlformats.org/officeDocument/2006/relationships/image" Target="/ppt/media/image6.png" Id="R6e613bc64b21463d" /><Relationship Type="http://schemas.openxmlformats.org/officeDocument/2006/relationships/notesSlide" Target="/ppt/notesSlides/notesSlide19.xml" Id="R65de43d502414d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e28a364b44337" /><Relationship Type="http://schemas.openxmlformats.org/officeDocument/2006/relationships/notesSlide" Target="/ppt/notesSlides/notesSlide20.xml" Id="R34e2d65e9d7745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4a1dbed684ddb" /><Relationship Type="http://schemas.openxmlformats.org/officeDocument/2006/relationships/notesSlide" Target="/ppt/notesSlides/notesSlide21.xml" Id="Ra97fbdb4bcfe46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c25e8595eb44bf" /><Relationship Type="http://schemas.openxmlformats.org/officeDocument/2006/relationships/notesSlide" Target="/ppt/notesSlides/notesSlide22.xml" Id="R57a0d069bdff42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2a4831f48420b" /><Relationship Type="http://schemas.openxmlformats.org/officeDocument/2006/relationships/notesSlide" Target="/ppt/notesSlides/notesSlide23.xml" Id="R7a2a685785894a5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bc1c1ad5d4b6c" /><Relationship Type="http://schemas.openxmlformats.org/officeDocument/2006/relationships/notesSlide" Target="/ppt/notesSlides/notesSlide24.xml" Id="Rd94547f26bb842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a1e7539574c14" /><Relationship Type="http://schemas.openxmlformats.org/officeDocument/2006/relationships/image" Target="/ppt/media/image7.png" Id="Rc159c91f334144dc" /><Relationship Type="http://schemas.openxmlformats.org/officeDocument/2006/relationships/notesSlide" Target="/ppt/notesSlides/notesSlide25.xml" Id="R94a68a05176748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a9885c8134cca" /><Relationship Type="http://schemas.openxmlformats.org/officeDocument/2006/relationships/notesSlide" Target="/ppt/notesSlides/notesSlide26.xml" Id="Rdd484e6df83640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8ebeacac94471" /><Relationship Type="http://schemas.openxmlformats.org/officeDocument/2006/relationships/notesSlide" Target="/ppt/notesSlides/notesSlide27.xml" Id="R0da5ce136e314c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5cf40c341466b" /><Relationship Type="http://schemas.openxmlformats.org/officeDocument/2006/relationships/notesSlide" Target="/ppt/notesSlides/notesSlide28.xml" Id="Rfb3111afdfe4492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e672b2c2a4825" /><Relationship Type="http://schemas.openxmlformats.org/officeDocument/2006/relationships/notesSlide" Target="/ppt/notesSlides/notesSlide29.xml" Id="Rf4a41e2947714e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414984c9a4bfa" /><Relationship Type="http://schemas.openxmlformats.org/officeDocument/2006/relationships/image" Target="/ppt/media/image8.png" Id="Rbeaa4d8a2a7e47e0" /><Relationship Type="http://schemas.openxmlformats.org/officeDocument/2006/relationships/notesSlide" Target="/ppt/notesSlides/notesSlide30.xml" Id="R0f27353c33f5475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8db58ba9445be" /><Relationship Type="http://schemas.openxmlformats.org/officeDocument/2006/relationships/image" Target="/ppt/media/image9.png" Id="R157bded47fd24b05" /><Relationship Type="http://schemas.openxmlformats.org/officeDocument/2006/relationships/notesSlide" Target="/ppt/notesSlides/notesSlide31.xml" Id="R906e84d82d1b495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8147e33bb4102" /><Relationship Type="http://schemas.openxmlformats.org/officeDocument/2006/relationships/image" Target="/ppt/media/image10.png" Id="R1d75b52f2c224a8f" /><Relationship Type="http://schemas.openxmlformats.org/officeDocument/2006/relationships/notesSlide" Target="/ppt/notesSlides/notesSlide32.xml" Id="R27340d2596aa462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d4de68ae64722" /><Relationship Type="http://schemas.openxmlformats.org/officeDocument/2006/relationships/image" Target="/ppt/media/image11.png" Id="R212e77c3bece49f9" /><Relationship Type="http://schemas.openxmlformats.org/officeDocument/2006/relationships/notesSlide" Target="/ppt/notesSlides/notesSlide33.xml" Id="R6441555d9e8a49d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cb631403b449d" /><Relationship Type="http://schemas.openxmlformats.org/officeDocument/2006/relationships/image" Target="/ppt/media/image12.png" Id="R8bba8bf6ca164f5a" /><Relationship Type="http://schemas.openxmlformats.org/officeDocument/2006/relationships/notesSlide" Target="/ppt/notesSlides/notesSlide34.xml" Id="R99631b71c530480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9c31a146a43e0" /><Relationship Type="http://schemas.openxmlformats.org/officeDocument/2006/relationships/image" Target="/ppt/media/image13.png" Id="R692d1fb2469d4f87" /><Relationship Type="http://schemas.openxmlformats.org/officeDocument/2006/relationships/notesSlide" Target="/ppt/notesSlides/notesSlide35.xml" Id="R016df11748974b7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e04fe409b4295" /><Relationship Type="http://schemas.openxmlformats.org/officeDocument/2006/relationships/image" Target="/ppt/media/image14.png" Id="Rf6f7f2f636f647d6" /><Relationship Type="http://schemas.openxmlformats.org/officeDocument/2006/relationships/notesSlide" Target="/ppt/notesSlides/notesSlide36.xml" Id="R1d51208602a7462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b526f07c4430f" /><Relationship Type="http://schemas.openxmlformats.org/officeDocument/2006/relationships/notesSlide" Target="/ppt/notesSlides/notesSlide37.xml" Id="Rce228edb2c4d43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dd4b4b5db4bb9" /><Relationship Type="http://schemas.openxmlformats.org/officeDocument/2006/relationships/notesSlide" Target="/ppt/notesSlides/notesSlide38.xml" Id="R2ea10affefa346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be615a26f4664" /><Relationship Type="http://schemas.openxmlformats.org/officeDocument/2006/relationships/notesSlide" Target="/ppt/notesSlides/notesSlide39.xml" Id="R10874e6990184d0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f61900fae467d" /><Relationship Type="http://schemas.openxmlformats.org/officeDocument/2006/relationships/notesSlide" Target="/ppt/notesSlides/notesSlide40.xml" Id="R83e422f77b6042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78f4e0eb84e7c" /><Relationship Type="http://schemas.openxmlformats.org/officeDocument/2006/relationships/notesSlide" Target="/ppt/notesSlides/notesSlide41.xml" Id="R4c27225f39c4417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ae10637724a2e" /><Relationship Type="http://schemas.openxmlformats.org/officeDocument/2006/relationships/notesSlide" Target="/ppt/notesSlides/notesSlide42.xml" Id="Raaba014aaf7141a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2de9169024b6f" /><Relationship Type="http://schemas.openxmlformats.org/officeDocument/2006/relationships/image" Target="/ppt/media/image15.png" Id="Rcb0cb72635114b1f" /><Relationship Type="http://schemas.openxmlformats.org/officeDocument/2006/relationships/notesSlide" Target="/ppt/notesSlides/notesSlide43.xml" Id="Rae3704a1eaa1470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3fd316b7548c8" /><Relationship Type="http://schemas.openxmlformats.org/officeDocument/2006/relationships/image" Target="/ppt/media/image16.png" Id="Rc8a9534ce8174468" /><Relationship Type="http://schemas.openxmlformats.org/officeDocument/2006/relationships/notesSlide" Target="/ppt/notesSlides/notesSlide44.xml" Id="Rde63b1051e5e408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8c38fd6154fa7" /><Relationship Type="http://schemas.openxmlformats.org/officeDocument/2006/relationships/notesSlide" Target="/ppt/notesSlides/notesSlide45.xml" Id="R67176880d1ac480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95e99323c428a" /><Relationship Type="http://schemas.openxmlformats.org/officeDocument/2006/relationships/notesSlide" Target="/ppt/notesSlides/notesSlide46.xml" Id="R004c183b038e45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e556d9ca04b4c" /><Relationship Type="http://schemas.openxmlformats.org/officeDocument/2006/relationships/notesSlide" Target="/ppt/notesSlides/notesSlide47.xml" Id="R66e2e50af889459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5267c122c84c40" /><Relationship Type="http://schemas.openxmlformats.org/officeDocument/2006/relationships/notesSlide" Target="/ppt/notesSlides/notesSlide48.xml" Id="Rbb415da8974e4e5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5dfaf97e049b9" /><Relationship Type="http://schemas.openxmlformats.org/officeDocument/2006/relationships/notesSlide" Target="/ppt/notesSlides/notesSlide49.xml" Id="R3f516fca944e440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e23b1817ce45c8" /><Relationship Type="http://schemas.openxmlformats.org/officeDocument/2006/relationships/notesSlide" Target="/ppt/notesSlides/notesSlide50.xml" Id="R1c84a7c76979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0FB97D6-706B-4C90-9C34-EDFB578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1895518-223F-4355-8CC2-C67CE4D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364690-E02E-4AD3-8437-5A45198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the next return magnitude from market data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3E28E6-6614-4856-8C79-58E63F57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485249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EF0AB4EB-BF5E-4CC3-8A24-12449D83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509578-CFCC-4B01-A3F9-6EEBD75C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A69C65-006C-4E99-A244-B47B9B7E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F0B0396-3FE3-48FC-9D3D-89F0F7F0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5015B4F-8DDA-47D7-A3E6-1DB5E46A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0.001238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C2FE077-5ABC-4C88-81C1-D82CD4A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6C975E6-E9BC-4841-8113-1A7804D5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score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0728B2D-E7FA-4CDC-A9B4-F38C1456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has RMSE 0.001238, about 0.24% below OLS.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9779C10-EDB3-43CB-AE5F-00822EB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0246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Comparison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2F2CE2F-2300-4978-899D-CB39E80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94101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resampling intervals overlap zero for MLP versus Ridge and OLS. The observed ranking is uncertain.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C20FC35-FBD6-45F8-A477-79A4C944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3533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7FDE9F1-8BB6-488C-AFE8-00B87D8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7388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Keep a linear reference and evaluate synchronized date splits and large market moves.</a:t>
            </a:r>
          </a:p>
        </p:txBody>
      </p:sp>
    </p:spTree>
    <p:extLst>
      <p:ext uri="{BB962C8B-B14F-4D97-AF65-F5344CB8AC3E}">
        <p14:creationId xmlns:p14="http://schemas.microsoft.com/office/powerpoint/2010/main" val="66111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ADDF4FA-9D46-43E4-A079-61C335B7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2019BB-B1A7-4733-954A-6DE57183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DF9048-BD1A-4989-8FF9-F51A91A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C65F2E6-68E0-47D2-AB88-574F643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7D7822-4724-4BE4-9799-A6D78A4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BC8532D-25CB-4282-8751-FDD06465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 the magnitude of the next observed log return from current order-book and trading features for ADA, BTC and ETH.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4222262-1E82-4DCF-B3CA-BE1BCB40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509C734-568A-4B60-A5DE-C377F98F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asset–venue observation. The target is ln(1 + the next absolute log return).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3ADD9D4-BD6D-4BDA-B2B4-2A425C68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D6062FB-78FE-4D28-BAF5-AD2091F1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for model ranking, MAE for typical error, and R² for explained variation.</a:t>
            </a:r>
          </a:p>
        </p:txBody>
      </p:sp>
    </p:spTree>
    <p:extLst>
      <p:ext uri="{BB962C8B-B14F-4D97-AF65-F5344CB8AC3E}">
        <p14:creationId xmlns:p14="http://schemas.microsoft.com/office/powerpoint/2010/main" val="1062606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E7180E4-5744-4784-9BD3-5FB7AD3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563DED5-47CE-4F4E-B2DF-70F5D34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1244AF-CD48-43BF-8A5C-BDDD4E7C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D57B83-5B14-4846-A9C8-D04E1015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E494A-4F62-4710-B81B-98E2C5D1C97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103,832 source snapshots across 6 asset–venue series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103,820 rows after groupwise lag and lead filtering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numeric fields, symbol and venue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Coinbase covers April 2021. Binance covers September–October 2024.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073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DBB6715-9862-496F-B4C4-2B537610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DEBA1F-C5D8-43C1-9A64-79D0271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AB0051-BF88-4E60-94EE-B20B10EC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6B87EE-D475-4870-BF25-D6A5146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744C5-990D-412E-AB0D-331EA48BEAA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Common fields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Align timestamps, quotes, order-book depth and trade-flow fields across the two sources.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Quotes and depth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Calculate midpoint, spread in basis points and notional depth across five levels.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Trade data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Fill unavailable trade-flow fields with zero and add an availability indicator.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Series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Compute returns and the next-observation target within each asset–venue group.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43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283302B-0B81-47E2-B3DF-B954071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9836EA-316C-4789-874E-9302670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Return distribution and target transformation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1FA98DE-35ED-4FA2-9206-BD90989B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1466C3D-C31A-4254-A92A-90BB88A9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4C767-388A-4AFA-8DD3-D79D1BF51C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880b9d60e49e2"/>
          <a:stretch xmlns:a="http://schemas.openxmlformats.org/drawingml/2006/main"/>
        </p:blipFill>
        <p:spPr>
          <a:xfrm xmlns:a="http://schemas.openxmlformats.org/drawingml/2006/main">
            <a:off x="514350" y="1953286"/>
            <a:ext cx="11163300" cy="39039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0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42DFBDF-576D-493B-B2B7-2E01A0C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05D0D3-B184-4355-A388-C49FE227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Return persistence and spreads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9BF51C-4E94-43C4-AB7C-1337B44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A47326-6876-4A02-A977-A2CCA496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A24CD-1147-43AD-B19F-42412B79E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c3e53ee67411c"/>
          <a:stretch xmlns:a="http://schemas.openxmlformats.org/drawingml/2006/main"/>
        </p:blipFill>
        <p:spPr>
          <a:xfrm xmlns:a="http://schemas.openxmlformats.org/drawingml/2006/main">
            <a:off x="514350" y="2084820"/>
            <a:ext cx="11163300" cy="36408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25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8B37058-9A4D-4FB2-912E-4197AB3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CC4713E-E93C-4FAD-9727-715C5BB4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12F64A-F0FA-41B6-AE62-B25EF1C5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8BDA9E0-DE2D-42AC-AB68-91916E8A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3B5BA0-2901-4C45-B013-F6C601FE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Return sizes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95AF3BD-7641-4241-AFB0-F9BD004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Most observed returns are small. A few large moves contribute heavily to squared error.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07DE52-9236-4F85-87D3-ED379A1A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Predictive features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16F837F-FD28-458C-906E-9A9C37C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Current absolute return and spread have strong positive linear associations with the next return magnitude.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86761B0-3A63-48CC-B8C7-9D37FA5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sources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B78CA5B-8D7E-40BB-988D-6A35565C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venues cover different years and schemas, so venue labels also identify differences in period and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1280405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C87CDE9-F991-405A-AEEB-A9166675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A0B189-CE88-47BF-98B8-834D9B6D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573BAD-75AA-417F-BB21-339906BD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F48585F-BA3D-464F-902F-B463189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A548A-85B7-4700-A911-82555AEB46F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Quotes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Midpoint and relative bid–ask spread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Depth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Bid and ask notional depth, plus normalized imbalance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Recent activity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absolute log return and buy/sell flow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Minute of day, trade-data availability, asset and venue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377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16F567C-6527-495F-8477-7F570514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EAF241-72D9-4360-91AC-2A137F3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68ADDB-2154-40E4-ACAC-1EAE3040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D4D3EBC-9090-4BE0-A70E-E18B44B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013559-7719-46F1-8817-19320938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FB7E7B0-7069-4019-8E4B-8DF2E267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Within each of the 6 series, use the first 80% for training and the final 20% for testing. The combined split has 83,053 training rows and 20,767 test rows.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9870611-096B-42F1-8556-03EFA09E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13FA77B-4916-4225-8550-503BAE02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feature scaling on training rows, then apply the same transformation to the test partition.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FFDE179-9B88-4D75-8BFD-06AE188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6A6DD89-41B4-4F3C-882A-F210B45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 chronological holdout evaluates later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509269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71FE7F8-8B34-414B-B112-116187E0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F43524F-C1EA-421E-8ACB-33A92792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32A6B7-1110-40BD-9A50-D16160AF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E66FF10-2228-4665-AB49-019E6BE7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FC26B-331B-4789-B802-924A287D918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OLS, Ridge, Lasso and Elastic Net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67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82ED641-E5DE-41FF-BE7B-1C3647A5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39828D-FBAF-4F97-BFA5-27CAA63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66BDC2-34F8-4D77-8186-21FA1A22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1987D8-9DDB-4F86-8072-5038EF21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C32AE-6A7B-40FF-9D08-8F6E4D1C500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73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F3D3222-F035-4DF1-AFFE-14B87C0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B0268B-2964-446C-89D4-4367A11C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F7B142-EC2C-46FA-BA97-FBE5FC9C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3AD11E3-1633-4B2A-B7E8-4004A36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7DBF9-B66A-41B4-B20D-0F4A98AF8B3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121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3404DD6-C427-485A-9963-5807656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30DABE7-A61C-4474-B0F4-9935A6DA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58C81D-B34A-4014-BE37-5F279B18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78379CE-31CE-4A3A-9759-9083E31F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AE6D0-EF78-4006-934B-C4B0C690AB5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917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6E3ABBC-1E2E-4253-BC1C-BF9F32C0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AABBAE-A001-4FB7-A185-5A55836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F3400B-7FD0-4771-BBC8-8632586F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950A10-B853-4574-9482-900FF685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02D5E2F-B1EC-4344-979D-04FFBE0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Ridge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3904068-E5AC-4854-9364-85B41E6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382CBA2-5914-4685-B1B6-A044B093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2119D29-E49F-4792-A240-1005A006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956F6E2-8899-445E-8545-24984B99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 Forward-only folds are needed for temporal meta-training.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61DDAD9-F4B1-41E0-8A70-362DC2AB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E7E75D3-0DCF-4879-BF1C-9877C7B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0.001462 and MAE 0.000685. It does not exceed the best individual model on the primary metric.</a:t>
            </a:r>
          </a:p>
        </p:txBody>
      </p:sp>
    </p:spTree>
    <p:extLst>
      <p:ext uri="{BB962C8B-B14F-4D97-AF65-F5344CB8AC3E}">
        <p14:creationId xmlns:p14="http://schemas.microsoft.com/office/powerpoint/2010/main" val="7393094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B1C7367-0AE3-4EA0-9741-35098853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E3D001-9461-4680-996B-DC9550C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D5597C-6A23-482B-B72D-7944E307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E62B3C-417B-4705-B82C-BFA65584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BC4AF-C738-490E-AD3B-EB3056FA2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fa4178718429e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6846786-BA72-4F24-9A03-C486FA11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12815677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E2306BB-4AA4-48FA-BA91-E5715F6B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144360-E07B-457B-867A-C2348831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060002-9ACD-464B-8210-0807034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46022BE-7516-4A41-B97D-F84BEFF2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CFA7E-46DA-475B-A949-175D3C5E5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f48134cf24191"/>
          <a:stretch xmlns:a="http://schemas.openxmlformats.org/drawingml/2006/main"/>
        </p:blipFill>
        <p:spPr>
          <a:xfrm xmlns:a="http://schemas.openxmlformats.org/drawingml/2006/main">
            <a:off x="514350" y="1956125"/>
            <a:ext cx="11163300" cy="359344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202FAC6-1EDA-4D34-94EA-8F630EDE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95% interval includes zero for MLP versus Ridge. Their ordering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7705399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31CB03A-DD8E-466D-BE2C-5D52B38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988EF8-56FA-4740-87C3-C4BB0333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asset and venue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3706A1-851C-419A-A5FF-AF828945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80A6B9-50EE-418A-967D-014A4724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A5E62-28C2-4B50-AAF3-2379522A9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9bf2b90954611"/>
          <a:stretch xmlns:a="http://schemas.openxmlformats.org/drawingml/2006/main"/>
        </p:blipFill>
        <p:spPr>
          <a:xfrm xmlns:a="http://schemas.openxmlformats.org/drawingml/2006/main">
            <a:off x="867585" y="1762125"/>
            <a:ext cx="10456829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59803A5-7667-4F20-932B-B909CBE3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Each slice is one asset–venue series. The source datasets cover different market periods.</a:t>
            </a:r>
          </a:p>
        </p:txBody>
      </p:sp>
    </p:spTree>
    <p:extLst>
      <p:ext uri="{BB962C8B-B14F-4D97-AF65-F5344CB8AC3E}">
        <p14:creationId xmlns:p14="http://schemas.microsoft.com/office/powerpoint/2010/main" val="18357465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1E92F46-5EC1-4DFB-B2A9-DA06EC3A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45E38E5-E4E7-43DB-BA03-9A4D9A2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Prediction errors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098A1E-2EE8-4A21-970F-A8D6768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C227DA-2C92-4B84-904A-AF4D7B4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184D5-9C12-4D4B-8F9C-8C230B3C4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13bc64b21463d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4FA4308-09D4-4BA4-8F2B-5671F2C9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Residual = prediction − actual. Positive residuals indicate overprediction.</a:t>
            </a:r>
          </a:p>
        </p:txBody>
      </p:sp>
    </p:spTree>
    <p:extLst>
      <p:ext uri="{BB962C8B-B14F-4D97-AF65-F5344CB8AC3E}">
        <p14:creationId xmlns:p14="http://schemas.microsoft.com/office/powerpoint/2010/main" val="16725545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CC8E32F-D0E8-4C9E-A220-13DF8B77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9F19C79-D5D6-4D24-BF8C-78D778BE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Simple baselines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5DC6681-1C21-4C45-93B9-FC14672C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1BDE4B-D8C8-4CE7-97A0-8AEBF5C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85E2A-55CC-4F05-A2B2-4BF2EC44E27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2772"/>
                <a:gridCol w="2055876"/>
                <a:gridCol w="2055876"/>
                <a:gridCol w="2055876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mean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absolute return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-0.0531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0.000619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0B5DA9A-63F8-4519-9205-7D79CE0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Same test targets for every row. Error units: log1p absolute return.</a:t>
            </a:r>
          </a:p>
        </p:txBody>
      </p:sp>
    </p:spTree>
    <p:extLst>
      <p:ext uri="{BB962C8B-B14F-4D97-AF65-F5344CB8AC3E}">
        <p14:creationId xmlns:p14="http://schemas.microsoft.com/office/powerpoint/2010/main" val="1002598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494EC45-2D8C-42ED-86E0-5189E73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CC4067-1B2D-47AF-9CE7-2CCC5EE3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C1BC226-0A95-4F56-A2E1-E90785F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08205A-F90B-42E2-A8C7-5A0EE1ED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A51E552-F5BC-49CF-8038-F7AF153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accuracy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F7F1E0-7805-498B-A1A5-1DEA1CA7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has the lowest point RMSE. Ridge and OLS are close, while their relative performance depends on the error measure.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23DFCC-E2C1-4344-8134-FDD7D0F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Series differences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DC59524-52B7-45FC-8AC0-39CB54B2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aggregate combines six asset–venue series drawn from different market periods. Report each series separately.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627543-F052-4A77-893E-D89EC196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Model choice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BAB30B6-6ED6-4C0E-8269-F9B561FA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Repeat purged date splits and stress-period tests before accepting the extra complexity of the neural model.</a:t>
            </a:r>
          </a:p>
        </p:txBody>
      </p:sp>
    </p:spTree>
    <p:extLst>
      <p:ext uri="{BB962C8B-B14F-4D97-AF65-F5344CB8AC3E}">
        <p14:creationId xmlns:p14="http://schemas.microsoft.com/office/powerpoint/2010/main" val="13350938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8D3C1A9-1924-44C4-BDEA-EBA76C8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449860-9B53-485B-8806-C56109E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FE7061-10DB-44B9-921F-B9386B05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C29C99-AB2B-42D1-A553-EA089A0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C5D18-B731-4351-8804-BDA03EDC44C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Market periods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venue samples come from different years.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Cross-validation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Series ordering does not create a shared chronological cutoff across all assets.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Split boundary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one-step target can cross the train–test boundary unless the last training observation is purged.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Tail behavior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log1p transform changes these small return magnitudes very little.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folds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notebook uses two ordinary training folds. Temporal meta-training needs a forward-only evaluation.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203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6E0D599-47B5-4A74-959A-A49F74E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CE29C2-7591-4A72-9C21-A9CF9B14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A6934D-F249-448C-AEF2-D1D7358A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9F2596F-54C5-4F90-8C81-2ABF19A1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63EEF-8546-434F-B7F1-4CBA62051BC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Purged folds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synchronized date cutoffs and purge labels overlapping the next partition.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Chronological isolation across series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Persistence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the current absolute return with the next absolute return.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Incremental forecast skill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Venue ablation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 venue and source-specific trade fields, then compare by series.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Signal beyond data-source identity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Tail evaluation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 stressed periods and high-volatility quantiles separately.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risk estimates in extreme moves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928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E9558EC-2DD9-4950-AF37-8F3545A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6EC87D-EC91-48E0-BD57-FEC6BD59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1B005-0C29-496E-9601-429676C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CA9B4C-7D83-4379-AE9D-A674C0C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8D427D-099D-4A5A-B0FA-6F91F135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 linear model remains competitive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77E3B5-134C-4F3B-82F2-B1E66E9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RMSE 0.001238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82070BC-EEB3-4716-A935-93D2EF53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has a small point-score advantage. Test stability across dates, assets and large market moves before accepting the added complexity.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409E2E6-BD8D-451D-9271-9F32427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2545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8A11246-082F-4340-A292-01179CBF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275820-FDFB-49DC-B801-7E49F9EC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Microstructure feature correlations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6888F1-9CD6-4392-A662-ACEA5CB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CB21E55-3B66-4520-9984-6A4FADC9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66476-E752-4575-B562-5A069F61C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9c91f334144dc"/>
          <a:stretch xmlns:a="http://schemas.openxmlformats.org/drawingml/2006/main"/>
        </p:blipFill>
        <p:spPr>
          <a:xfrm xmlns:a="http://schemas.openxmlformats.org/drawingml/2006/main">
            <a:off x="3460959" y="1762125"/>
            <a:ext cx="5270082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389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E87ED4D-8408-4314-B00E-971AA59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D77E695-C1CD-4F79-9D97-F45B292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8D6842-8C09-463F-902A-65FAAC15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1A4FE4-8979-40F7-AADC-8351B6E1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49DC8-C4A1-4F3E-AFAF-B711FB74FAF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 root of mean 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Ranks models and emphasizes large misses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absolute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Describes typical error magnitude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Improvement over predicting the test mean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Measures explained variation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 errors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by target range or time group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Locates concentrated errors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5492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57B9946-896C-4B98-AC46-41778B9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A0DBC7-D11E-4480-A700-3597816D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8B6931A-3E6F-40B1-A584-7E050E8B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CA9DB9-A773-4443-BF57-A7B91AC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DAA24-274A-4320-ABFD-8B4AFD5D364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Fits an additive linear relationship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L2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set coefficients to zero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and L2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9598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D924351-CCA5-438B-BE81-AE3C8BCB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A9B8B9-D3EC-4B8E-A442-52DAAAE8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830C7C-2E98-4B20-9DD7-3BB9AC1D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7A15F37-F3BD-4711-846E-3E5A13F1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4937F-8DE3-4A94-9140-92EB22A23A4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2380488"/>
                <a:gridCol w="2380488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0.000614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0.000614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6104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2ADF14FD-3848-4FE8-8455-5FB1FC96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9248B0B-61A2-498E-82BC-DEA2F65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F3E025-69C9-410E-9B66-D31A4D30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4076D91-1EA1-4E71-928D-8B32586F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5ACBD25-018D-48C6-8CB1-9B8A5615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9E1527D-2113-49CF-85CB-8C5B7BA6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slightly improves OLS RMSE to 0.001241. Lasso and Elastic Net have weaker R² under the selected penalties.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9F6B912-6B2D-4BE8-BBBE-36B2BF51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3D81466-ADAA-4675-BE78-A7F5839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Return persistence and spread contain signal. Venue and asset fields can also absorb differences in source coverage.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73EC824-80AC-4FFE-BEE2-A1DAE89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FE7E81C-7F71-43B6-B7DB-E28C1A7A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Use common date boundaries, remove target overlap at the split, and test sensitivity to venue-specific fields.</a:t>
            </a:r>
          </a:p>
        </p:txBody>
      </p:sp>
    </p:spTree>
    <p:extLst>
      <p:ext uri="{BB962C8B-B14F-4D97-AF65-F5344CB8AC3E}">
        <p14:creationId xmlns:p14="http://schemas.microsoft.com/office/powerpoint/2010/main" val="12192811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3B80929-E963-4ACC-A893-E9D8A81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624AE11-287C-45C7-B410-6B60712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FB5A12E-85B4-43D7-8EA4-DF139C7B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78476F-D1B5-460B-A92E-6485C0D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D9225-DBD6-4722-833C-E4E1F3D85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a4d8a2a7e47e0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ABABD3B-53C8-47EC-BE37-95CC92EA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5642766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6F06F49-B29D-4628-9217-DB28D63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414BD1-81D3-4B2F-B4EC-4B85E359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Regularized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67CE54-B0AB-441D-BD42-D03BFCED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90FC56-5A54-4C83-B263-01DEB4D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C66CC-5F89-440D-A356-7890C07FD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bded47fd24b05"/>
          <a:stretch xmlns:a="http://schemas.openxmlformats.org/drawingml/2006/main"/>
        </p:blipFill>
        <p:spPr>
          <a:xfrm xmlns:a="http://schemas.openxmlformats.org/drawingml/2006/main">
            <a:off x="3523192" y="1762125"/>
            <a:ext cx="5145617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91F41EE-645C-423D-AF6E-604D39F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9703804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D773D51-F2A5-4F4E-B21E-0D9C441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6139600-E358-40C0-A83F-25FD7163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DD87592-0FE4-4CFB-B5D0-FA42DA42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DB6335-97ED-41B1-8DE1-609D5D5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76D56-C491-416F-9870-7A680955D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5b52f2c224a8f"/>
          <a:stretch xmlns:a="http://schemas.openxmlformats.org/drawingml/2006/main"/>
        </p:blipFill>
        <p:spPr>
          <a:xfrm xmlns:a="http://schemas.openxmlformats.org/drawingml/2006/main">
            <a:off x="3080514" y="1762125"/>
            <a:ext cx="6030973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70984B1-F246-4CE0-AF21-E16A5385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106052590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4745B52-7668-4F48-9CD0-F4AA0DE7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ACD5B3-FC22-48B1-B965-CF42B43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AF58572-924C-4E4F-978E-7C03E2D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3BB665E-35D5-4B92-9120-CB6E004E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9B101-B2CC-4946-8CD9-43B6FBB631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e77c3bece49f9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2DD709C-D0F6-420A-8468-EEDBB307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Return persistence, spread and activity are candidate signals. Venue-related importance can also reflect period and source differences.</a:t>
            </a:r>
          </a:p>
        </p:txBody>
      </p:sp>
    </p:spTree>
    <p:extLst>
      <p:ext uri="{BB962C8B-B14F-4D97-AF65-F5344CB8AC3E}">
        <p14:creationId xmlns:p14="http://schemas.microsoft.com/office/powerpoint/2010/main" val="14291027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257963A-D5A5-4011-8D9B-6E9FDE6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05410A-404C-4393-A9C4-964C0816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29CC73-469F-4760-8D7F-7CEFC50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9F34C2-258D-4DF7-A0FA-91310CFC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C098C-CFB4-441A-A4EA-A173F293E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a8bf6ca164f5a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3294703-5783-4CF1-A450-948D532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Return persistence, spread and activity are candidate signals. Venue-related importance can also reflect period and source differences.</a:t>
            </a:r>
          </a:p>
        </p:txBody>
      </p:sp>
    </p:spTree>
    <p:extLst>
      <p:ext uri="{BB962C8B-B14F-4D97-AF65-F5344CB8AC3E}">
        <p14:creationId xmlns:p14="http://schemas.microsoft.com/office/powerpoint/2010/main" val="9736070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58C7499-2DC0-48D2-A4C9-2E5D73ED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8D8D40-A61C-486D-B5CE-BC4E78A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AFB4E7-6545-454C-8151-8EE7CDBC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A0E6F5-AE20-4C7F-887B-F6ACD12B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F80F-231A-4040-8119-E19D2D6191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d1fb2469d4f87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3252B35-459C-4A28-AA36-40C79A88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Return persistence, spread and activity are candidate signals. Venue-related importance can also reflect period and source differences.</a:t>
            </a:r>
          </a:p>
        </p:txBody>
      </p:sp>
    </p:spTree>
    <p:extLst>
      <p:ext uri="{BB962C8B-B14F-4D97-AF65-F5344CB8AC3E}">
        <p14:creationId xmlns:p14="http://schemas.microsoft.com/office/powerpoint/2010/main" val="14766861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8405814-26EC-4E71-B42D-636DE19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EA45F0-78F0-4932-B708-4F39A88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921B3D-A557-4916-98FF-86CF0952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88AFBB8-3178-4DE4-AB6E-EA517A82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924A4-1497-4923-BD45-F1B39E62E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7f2f636f647d6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B2861A3-F866-4705-AA9B-BB64A1A4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Return persistence, spread and activity are candidate signals. Venue-related importance can also reflect period and source differences.</a:t>
            </a:r>
          </a:p>
        </p:txBody>
      </p:sp>
    </p:spTree>
    <p:extLst>
      <p:ext uri="{BB962C8B-B14F-4D97-AF65-F5344CB8AC3E}">
        <p14:creationId xmlns:p14="http://schemas.microsoft.com/office/powerpoint/2010/main" val="81791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D509E20-CC8B-4870-B085-ABBED56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069549-8E02-4DAA-B8B0-4A0FE0C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target range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821E09-ACEE-45D3-9B88-E2C95123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902516-9990-4171-A2FE-DDB836DF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97FC8-721B-44DD-928F-2833A237C30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3548"/>
                <a:gridCol w="1406652"/>
                <a:gridCol w="2488692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target band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Q1: (-0.001, 0.000207]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0.000500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0.000500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Q2: (0.000207, 0.000508]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0.000337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0.000315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Q3: (0.000508, 0.00105]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5,191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0.000316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Q4: (0.00105, 0.0437]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0.001321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-0.001076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EA4E695-7C0A-4E1E-BA17-06BDE537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Errors for MLP. Mean error = prediction − actual. Units: log1p absolute return.</a:t>
            </a:r>
          </a:p>
        </p:txBody>
      </p:sp>
    </p:spTree>
    <p:extLst>
      <p:ext uri="{BB962C8B-B14F-4D97-AF65-F5344CB8AC3E}">
        <p14:creationId xmlns:p14="http://schemas.microsoft.com/office/powerpoint/2010/main" val="17186343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737FB7-504A-4694-93DD-B177FAF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2B3CCD-48ED-4766-ADC1-B4537046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1CA7B4-B6AB-45DD-815B-6EEFC464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F44EB1-2B9F-4DDC-94D5-AF351C1A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195D8-47A5-4001-9088-8479530B9D0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prediction concerns the next return magnitude, rather than price direction.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Horizon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observation spacing before describing the horizon in minutes.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Trading use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Profitability requires a separate strategy test with costs and execution assumptions.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4138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9136886-9BC0-4685-9912-FEDE042B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B3B777-B49A-473A-88CF-6427F74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960E3F-3931-456D-BB8B-5A2BF9E6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DB48EF-48E4-4C09-8134-AD39EB97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0DD83C-DFE1-4DA8-84B9-4939075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0B3417-E704-41D5-8633-F1DD429A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25AA804-3111-45B7-9A4F-1908A61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11F6458-8FE4-412A-B556-538C02D4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BC103BB-191D-42D4-9103-1D53C6A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94A6E57-0677-4D5F-95BB-02A5BA14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does not improve the leading individual model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212031194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589C3E4-C0A4-44F7-AE40-BBC758EF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2F4A02-CD89-4FE7-B561-7883FC3C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F90EC1-5451-475C-B44A-FDEFA92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926BAA4-227C-4E4A-83C7-70E7B699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2456D62-AA89-4A63-BC55-F6CF9F57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18ABB0-1796-4979-8562-05B7ADE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C5390FA-8126-4816-BCC3-F2A1466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E642337-8F46-4960-8935-49B6D9F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40F8C22-68EC-4E42-BC1A-799A093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D4BD6A1-586F-4D7E-BA01-92DAAEE2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143319652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47A26E2-20D2-4E3C-BA34-B8D21DD3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85DBD7-193F-48B6-9CAF-1852AAA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16A13E-793A-4523-B7D8-77751C46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FA6099-1BE5-4572-A044-BE253259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EE2856F-27C2-45E0-8622-301D01F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exactly is the target?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71869A8-8E26-4BAD-834B-EED6553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next observed absolute log return, transformed with log1p. Check timestamp spacing before assigning a horizon in minutes.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BA4B834-0ECF-42FD-B062-741130A7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remove a row at the split boundary?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92BEDEE-2FBB-4C0B-B577-4809E7E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last training row uses the next observation for its target. Removing that row per series prevents its label from entering the test period.</a:t>
            </a:r>
          </a:p>
        </p:txBody>
      </p:sp>
    </p:spTree>
    <p:extLst>
      <p:ext uri="{BB962C8B-B14F-4D97-AF65-F5344CB8AC3E}">
        <p14:creationId xmlns:p14="http://schemas.microsoft.com/office/powerpoint/2010/main" val="13485009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B845BF05-D3EF-4768-9B0E-F34D8181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7A3C6A-696D-42C7-B785-36FB5B5D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96875F-77A6-4F1A-9636-6596A1D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7C1A67-466A-4CB4-8F5A-821E10D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6387D33-2ACF-417D-B781-284B15B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Is the MLP worth the extra complexity?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605A06-5990-4A2B-AEFC-0D9D7390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RMSE gain is about 0.24%. Compare repeated date splits, large market moves and inference time against OLS.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39B63A9-3F6B-4F11-8C6B-70B0BE5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Can these results identify a venue effect?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7F9FEFC-30A4-4B53-BD65-A21B9A6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sources cover different years and fields. A venue comparison requires overlapping dates and comparable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36775645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8947AAE-3EEA-44D8-B4E3-59061D7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A990EA-1A78-4930-B22E-BA531A03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Predicted and actual return magnitudes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40CF81-6984-45AC-B3CE-E6E0A11D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BFBD3C-4C94-4E73-BF72-AFB168B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AFFD6-DD31-4848-B328-EFFDA76AFC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cb72635114b1f"/>
          <a:stretch xmlns:a="http://schemas.openxmlformats.org/drawingml/2006/main"/>
        </p:blipFill>
        <p:spPr>
          <a:xfrm xmlns:a="http://schemas.openxmlformats.org/drawingml/2006/main">
            <a:off x="1381663" y="1762125"/>
            <a:ext cx="9428674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B4FE602-08BF-46F5-887E-15AFA990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83752790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9CF78C9-5614-4DB4-B052-5E206A6A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DBF108-1F2F-4DDB-A7E4-079C566A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Individual model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717E95-19C5-4E48-863C-65F06EEF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05A9DE5-C1EC-4E1D-A47B-122FC20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03F36-889A-438D-8496-56389216C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9534ce8174468"/>
          <a:stretch xmlns:a="http://schemas.openxmlformats.org/drawingml/2006/main"/>
        </p:blipFill>
        <p:spPr>
          <a:xfrm xmlns:a="http://schemas.openxmlformats.org/drawingml/2006/main">
            <a:off x="514350" y="2047346"/>
            <a:ext cx="1116330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4B3DAE3-0FF5-4845-B8D4-F1DBC1C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Notebook comparison of individual models. The full results tables also include stacking.</a:t>
            </a:r>
          </a:p>
        </p:txBody>
      </p:sp>
    </p:spTree>
    <p:extLst>
      <p:ext uri="{BB962C8B-B14F-4D97-AF65-F5344CB8AC3E}">
        <p14:creationId xmlns:p14="http://schemas.microsoft.com/office/powerpoint/2010/main" val="18231582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942D149-1F46-4A91-A22B-41ECA80B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68B14A-FCE8-467C-9B2B-AEBCE5C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1FF9B6-72F7-4D01-B51C-BB2E3F92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31B1E2-B946-4551-9B92-2E43CD7D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42805-47C5-4F0D-B4F2-67508149ECE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0.000619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0.000614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0.000614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0.001242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0.000699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0.000624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7080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0082A19-6338-4879-8E1A-2AD8D5B3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2E0D1E-D688-4B8B-8669-E0025029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11A541-0A59-4BC2-BDB6-1BEDE13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BC9D92-768F-49DC-B9A3-E3059AE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6F4C2-E014-4E6F-91C6-D352546838B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0.2214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0.2184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0.001287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0.2184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0.000685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-0.009626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0.001469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0.000694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22805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BF2EFDD-F3DC-47E3-961A-7190E2D5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E8DAC1-EBAD-421B-8E44-1B00F596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33E5CD3-6719-4655-BF04-C0829255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CCC386-F7F4-444C-95F1-80BDC7A2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F3E33-615F-459C-A581-E105FAA403A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955FB43-2DF2-4158-81C9-FD743A9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82058838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1CDEC09-85E0-423F-845B-DC6E4917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0F953A-C642-4430-91F4-CA28C20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443A25-04C0-4B87-99DD-7157B39D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53C414-2941-44DF-ADB0-CB59E437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9718D-764A-41FE-B3C3-0DD2D369A24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35634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F4CFBBA-F2F3-4504-A974-2C2AE5A7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6DDE067-B5CA-43B9-A5A0-98EA90FF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B196BB-BC31-43B3-B99E-17391AD4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15E7D8-4A6A-453D-955F-569D70EB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49 / 50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50C3-BCC0-4804-8FDE-FBEBC67979C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6833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B88C3E17-F232-4A70-836E-F85FB6E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911A298-EA13-4CE7-A03F-D79C1B68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323C49-93F8-4E10-87F6-6C896FE3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Crypto Microstructure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C2F554-73B1-4AC1-9E47-5082ECF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50 / 50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E238B5-F146-4653-B3D9-CE2F9410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4E036B3-9007-4D46-BE12-E14B9490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Binance and Coinbase order-book and trading files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E5FD17-014E-4B3A-B639-993C140C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B88AD04-5E69-495F-8D3A-E2755FF7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5482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crypto_microstructure_tutorial.ipynb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F5E1BE7-03DE-4075-9F80-450BBBB7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76AF794-4B42-484C-B1AA-E5CD0896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59AD231-E9D3-4835-B266-FF7E6E8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46E0C50-06D8-4B71-9A73-D7141928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1538900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2026-10-19T13:17:31.6500000Z</dcterms:created>
  <dcterms:modified xsi:type="dcterms:W3CDTF">2026-10-19T13:17:31.6500000Z</dcterms:modified>
</coreProperties>
</file>